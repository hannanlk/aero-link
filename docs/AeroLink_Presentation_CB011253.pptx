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Virtual users</c:v>
                </c:pt>
              </c:strCache>
            </c:strRef>
          </c:tx>
          <c:spPr>
            <a:solidFill>
              <a:srgbClr val="27D196"/>
            </a:solidFill>
            <a:ln w="38100" cap="flat">
              <a:solidFill>
                <a:srgbClr val="27D1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7D196"/>
              </a:solidFill>
              <a:ln w="9525" cap="flat">
                <a:solidFill>
                  <a:srgbClr val="27D196"/>
                </a:solidFill>
                <a:prstDash val="solid"/>
                <a:round/>
              </a:ln>
              <a:effectLst/>
            </c:spPr>
          </c:marker>
          <c:cat>
            <c:multiLvlStrRef>
              <c:f>Sheet1!$A$2:$A$7</c:f>
              <c:multiLvlStrCache>
                <c:ptCount val="6"/>
                <c:lvl>
                  <c:pt idx="0">
                    <c:v>0m</c:v>
                  </c:pt>
                  <c:pt idx="1">
                    <c:v>1m</c:v>
                  </c:pt>
                  <c:pt idx="2">
                    <c:v>2m</c:v>
                  </c:pt>
                  <c:pt idx="3">
                    <c:v>3m</c:v>
                  </c:pt>
                  <c:pt idx="4">
                    <c:v>4m</c:v>
                  </c:pt>
                  <c:pt idx="5">
                    <c:v>5m</c:v>
                  </c:pt>
                </c:lvl>
              </c:multiLvlStrCache>
            </c:multiLvlStrRef>
          </c:cat>
          <c:val>
            <c:numRef>
              <c:f>Sheet1!$B$2:$B$7</c:f>
              <c:numCache>
                <c:formatCode>General</c:formatCode>
                <c:ptCount val="6"/>
                <c:pt idx="0">
                  <c:v>10</c:v>
                </c:pt>
                <c:pt idx="1">
                  <c:v>120</c:v>
                </c:pt>
                <c:pt idx="2">
                  <c:v>260</c:v>
                </c:pt>
                <c:pt idx="3">
                  <c:v>380</c:v>
                </c:pt>
                <c:pt idx="4">
                  <c:v>500</c:v>
                </c:pt>
                <c:pt idx="5">
                  <c:v>500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9FB0C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44586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FB0C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37495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AeroLink replaces a fragile monolith with a cloud-native, event-driven microservices platform on AWS. I'll cover architecture, implementation, security, real-time sync, resilience, testing and DevOps — mapped to the four grading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maps directly to the rubric: Architecture (20), Implementation (40, the bulk), Testing (20) and the presentation/viva itself (20). Nine-step flow shown along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Monoliths can't scale selectively, are slow to release and fail as a unit. AeroLink decomposes the domain into bounded contexts coupled by events, on managed AWS services — directly targeting the scenario's four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glance: seven microservices, an event backbone of 16+ topics, fully codified infrastructure (19 Terraform modules) and nine RBAC roles. It delivers the complete passenger journey on a modern AWS stack. Patterns chosen per bounded context, not for uniformity.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estate is organised into five layers: Edge, API, Compute, Data, Security. A request flows from CloudFront/API Gateway, gets its JWT validated, crosses a VPC Link to the ALB inside EKS, hits the owning service, which reads its store and emits a Kafka event. Security is cross-cutting.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services, each a bounded context that owns its own data store and exposes a versioned REST API. Polyglot persistence: 5 share an Aurora cluster (separate logical DBs), flight adds Redis, baggage and notification use DynamoDB. A CI rule enforces the boundary in code — no cross-service imports.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one database for all, each service picks the store that fits its access pattern. Stateful components replicate across two AZs with automatic failover. Scaling happens at pod level (HPA), event-volume level (KEDA on Kafka lag) and node level (Cluster Autoscaler on Spot). Note: multi-region is reproducible via Terraform but not run active-active — an explicit, honest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exposes a versioned, validated REST API with pagination, idempotency keys and correlation IDs. Booking is deliberately asynchronous — 202 Accepted, then poll. The API Gateway with a Cognito authorizer is fully provisioned in Terraform; I'm transparent that runtime auth currently uses identity-service tokens, with edge Cognito and WebSocket as roadmap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Services coordinate by choreography: publish facts, subscribe to the ones you need, no orchestrator. 16 topics plus a DLQ, every message validated against a shared Zod envelope. The booking saga spans four services; if payment or the seat lock fails, compensating events undo prior steps — eventual consistency with correctness where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Passwords are bcrypt-hashed; sessions use short-lived JWTs held in memory. RBAC with nine roles plus resource-ownership checks. Three KMS keys separate PCI, PII and infra data, all auto-rotating. For PCI-DSS we stay out of scope by storing only a Stripe reference and last four digits; for GDPR, erasure is via cryptographic shredding.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Distributed systems can't offer one ACID transaction across services. The booking flow is a saga; seat selection — where a stale read could double-book — is protected by an atomic Redis SET NX lock, which is the authoritative arbiter even if the CQRS read model briefly lags. Idempotency keys make retries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features are event-driven, not polled: the same Kafka event that updates the database pushes to the WebSocket, so the UI can't drift from the backend. Seat availability uses CQRS with a ~100-200ms convergence window backed by the atomic lock. Baggage is an explicit seven-state machine, making illegal transitions impossible and every scan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Resilience is engineered. A circuit breaker stops a failing dependency — e.g. Stripe — from cascading 30-second timeouts; it fails fast in under a millisecond. Retries use capped exponential backoff with jitter and skip non-retryable errors. Scaling and multi-AZ failover give sub-five-minute recovery; full region loss is a Terraform redeploy plus backup 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spans four levels: unit (Jest), integration (Jest + Docker Compose driving the real saga including compensation), API (Swagger/Postman covering failure and RBAC cases) and performance (k6: smoke, load, stress, spike). The stress profile ramps to 500 virtual users; the integration test is the key one — it proves the cross-service event contract that mocked unit tests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is fully automated. CI on GitHub Actions builds and tests only changed services, pushes images to ECR and bumps the Helm tag. Argo CD then reconciles the cluster via GitOps — no manual deploys. The whole AWS estate is 19 Terraform modules, which is also what makes disaster-recovery region redeployment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rests on the three pillars plus health checks. CloudWatch collects metrics with version-controlled alarms; liveness and readiness probes let Kubernetes self-heal correctly; structured JSON logs keyed by correlation ID let me follow one request across pods; and OpenTelemetry tracing, linked to those logs, shows the full path of a request through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explicit about what is and isn't fully wired: edge Cognito auth, the live WebSocket channel and active-active multi-region are provisioned or reproducible but not fully connected. The roadmap closes these gaps and adds a mobile client and real GDS integration. Crucially, the event-driven design makes extension cheap — a new feature just subscribes to an existing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AeroLink delivers on all four rubric areas — a cloud-native multi-AZ architecture, a substantial event-driven implementation, a layered test strategy that proves the cross-service contract, and disciplined engineering combining cloud-native tooling with distributed-systems principles. Happy to take questions and demo the live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9900"/>
          </a:solidFill>
          <a:ln/>
        </p:spPr>
      </p:sp>
      <p:sp>
        <p:nvSpPr>
          <p:cNvPr id="3" name="Shape 1"/>
          <p:cNvSpPr/>
          <p:nvPr/>
        </p:nvSpPr>
        <p:spPr>
          <a:xfrm>
            <a:off x="8869680" y="-2011680"/>
            <a:ext cx="5669280" cy="5669280"/>
          </a:xfrm>
          <a:prstGeom prst="ellipse">
            <a:avLst/>
          </a:prstGeom>
          <a:solidFill>
            <a:srgbClr val="37495C">
              <a:alpha val="45000"/>
            </a:srgbClr>
          </a:solidFill>
          <a:ln/>
        </p:spPr>
      </p:sp>
      <p:sp>
        <p:nvSpPr>
          <p:cNvPr id="4" name="Shape 2"/>
          <p:cNvSpPr/>
          <p:nvPr/>
        </p:nvSpPr>
        <p:spPr>
          <a:xfrm>
            <a:off x="10332720" y="3291840"/>
            <a:ext cx="4023360" cy="4023360"/>
          </a:xfrm>
          <a:prstGeom prst="ellipse">
            <a:avLst/>
          </a:prstGeom>
          <a:solidFill>
            <a:srgbClr val="00A1C9">
              <a:alpha val="22000"/>
            </a:srgbClr>
          </a:solidFill>
          <a:ln/>
        </p:spPr>
      </p:sp>
      <p:sp>
        <p:nvSpPr>
          <p:cNvPr id="5" name="Text 3"/>
          <p:cNvSpPr/>
          <p:nvPr/>
        </p:nvSpPr>
        <p:spPr>
          <a:xfrm>
            <a:off x="777240" y="1234440"/>
            <a:ext cx="10058400" cy="365760"/>
          </a:xfrm>
          <a:prstGeom prst="rect">
            <a:avLst/>
          </a:prstGeom>
          <a:noFill/>
          <a:ln/>
        </p:spPr>
        <p:txBody>
          <a:bodyPr wrap="square" rtlCol="0" anchor="ctr"/>
          <a:lstStyle/>
          <a:p>
            <a:pPr indent="0" marL="0">
              <a:buNone/>
            </a:pPr>
            <a:r>
              <a:rPr lang="en-US" sz="1300" b="1" spc="200" kern="0" dirty="0">
                <a:solidFill>
                  <a:srgbClr val="FF9900"/>
                </a:solidFill>
                <a:latin typeface="Arial" pitchFamily="34" charset="0"/>
                <a:ea typeface="Arial" pitchFamily="34" charset="-122"/>
                <a:cs typeface="Arial" pitchFamily="34" charset="-120"/>
              </a:rPr>
              <a:t>AWS  ·  MICROSERVICES  ·  EVENT-DRIVEN  ·  KUBERNETES</a:t>
            </a:r>
            <a:endParaRPr lang="en-US" sz="1300" dirty="0"/>
          </a:p>
        </p:txBody>
      </p:sp>
      <p:sp>
        <p:nvSpPr>
          <p:cNvPr id="6" name="Text 4"/>
          <p:cNvSpPr/>
          <p:nvPr/>
        </p:nvSpPr>
        <p:spPr>
          <a:xfrm>
            <a:off x="731520" y="1783080"/>
            <a:ext cx="10058400" cy="1097280"/>
          </a:xfrm>
          <a:prstGeom prst="rect">
            <a:avLst/>
          </a:prstGeom>
          <a:noFill/>
          <a:ln/>
        </p:spPr>
        <p:txBody>
          <a:bodyPr wrap="square" rtlCol="0" anchor="ctr"/>
          <a:lstStyle/>
          <a:p>
            <a:pPr indent="0" marL="0">
              <a:buNone/>
            </a:pPr>
            <a:r>
              <a:rPr lang="en-US" sz="6600" b="1" dirty="0">
                <a:solidFill>
                  <a:srgbClr val="FFFFFF"/>
                </a:solidFill>
                <a:latin typeface="Arial" pitchFamily="34" charset="0"/>
                <a:ea typeface="Arial" pitchFamily="34" charset="-122"/>
                <a:cs typeface="Arial" pitchFamily="34" charset="-120"/>
              </a:rPr>
              <a:t>AeroLink</a:t>
            </a:r>
            <a:endParaRPr lang="en-US" sz="6600" dirty="0"/>
          </a:p>
        </p:txBody>
      </p:sp>
      <p:sp>
        <p:nvSpPr>
          <p:cNvPr id="7" name="Text 5"/>
          <p:cNvSpPr/>
          <p:nvPr/>
        </p:nvSpPr>
        <p:spPr>
          <a:xfrm>
            <a:off x="749808" y="2971800"/>
            <a:ext cx="10058400" cy="640080"/>
          </a:xfrm>
          <a:prstGeom prst="rect">
            <a:avLst/>
          </a:prstGeom>
          <a:noFill/>
          <a:ln/>
        </p:spPr>
        <p:txBody>
          <a:bodyPr wrap="square" rtlCol="0" anchor="ctr"/>
          <a:lstStyle/>
          <a:p>
            <a:pPr indent="0" marL="0">
              <a:buNone/>
            </a:pPr>
            <a:r>
              <a:rPr lang="en-US" sz="2600" dirty="0">
                <a:solidFill>
                  <a:srgbClr val="E6ECF2"/>
                </a:solidFill>
                <a:latin typeface="Arial" pitchFamily="34" charset="0"/>
                <a:ea typeface="Arial" pitchFamily="34" charset="-122"/>
                <a:cs typeface="Arial" pitchFamily="34" charset="-120"/>
              </a:rPr>
              <a:t>A Cloud-Native, Distributed Airline Operations Platform</a:t>
            </a:r>
            <a:endParaRPr lang="en-US" sz="2600" dirty="0"/>
          </a:p>
        </p:txBody>
      </p:sp>
      <p:sp>
        <p:nvSpPr>
          <p:cNvPr id="8" name="Text 6"/>
          <p:cNvSpPr/>
          <p:nvPr/>
        </p:nvSpPr>
        <p:spPr>
          <a:xfrm>
            <a:off x="749808" y="3703320"/>
            <a:ext cx="9601200" cy="822960"/>
          </a:xfrm>
          <a:prstGeom prst="rect">
            <a:avLst/>
          </a:prstGeom>
          <a:noFill/>
          <a:ln/>
        </p:spPr>
        <p:txBody>
          <a:bodyPr wrap="square" rtlCol="0" anchor="ctr"/>
          <a:lstStyle/>
          <a:p>
            <a:pPr indent="0" marL="0">
              <a:lnSpc>
                <a:spcPct val="115000"/>
              </a:lnSpc>
              <a:buNone/>
            </a:pPr>
            <a:r>
              <a:rPr lang="en-US" sz="1500" dirty="0">
                <a:solidFill>
                  <a:srgbClr val="9FB0C0"/>
                </a:solidFill>
                <a:latin typeface="Arial" pitchFamily="34" charset="0"/>
                <a:ea typeface="Arial" pitchFamily="34" charset="-122"/>
                <a:cs typeface="Arial" pitchFamily="34" charset="-120"/>
              </a:rPr>
              <a:t>Migrating a monolith to seven loosely-coupled microservices on AWS EKS,</a:t>
            </a:r>
            <a:endParaRPr lang="en-US" sz="1500" dirty="0"/>
          </a:p>
          <a:p>
            <a:pPr indent="0" marL="0">
              <a:lnSpc>
                <a:spcPct val="115000"/>
              </a:lnSpc>
              <a:buNone/>
            </a:pPr>
            <a:r>
              <a:rPr lang="en-US" sz="1500" dirty="0">
                <a:solidFill>
                  <a:srgbClr val="9FB0C0"/>
                </a:solidFill>
                <a:latin typeface="Arial" pitchFamily="34" charset="0"/>
                <a:ea typeface="Arial" pitchFamily="34" charset="-122"/>
                <a:cs typeface="Arial" pitchFamily="34" charset="-120"/>
              </a:rPr>
              <a:t>coordinated through an event-driven Kafka backbone.</a:t>
            </a:r>
            <a:endParaRPr lang="en-US" sz="1500" dirty="0"/>
          </a:p>
        </p:txBody>
      </p:sp>
      <p:sp>
        <p:nvSpPr>
          <p:cNvPr id="9" name="Shape 7"/>
          <p:cNvSpPr/>
          <p:nvPr/>
        </p:nvSpPr>
        <p:spPr>
          <a:xfrm>
            <a:off x="777240" y="4892040"/>
            <a:ext cx="91440" cy="1188720"/>
          </a:xfrm>
          <a:prstGeom prst="rect">
            <a:avLst/>
          </a:prstGeom>
          <a:solidFill>
            <a:srgbClr val="00A1C9"/>
          </a:solidFill>
          <a:ln/>
        </p:spPr>
      </p:sp>
      <p:sp>
        <p:nvSpPr>
          <p:cNvPr id="10" name="Text 8"/>
          <p:cNvSpPr/>
          <p:nvPr/>
        </p:nvSpPr>
        <p:spPr>
          <a:xfrm>
            <a:off x="1005840" y="4846320"/>
            <a:ext cx="9144000" cy="1280160"/>
          </a:xfrm>
          <a:prstGeom prst="rect">
            <a:avLst/>
          </a:prstGeom>
          <a:noFill/>
          <a:ln/>
        </p:spPr>
        <p:txBody>
          <a:bodyPr wrap="square" rtlCol="0" anchor="ctr"/>
          <a:lstStyle/>
          <a:p>
            <a:pPr indent="0" marL="0">
              <a:lnSpc>
                <a:spcPct val="125000"/>
              </a:lnSpc>
              <a:buNone/>
            </a:pPr>
            <a:r>
              <a:rPr lang="en-US" sz="1600" b="1" dirty="0">
                <a:solidFill>
                  <a:srgbClr val="FFFFFF"/>
                </a:solidFill>
                <a:latin typeface="Arial" pitchFamily="34" charset="0"/>
                <a:ea typeface="Arial" pitchFamily="34" charset="-122"/>
                <a:cs typeface="Arial" pitchFamily="34" charset="-120"/>
              </a:rPr>
              <a:t>Mohamed Hanaan Mohamed Munas</a:t>
            </a:r>
            <a:endParaRPr lang="en-US" sz="1600" dirty="0"/>
          </a:p>
          <a:p>
            <a:pPr indent="0" marL="0">
              <a:lnSpc>
                <a:spcPct val="125000"/>
              </a:lnSpc>
              <a:buNone/>
            </a:pPr>
            <a:r>
              <a:rPr lang="en-US" sz="1200" dirty="0">
                <a:solidFill>
                  <a:srgbClr val="9FB0C0"/>
                </a:solidFill>
                <a:latin typeface="Arial" pitchFamily="34" charset="0"/>
                <a:ea typeface="Arial" pitchFamily="34" charset="-122"/>
                <a:cs typeface="Arial" pitchFamily="34" charset="-120"/>
              </a:rPr>
              <a:t>Student ID: CB011253   ·   Batch HF2561 SE</a:t>
            </a:r>
            <a:endParaRPr lang="en-US" sz="1600" dirty="0"/>
          </a:p>
          <a:p>
            <a:pPr indent="0" marL="0">
              <a:lnSpc>
                <a:spcPct val="125000"/>
              </a:lnSpc>
              <a:buNone/>
            </a:pPr>
            <a:r>
              <a:rPr lang="en-US" sz="1200" dirty="0">
                <a:solidFill>
                  <a:srgbClr val="9FB0C0"/>
                </a:solidFill>
                <a:latin typeface="Arial" pitchFamily="34" charset="0"/>
                <a:ea typeface="Arial" pitchFamily="34" charset="-122"/>
                <a:cs typeface="Arial" pitchFamily="34" charset="-120"/>
              </a:rPr>
              <a:t>COMP60010 — Enterprise Cloud &amp; Distributed Web Applications</a:t>
            </a:r>
            <a:endParaRPr lang="en-US" sz="1600" dirty="0"/>
          </a:p>
          <a:p>
            <a:pPr indent="0" marL="0">
              <a:lnSpc>
                <a:spcPct val="125000"/>
              </a:lnSpc>
              <a:buNone/>
            </a:pPr>
            <a:r>
              <a:rPr lang="en-US" sz="1200" dirty="0">
                <a:solidFill>
                  <a:srgbClr val="9FB0C0"/>
                </a:solidFill>
                <a:latin typeface="Arial" pitchFamily="34" charset="0"/>
                <a:ea typeface="Arial" pitchFamily="34" charset="-122"/>
                <a:cs typeface="Arial" pitchFamily="34" charset="-120"/>
              </a:rPr>
              <a:t>Tutor: Mr. Yogendrajah Sivanujan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ROADMAP</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Agenda — Aligned to the Assessment Criteria</a:t>
            </a:r>
            <a:endParaRPr lang="en-US" sz="2700" dirty="0"/>
          </a:p>
        </p:txBody>
      </p:sp>
      <p:sp>
        <p:nvSpPr>
          <p:cNvPr id="5" name="Shape 3"/>
          <p:cNvSpPr/>
          <p:nvPr/>
        </p:nvSpPr>
        <p:spPr>
          <a:xfrm>
            <a:off x="713232" y="1335024"/>
            <a:ext cx="11018520" cy="0"/>
          </a:xfrm>
          <a:prstGeom prst="line">
            <a:avLst/>
          </a:prstGeom>
          <a:noFill/>
          <a:ln w="12700">
            <a:solidFill>
              <a:srgbClr val="44586B"/>
            </a:solidFill>
            <a:prstDash val="solid"/>
          </a:ln>
        </p:spPr>
      </p:sp>
      <p:sp>
        <p:nvSpPr>
          <p:cNvPr id="6" name="Shape 4"/>
          <p:cNvSpPr/>
          <p:nvPr/>
        </p:nvSpPr>
        <p:spPr>
          <a:xfrm>
            <a:off x="713232" y="1691640"/>
            <a:ext cx="2697480" cy="2148840"/>
          </a:xfrm>
          <a:prstGeom prst="roundRect">
            <a:avLst>
              <a:gd name="adj" fmla="val 340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7" name="Shape 5"/>
          <p:cNvSpPr/>
          <p:nvPr/>
        </p:nvSpPr>
        <p:spPr>
          <a:xfrm>
            <a:off x="713232" y="1691640"/>
            <a:ext cx="2697480" cy="91440"/>
          </a:xfrm>
          <a:prstGeom prst="rect">
            <a:avLst/>
          </a:prstGeom>
          <a:solidFill>
            <a:srgbClr val="FF9900"/>
          </a:solidFill>
          <a:ln/>
        </p:spPr>
      </p:sp>
      <p:sp>
        <p:nvSpPr>
          <p:cNvPr id="8" name="Text 6"/>
          <p:cNvSpPr/>
          <p:nvPr/>
        </p:nvSpPr>
        <p:spPr>
          <a:xfrm>
            <a:off x="713232" y="1874520"/>
            <a:ext cx="2697480" cy="868680"/>
          </a:xfrm>
          <a:prstGeom prst="rect">
            <a:avLst/>
          </a:prstGeom>
          <a:noFill/>
          <a:ln/>
        </p:spPr>
        <p:txBody>
          <a:bodyPr wrap="square" lIns="0" tIns="0" rIns="0" bIns="0" rtlCol="0" anchor="ctr"/>
          <a:lstStyle/>
          <a:p>
            <a:pPr algn="ctr" indent="0" marL="0">
              <a:buNone/>
            </a:pPr>
            <a:r>
              <a:rPr lang="en-US" sz="4400" b="1" dirty="0">
                <a:solidFill>
                  <a:srgbClr val="FF9900"/>
                </a:solidFill>
                <a:latin typeface="Arial" pitchFamily="34" charset="0"/>
                <a:ea typeface="Arial" pitchFamily="34" charset="-122"/>
                <a:cs typeface="Arial" pitchFamily="34" charset="-120"/>
              </a:rPr>
              <a:t>20%</a:t>
            </a:r>
            <a:endParaRPr lang="en-US" sz="4400" dirty="0"/>
          </a:p>
        </p:txBody>
      </p:sp>
      <p:sp>
        <p:nvSpPr>
          <p:cNvPr id="9" name="Text 7"/>
          <p:cNvSpPr/>
          <p:nvPr/>
        </p:nvSpPr>
        <p:spPr>
          <a:xfrm>
            <a:off x="850392" y="2743200"/>
            <a:ext cx="242316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Architecture Design</a:t>
            </a:r>
            <a:endParaRPr lang="en-US" sz="1500" dirty="0"/>
          </a:p>
        </p:txBody>
      </p:sp>
      <p:sp>
        <p:nvSpPr>
          <p:cNvPr id="10" name="Text 8"/>
          <p:cNvSpPr/>
          <p:nvPr/>
        </p:nvSpPr>
        <p:spPr>
          <a:xfrm>
            <a:off x="877824" y="3200400"/>
            <a:ext cx="2368296" cy="594360"/>
          </a:xfrm>
          <a:prstGeom prst="rect">
            <a:avLst/>
          </a:prstGeom>
          <a:noFill/>
          <a:ln/>
        </p:spPr>
        <p:txBody>
          <a:bodyPr wrap="square" rtlCol="0" anchor="ctr"/>
          <a:lstStyle/>
          <a:p>
            <a:pPr algn="ctr" indent="0" marL="0">
              <a:lnSpc>
                <a:spcPct val="105000"/>
              </a:lnSpc>
              <a:buNone/>
            </a:pPr>
            <a:r>
              <a:rPr lang="en-US" sz="1100" dirty="0">
                <a:solidFill>
                  <a:srgbClr val="9FB0C0"/>
                </a:solidFill>
                <a:latin typeface="Arial" pitchFamily="34" charset="0"/>
                <a:ea typeface="Arial" pitchFamily="34" charset="-122"/>
                <a:cs typeface="Arial" pitchFamily="34" charset="-120"/>
              </a:rPr>
              <a:t>Cloud-native 5-layer design, microservices, HA &amp; scaling</a:t>
            </a:r>
            <a:endParaRPr lang="en-US" sz="1100" dirty="0"/>
          </a:p>
        </p:txBody>
      </p:sp>
      <p:sp>
        <p:nvSpPr>
          <p:cNvPr id="11" name="Shape 9"/>
          <p:cNvSpPr/>
          <p:nvPr/>
        </p:nvSpPr>
        <p:spPr>
          <a:xfrm>
            <a:off x="3557016" y="1691640"/>
            <a:ext cx="2697480" cy="2148840"/>
          </a:xfrm>
          <a:prstGeom prst="roundRect">
            <a:avLst>
              <a:gd name="adj" fmla="val 340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2" name="Shape 10"/>
          <p:cNvSpPr/>
          <p:nvPr/>
        </p:nvSpPr>
        <p:spPr>
          <a:xfrm>
            <a:off x="3557016" y="1691640"/>
            <a:ext cx="2697480" cy="91440"/>
          </a:xfrm>
          <a:prstGeom prst="rect">
            <a:avLst/>
          </a:prstGeom>
          <a:solidFill>
            <a:srgbClr val="00A1C9"/>
          </a:solidFill>
          <a:ln/>
        </p:spPr>
      </p:sp>
      <p:sp>
        <p:nvSpPr>
          <p:cNvPr id="13" name="Text 11"/>
          <p:cNvSpPr/>
          <p:nvPr/>
        </p:nvSpPr>
        <p:spPr>
          <a:xfrm>
            <a:off x="3557016" y="1874520"/>
            <a:ext cx="2697480" cy="868680"/>
          </a:xfrm>
          <a:prstGeom prst="rect">
            <a:avLst/>
          </a:prstGeom>
          <a:noFill/>
          <a:ln/>
        </p:spPr>
        <p:txBody>
          <a:bodyPr wrap="square" lIns="0" tIns="0" rIns="0" bIns="0" rtlCol="0" anchor="ctr"/>
          <a:lstStyle/>
          <a:p>
            <a:pPr algn="ctr" indent="0" marL="0">
              <a:buNone/>
            </a:pPr>
            <a:r>
              <a:rPr lang="en-US" sz="4400" b="1" dirty="0">
                <a:solidFill>
                  <a:srgbClr val="00A1C9"/>
                </a:solidFill>
                <a:latin typeface="Arial" pitchFamily="34" charset="0"/>
                <a:ea typeface="Arial" pitchFamily="34" charset="-122"/>
                <a:cs typeface="Arial" pitchFamily="34" charset="-120"/>
              </a:rPr>
              <a:t>40%</a:t>
            </a:r>
            <a:endParaRPr lang="en-US" sz="4400" dirty="0"/>
          </a:p>
        </p:txBody>
      </p:sp>
      <p:sp>
        <p:nvSpPr>
          <p:cNvPr id="14" name="Text 12"/>
          <p:cNvSpPr/>
          <p:nvPr/>
        </p:nvSpPr>
        <p:spPr>
          <a:xfrm>
            <a:off x="3694176" y="2743200"/>
            <a:ext cx="242316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Implementation</a:t>
            </a:r>
            <a:endParaRPr lang="en-US" sz="1500" dirty="0"/>
          </a:p>
        </p:txBody>
      </p:sp>
      <p:sp>
        <p:nvSpPr>
          <p:cNvPr id="15" name="Text 13"/>
          <p:cNvSpPr/>
          <p:nvPr/>
        </p:nvSpPr>
        <p:spPr>
          <a:xfrm>
            <a:off x="3721608" y="3200400"/>
            <a:ext cx="2368296" cy="594360"/>
          </a:xfrm>
          <a:prstGeom prst="rect">
            <a:avLst/>
          </a:prstGeom>
          <a:noFill/>
          <a:ln/>
        </p:spPr>
        <p:txBody>
          <a:bodyPr wrap="square" rtlCol="0" anchor="ctr"/>
          <a:lstStyle/>
          <a:p>
            <a:pPr algn="ctr" indent="0" marL="0">
              <a:lnSpc>
                <a:spcPct val="105000"/>
              </a:lnSpc>
              <a:buNone/>
            </a:pPr>
            <a:r>
              <a:rPr lang="en-US" sz="1100" dirty="0">
                <a:solidFill>
                  <a:srgbClr val="9FB0C0"/>
                </a:solidFill>
                <a:latin typeface="Arial" pitchFamily="34" charset="0"/>
                <a:ea typeface="Arial" pitchFamily="34" charset="-122"/>
                <a:cs typeface="Arial" pitchFamily="34" charset="-120"/>
              </a:rPr>
              <a:t>7 services + Lambda, APIs, events, security, real-time, resilience</a:t>
            </a:r>
            <a:endParaRPr lang="en-US" sz="1100" dirty="0"/>
          </a:p>
        </p:txBody>
      </p:sp>
      <p:sp>
        <p:nvSpPr>
          <p:cNvPr id="16" name="Shape 14"/>
          <p:cNvSpPr/>
          <p:nvPr/>
        </p:nvSpPr>
        <p:spPr>
          <a:xfrm>
            <a:off x="6400800" y="1691640"/>
            <a:ext cx="2697480" cy="2148840"/>
          </a:xfrm>
          <a:prstGeom prst="roundRect">
            <a:avLst>
              <a:gd name="adj" fmla="val 340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7" name="Shape 15"/>
          <p:cNvSpPr/>
          <p:nvPr/>
        </p:nvSpPr>
        <p:spPr>
          <a:xfrm>
            <a:off x="6400800" y="1691640"/>
            <a:ext cx="2697480" cy="91440"/>
          </a:xfrm>
          <a:prstGeom prst="rect">
            <a:avLst/>
          </a:prstGeom>
          <a:solidFill>
            <a:srgbClr val="27D196"/>
          </a:solidFill>
          <a:ln/>
        </p:spPr>
      </p:sp>
      <p:sp>
        <p:nvSpPr>
          <p:cNvPr id="18" name="Text 16"/>
          <p:cNvSpPr/>
          <p:nvPr/>
        </p:nvSpPr>
        <p:spPr>
          <a:xfrm>
            <a:off x="6400800" y="1874520"/>
            <a:ext cx="2697480" cy="868680"/>
          </a:xfrm>
          <a:prstGeom prst="rect">
            <a:avLst/>
          </a:prstGeom>
          <a:noFill/>
          <a:ln/>
        </p:spPr>
        <p:txBody>
          <a:bodyPr wrap="square" lIns="0" tIns="0" rIns="0" bIns="0" rtlCol="0" anchor="ctr"/>
          <a:lstStyle/>
          <a:p>
            <a:pPr algn="ctr" indent="0" marL="0">
              <a:buNone/>
            </a:pPr>
            <a:r>
              <a:rPr lang="en-US" sz="4400" b="1" dirty="0">
                <a:solidFill>
                  <a:srgbClr val="27D196"/>
                </a:solidFill>
                <a:latin typeface="Arial" pitchFamily="34" charset="0"/>
                <a:ea typeface="Arial" pitchFamily="34" charset="-122"/>
                <a:cs typeface="Arial" pitchFamily="34" charset="-120"/>
              </a:rPr>
              <a:t>20%</a:t>
            </a:r>
            <a:endParaRPr lang="en-US" sz="4400" dirty="0"/>
          </a:p>
        </p:txBody>
      </p:sp>
      <p:sp>
        <p:nvSpPr>
          <p:cNvPr id="19" name="Text 17"/>
          <p:cNvSpPr/>
          <p:nvPr/>
        </p:nvSpPr>
        <p:spPr>
          <a:xfrm>
            <a:off x="6537960" y="2743200"/>
            <a:ext cx="242316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Testing &amp; Results</a:t>
            </a:r>
            <a:endParaRPr lang="en-US" sz="1500" dirty="0"/>
          </a:p>
        </p:txBody>
      </p:sp>
      <p:sp>
        <p:nvSpPr>
          <p:cNvPr id="20" name="Text 18"/>
          <p:cNvSpPr/>
          <p:nvPr/>
        </p:nvSpPr>
        <p:spPr>
          <a:xfrm>
            <a:off x="6565392" y="3200400"/>
            <a:ext cx="2368296" cy="594360"/>
          </a:xfrm>
          <a:prstGeom prst="rect">
            <a:avLst/>
          </a:prstGeom>
          <a:noFill/>
          <a:ln/>
        </p:spPr>
        <p:txBody>
          <a:bodyPr wrap="square" rtlCol="0" anchor="ctr"/>
          <a:lstStyle/>
          <a:p>
            <a:pPr algn="ctr" indent="0" marL="0">
              <a:lnSpc>
                <a:spcPct val="105000"/>
              </a:lnSpc>
              <a:buNone/>
            </a:pPr>
            <a:r>
              <a:rPr lang="en-US" sz="1100" dirty="0">
                <a:solidFill>
                  <a:srgbClr val="9FB0C0"/>
                </a:solidFill>
                <a:latin typeface="Arial" pitchFamily="34" charset="0"/>
                <a:ea typeface="Arial" pitchFamily="34" charset="-122"/>
                <a:cs typeface="Arial" pitchFamily="34" charset="-120"/>
              </a:rPr>
              <a:t>Unit, integration, API &amp; k6 performance testing</a:t>
            </a:r>
            <a:endParaRPr lang="en-US" sz="1100" dirty="0"/>
          </a:p>
        </p:txBody>
      </p:sp>
      <p:sp>
        <p:nvSpPr>
          <p:cNvPr id="21" name="Shape 19"/>
          <p:cNvSpPr/>
          <p:nvPr/>
        </p:nvSpPr>
        <p:spPr>
          <a:xfrm>
            <a:off x="9244584" y="1691640"/>
            <a:ext cx="2697480" cy="2148840"/>
          </a:xfrm>
          <a:prstGeom prst="roundRect">
            <a:avLst>
              <a:gd name="adj" fmla="val 340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2" name="Shape 20"/>
          <p:cNvSpPr/>
          <p:nvPr/>
        </p:nvSpPr>
        <p:spPr>
          <a:xfrm>
            <a:off x="9244584" y="1691640"/>
            <a:ext cx="2697480" cy="91440"/>
          </a:xfrm>
          <a:prstGeom prst="rect">
            <a:avLst/>
          </a:prstGeom>
          <a:solidFill>
            <a:srgbClr val="4DA6FF"/>
          </a:solidFill>
          <a:ln/>
        </p:spPr>
      </p:sp>
      <p:sp>
        <p:nvSpPr>
          <p:cNvPr id="23" name="Text 21"/>
          <p:cNvSpPr/>
          <p:nvPr/>
        </p:nvSpPr>
        <p:spPr>
          <a:xfrm>
            <a:off x="9244584" y="1874520"/>
            <a:ext cx="2697480" cy="868680"/>
          </a:xfrm>
          <a:prstGeom prst="rect">
            <a:avLst/>
          </a:prstGeom>
          <a:noFill/>
          <a:ln/>
        </p:spPr>
        <p:txBody>
          <a:bodyPr wrap="square" lIns="0" tIns="0" rIns="0" bIns="0" rtlCol="0" anchor="ctr"/>
          <a:lstStyle/>
          <a:p>
            <a:pPr algn="ctr" indent="0" marL="0">
              <a:buNone/>
            </a:pPr>
            <a:r>
              <a:rPr lang="en-US" sz="4400" b="1" dirty="0">
                <a:solidFill>
                  <a:srgbClr val="4DA6FF"/>
                </a:solidFill>
                <a:latin typeface="Arial" pitchFamily="34" charset="0"/>
                <a:ea typeface="Arial" pitchFamily="34" charset="-122"/>
                <a:cs typeface="Arial" pitchFamily="34" charset="-120"/>
              </a:rPr>
              <a:t>20%</a:t>
            </a:r>
            <a:endParaRPr lang="en-US" sz="4400" dirty="0"/>
          </a:p>
        </p:txBody>
      </p:sp>
      <p:sp>
        <p:nvSpPr>
          <p:cNvPr id="24" name="Text 22"/>
          <p:cNvSpPr/>
          <p:nvPr/>
        </p:nvSpPr>
        <p:spPr>
          <a:xfrm>
            <a:off x="9381744" y="2743200"/>
            <a:ext cx="2423160" cy="4572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Presentation &amp; Viva</a:t>
            </a:r>
            <a:endParaRPr lang="en-US" sz="1500" dirty="0"/>
          </a:p>
        </p:txBody>
      </p:sp>
      <p:sp>
        <p:nvSpPr>
          <p:cNvPr id="25" name="Text 23"/>
          <p:cNvSpPr/>
          <p:nvPr/>
        </p:nvSpPr>
        <p:spPr>
          <a:xfrm>
            <a:off x="9409176" y="3200400"/>
            <a:ext cx="2368296" cy="594360"/>
          </a:xfrm>
          <a:prstGeom prst="rect">
            <a:avLst/>
          </a:prstGeom>
          <a:noFill/>
          <a:ln/>
        </p:spPr>
        <p:txBody>
          <a:bodyPr wrap="square" rtlCol="0" anchor="ctr"/>
          <a:lstStyle/>
          <a:p>
            <a:pPr algn="ctr" indent="0" marL="0">
              <a:lnSpc>
                <a:spcPct val="105000"/>
              </a:lnSpc>
              <a:buNone/>
            </a:pPr>
            <a:r>
              <a:rPr lang="en-US" sz="1100" dirty="0">
                <a:solidFill>
                  <a:srgbClr val="9FB0C0"/>
                </a:solidFill>
                <a:latin typeface="Arial" pitchFamily="34" charset="0"/>
                <a:ea typeface="Arial" pitchFamily="34" charset="-122"/>
                <a:cs typeface="Arial" pitchFamily="34" charset="-120"/>
              </a:rPr>
              <a:t>This deck + live demo &amp; design justification</a:t>
            </a:r>
            <a:endParaRPr lang="en-US" sz="1100" dirty="0"/>
          </a:p>
        </p:txBody>
      </p:sp>
      <p:sp>
        <p:nvSpPr>
          <p:cNvPr id="26" name="Text 24"/>
          <p:cNvSpPr/>
          <p:nvPr/>
        </p:nvSpPr>
        <p:spPr>
          <a:xfrm>
            <a:off x="713232" y="4069080"/>
            <a:ext cx="5486400" cy="274320"/>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Presentation flow</a:t>
            </a:r>
            <a:endParaRPr lang="en-US" sz="1200" dirty="0"/>
          </a:p>
        </p:txBody>
      </p:sp>
      <p:sp>
        <p:nvSpPr>
          <p:cNvPr id="27" name="Shape 25"/>
          <p:cNvSpPr/>
          <p:nvPr/>
        </p:nvSpPr>
        <p:spPr>
          <a:xfrm>
            <a:off x="713232" y="4389120"/>
            <a:ext cx="1170432" cy="502920"/>
          </a:xfrm>
          <a:prstGeom prst="roundRect">
            <a:avLst>
              <a:gd name="adj" fmla="val 18182"/>
            </a:avLst>
          </a:prstGeom>
          <a:solidFill>
            <a:srgbClr val="2E3F50"/>
          </a:solidFill>
          <a:ln w="9525">
            <a:solidFill>
              <a:srgbClr val="44586B"/>
            </a:solidFill>
            <a:prstDash val="solid"/>
          </a:ln>
        </p:spPr>
      </p:sp>
      <p:sp>
        <p:nvSpPr>
          <p:cNvPr id="28" name="Text 26"/>
          <p:cNvSpPr/>
          <p:nvPr/>
        </p:nvSpPr>
        <p:spPr>
          <a:xfrm>
            <a:off x="713232" y="4389120"/>
            <a:ext cx="1170432" cy="502920"/>
          </a:xfrm>
          <a:prstGeom prst="rect">
            <a:avLst/>
          </a:prstGeom>
          <a:noFill/>
          <a:ln/>
        </p:spPr>
        <p:txBody>
          <a:bodyPr wrap="square" lIns="0" tIns="0" rIns="0" bIns="0" rtlCol="0" anchor="ctr"/>
          <a:lstStyle/>
          <a:p>
            <a:pPr algn="ctr" indent="0" marL="0">
              <a:buNone/>
            </a:pPr>
            <a:r>
              <a:rPr lang="en-US" sz="950" dirty="0">
                <a:solidFill>
                  <a:srgbClr val="E6ECF2"/>
                </a:solidFill>
                <a:latin typeface="Arial" pitchFamily="34" charset="0"/>
                <a:ea typeface="Arial" pitchFamily="34" charset="-122"/>
                <a:cs typeface="Arial" pitchFamily="34" charset="-120"/>
              </a:rPr>
              <a:t>1. Problem</a:t>
            </a:r>
            <a:endParaRPr lang="en-US" sz="950" dirty="0"/>
          </a:p>
        </p:txBody>
      </p:sp>
      <p:sp>
        <p:nvSpPr>
          <p:cNvPr id="29" name="Shape 27"/>
          <p:cNvSpPr/>
          <p:nvPr/>
        </p:nvSpPr>
        <p:spPr>
          <a:xfrm>
            <a:off x="1938528" y="4389120"/>
            <a:ext cx="1170432" cy="502920"/>
          </a:xfrm>
          <a:prstGeom prst="roundRect">
            <a:avLst>
              <a:gd name="adj" fmla="val 18182"/>
            </a:avLst>
          </a:prstGeom>
          <a:solidFill>
            <a:srgbClr val="2E3F50"/>
          </a:solidFill>
          <a:ln w="9525">
            <a:solidFill>
              <a:srgbClr val="44586B"/>
            </a:solidFill>
            <a:prstDash val="solid"/>
          </a:ln>
        </p:spPr>
      </p:sp>
      <p:sp>
        <p:nvSpPr>
          <p:cNvPr id="30" name="Text 28"/>
          <p:cNvSpPr/>
          <p:nvPr/>
        </p:nvSpPr>
        <p:spPr>
          <a:xfrm>
            <a:off x="1938528" y="4389120"/>
            <a:ext cx="1170432" cy="502920"/>
          </a:xfrm>
          <a:prstGeom prst="rect">
            <a:avLst/>
          </a:prstGeom>
          <a:noFill/>
          <a:ln/>
        </p:spPr>
        <p:txBody>
          <a:bodyPr wrap="square" lIns="0" tIns="0" rIns="0" bIns="0" rtlCol="0" anchor="ctr"/>
          <a:lstStyle/>
          <a:p>
            <a:pPr algn="ctr" indent="0" marL="0">
              <a:buNone/>
            </a:pPr>
            <a:r>
              <a:rPr lang="en-US" sz="950" dirty="0">
                <a:solidFill>
                  <a:srgbClr val="E6ECF2"/>
                </a:solidFill>
                <a:latin typeface="Arial" pitchFamily="34" charset="0"/>
                <a:ea typeface="Arial" pitchFamily="34" charset="-122"/>
                <a:cs typeface="Arial" pitchFamily="34" charset="-120"/>
              </a:rPr>
              <a:t>2. Architecture</a:t>
            </a:r>
            <a:endParaRPr lang="en-US" sz="950" dirty="0"/>
          </a:p>
        </p:txBody>
      </p:sp>
      <p:sp>
        <p:nvSpPr>
          <p:cNvPr id="31" name="Shape 29"/>
          <p:cNvSpPr/>
          <p:nvPr/>
        </p:nvSpPr>
        <p:spPr>
          <a:xfrm>
            <a:off x="3163824" y="4389120"/>
            <a:ext cx="1170432" cy="502920"/>
          </a:xfrm>
          <a:prstGeom prst="roundRect">
            <a:avLst>
              <a:gd name="adj" fmla="val 18182"/>
            </a:avLst>
          </a:prstGeom>
          <a:solidFill>
            <a:srgbClr val="2E3F50"/>
          </a:solidFill>
          <a:ln w="9525">
            <a:solidFill>
              <a:srgbClr val="44586B"/>
            </a:solidFill>
            <a:prstDash val="solid"/>
          </a:ln>
        </p:spPr>
      </p:sp>
      <p:sp>
        <p:nvSpPr>
          <p:cNvPr id="32" name="Text 30"/>
          <p:cNvSpPr/>
          <p:nvPr/>
        </p:nvSpPr>
        <p:spPr>
          <a:xfrm>
            <a:off x="3163824" y="4389120"/>
            <a:ext cx="1170432" cy="502920"/>
          </a:xfrm>
          <a:prstGeom prst="rect">
            <a:avLst/>
          </a:prstGeom>
          <a:noFill/>
          <a:ln/>
        </p:spPr>
        <p:txBody>
          <a:bodyPr wrap="square" lIns="0" tIns="0" rIns="0" bIns="0" rtlCol="0" anchor="ctr"/>
          <a:lstStyle/>
          <a:p>
            <a:pPr algn="ctr" indent="0" marL="0">
              <a:buNone/>
            </a:pPr>
            <a:r>
              <a:rPr lang="en-US" sz="950" dirty="0">
                <a:solidFill>
                  <a:srgbClr val="E6ECF2"/>
                </a:solidFill>
                <a:latin typeface="Arial" pitchFamily="34" charset="0"/>
                <a:ea typeface="Arial" pitchFamily="34" charset="-122"/>
                <a:cs typeface="Arial" pitchFamily="34" charset="-120"/>
              </a:rPr>
              <a:t>3. APIs &amp; Events</a:t>
            </a:r>
            <a:endParaRPr lang="en-US" sz="950" dirty="0"/>
          </a:p>
        </p:txBody>
      </p:sp>
      <p:sp>
        <p:nvSpPr>
          <p:cNvPr id="33" name="Shape 31"/>
          <p:cNvSpPr/>
          <p:nvPr/>
        </p:nvSpPr>
        <p:spPr>
          <a:xfrm>
            <a:off x="4389120" y="4389120"/>
            <a:ext cx="1170432" cy="502920"/>
          </a:xfrm>
          <a:prstGeom prst="roundRect">
            <a:avLst>
              <a:gd name="adj" fmla="val 18182"/>
            </a:avLst>
          </a:prstGeom>
          <a:solidFill>
            <a:srgbClr val="2E3F50"/>
          </a:solidFill>
          <a:ln w="9525">
            <a:solidFill>
              <a:srgbClr val="44586B"/>
            </a:solidFill>
            <a:prstDash val="solid"/>
          </a:ln>
        </p:spPr>
      </p:sp>
      <p:sp>
        <p:nvSpPr>
          <p:cNvPr id="34" name="Text 32"/>
          <p:cNvSpPr/>
          <p:nvPr/>
        </p:nvSpPr>
        <p:spPr>
          <a:xfrm>
            <a:off x="4389120" y="4389120"/>
            <a:ext cx="1170432" cy="502920"/>
          </a:xfrm>
          <a:prstGeom prst="rect">
            <a:avLst/>
          </a:prstGeom>
          <a:noFill/>
          <a:ln/>
        </p:spPr>
        <p:txBody>
          <a:bodyPr wrap="square" lIns="0" tIns="0" rIns="0" bIns="0" rtlCol="0" anchor="ctr"/>
          <a:lstStyle/>
          <a:p>
            <a:pPr algn="ctr" indent="0" marL="0">
              <a:buNone/>
            </a:pPr>
            <a:r>
              <a:rPr lang="en-US" sz="950" dirty="0">
                <a:solidFill>
                  <a:srgbClr val="E6ECF2"/>
                </a:solidFill>
                <a:latin typeface="Arial" pitchFamily="34" charset="0"/>
                <a:ea typeface="Arial" pitchFamily="34" charset="-122"/>
                <a:cs typeface="Arial" pitchFamily="34" charset="-120"/>
              </a:rPr>
              <a:t>4. Security</a:t>
            </a:r>
            <a:endParaRPr lang="en-US" sz="950" dirty="0"/>
          </a:p>
        </p:txBody>
      </p:sp>
      <p:sp>
        <p:nvSpPr>
          <p:cNvPr id="35" name="Shape 33"/>
          <p:cNvSpPr/>
          <p:nvPr/>
        </p:nvSpPr>
        <p:spPr>
          <a:xfrm>
            <a:off x="5614416" y="4389120"/>
            <a:ext cx="1170432" cy="502920"/>
          </a:xfrm>
          <a:prstGeom prst="roundRect">
            <a:avLst>
              <a:gd name="adj" fmla="val 18182"/>
            </a:avLst>
          </a:prstGeom>
          <a:solidFill>
            <a:srgbClr val="2E3F50"/>
          </a:solidFill>
          <a:ln w="9525">
            <a:solidFill>
              <a:srgbClr val="44586B"/>
            </a:solidFill>
            <a:prstDash val="solid"/>
          </a:ln>
        </p:spPr>
      </p:sp>
      <p:sp>
        <p:nvSpPr>
          <p:cNvPr id="36" name="Text 34"/>
          <p:cNvSpPr/>
          <p:nvPr/>
        </p:nvSpPr>
        <p:spPr>
          <a:xfrm>
            <a:off x="5614416" y="4389120"/>
            <a:ext cx="1170432" cy="502920"/>
          </a:xfrm>
          <a:prstGeom prst="rect">
            <a:avLst/>
          </a:prstGeom>
          <a:noFill/>
          <a:ln/>
        </p:spPr>
        <p:txBody>
          <a:bodyPr wrap="square" lIns="0" tIns="0" rIns="0" bIns="0" rtlCol="0" anchor="ctr"/>
          <a:lstStyle/>
          <a:p>
            <a:pPr algn="ctr" indent="0" marL="0">
              <a:buNone/>
            </a:pPr>
            <a:r>
              <a:rPr lang="en-US" sz="950" dirty="0">
                <a:solidFill>
                  <a:srgbClr val="E6ECF2"/>
                </a:solidFill>
                <a:latin typeface="Arial" pitchFamily="34" charset="0"/>
                <a:ea typeface="Arial" pitchFamily="34" charset="-122"/>
                <a:cs typeface="Arial" pitchFamily="34" charset="-120"/>
              </a:rPr>
              <a:t>5. Real-time</a:t>
            </a:r>
            <a:endParaRPr lang="en-US" sz="950" dirty="0"/>
          </a:p>
        </p:txBody>
      </p:sp>
      <p:sp>
        <p:nvSpPr>
          <p:cNvPr id="37" name="Shape 35"/>
          <p:cNvSpPr/>
          <p:nvPr/>
        </p:nvSpPr>
        <p:spPr>
          <a:xfrm>
            <a:off x="6839712" y="4389120"/>
            <a:ext cx="1170432" cy="502920"/>
          </a:xfrm>
          <a:prstGeom prst="roundRect">
            <a:avLst>
              <a:gd name="adj" fmla="val 18182"/>
            </a:avLst>
          </a:prstGeom>
          <a:solidFill>
            <a:srgbClr val="2E3F50"/>
          </a:solidFill>
          <a:ln w="9525">
            <a:solidFill>
              <a:srgbClr val="44586B"/>
            </a:solidFill>
            <a:prstDash val="solid"/>
          </a:ln>
        </p:spPr>
      </p:sp>
      <p:sp>
        <p:nvSpPr>
          <p:cNvPr id="38" name="Text 36"/>
          <p:cNvSpPr/>
          <p:nvPr/>
        </p:nvSpPr>
        <p:spPr>
          <a:xfrm>
            <a:off x="6839712" y="4389120"/>
            <a:ext cx="1170432" cy="502920"/>
          </a:xfrm>
          <a:prstGeom prst="rect">
            <a:avLst/>
          </a:prstGeom>
          <a:noFill/>
          <a:ln/>
        </p:spPr>
        <p:txBody>
          <a:bodyPr wrap="square" lIns="0" tIns="0" rIns="0" bIns="0" rtlCol="0" anchor="ctr"/>
          <a:lstStyle/>
          <a:p>
            <a:pPr algn="ctr" indent="0" marL="0">
              <a:buNone/>
            </a:pPr>
            <a:r>
              <a:rPr lang="en-US" sz="950" dirty="0">
                <a:solidFill>
                  <a:srgbClr val="E6ECF2"/>
                </a:solidFill>
                <a:latin typeface="Arial" pitchFamily="34" charset="0"/>
                <a:ea typeface="Arial" pitchFamily="34" charset="-122"/>
                <a:cs typeface="Arial" pitchFamily="34" charset="-120"/>
              </a:rPr>
              <a:t>6. Resilience</a:t>
            </a:r>
            <a:endParaRPr lang="en-US" sz="950" dirty="0"/>
          </a:p>
        </p:txBody>
      </p:sp>
      <p:sp>
        <p:nvSpPr>
          <p:cNvPr id="39" name="Shape 37"/>
          <p:cNvSpPr/>
          <p:nvPr/>
        </p:nvSpPr>
        <p:spPr>
          <a:xfrm>
            <a:off x="8065008" y="4389120"/>
            <a:ext cx="1170432" cy="502920"/>
          </a:xfrm>
          <a:prstGeom prst="roundRect">
            <a:avLst>
              <a:gd name="adj" fmla="val 18182"/>
            </a:avLst>
          </a:prstGeom>
          <a:solidFill>
            <a:srgbClr val="2E3F50"/>
          </a:solidFill>
          <a:ln w="9525">
            <a:solidFill>
              <a:srgbClr val="44586B"/>
            </a:solidFill>
            <a:prstDash val="solid"/>
          </a:ln>
        </p:spPr>
      </p:sp>
      <p:sp>
        <p:nvSpPr>
          <p:cNvPr id="40" name="Text 38"/>
          <p:cNvSpPr/>
          <p:nvPr/>
        </p:nvSpPr>
        <p:spPr>
          <a:xfrm>
            <a:off x="8065008" y="4389120"/>
            <a:ext cx="1170432" cy="502920"/>
          </a:xfrm>
          <a:prstGeom prst="rect">
            <a:avLst/>
          </a:prstGeom>
          <a:noFill/>
          <a:ln/>
        </p:spPr>
        <p:txBody>
          <a:bodyPr wrap="square" lIns="0" tIns="0" rIns="0" bIns="0" rtlCol="0" anchor="ctr"/>
          <a:lstStyle/>
          <a:p>
            <a:pPr algn="ctr" indent="0" marL="0">
              <a:buNone/>
            </a:pPr>
            <a:r>
              <a:rPr lang="en-US" sz="950" dirty="0">
                <a:solidFill>
                  <a:srgbClr val="E6ECF2"/>
                </a:solidFill>
                <a:latin typeface="Arial" pitchFamily="34" charset="0"/>
                <a:ea typeface="Arial" pitchFamily="34" charset="-122"/>
                <a:cs typeface="Arial" pitchFamily="34" charset="-120"/>
              </a:rPr>
              <a:t>7. Testing</a:t>
            </a:r>
            <a:endParaRPr lang="en-US" sz="950" dirty="0"/>
          </a:p>
        </p:txBody>
      </p:sp>
      <p:sp>
        <p:nvSpPr>
          <p:cNvPr id="41" name="Shape 39"/>
          <p:cNvSpPr/>
          <p:nvPr/>
        </p:nvSpPr>
        <p:spPr>
          <a:xfrm>
            <a:off x="9290304" y="4389120"/>
            <a:ext cx="1170432" cy="502920"/>
          </a:xfrm>
          <a:prstGeom prst="roundRect">
            <a:avLst>
              <a:gd name="adj" fmla="val 18182"/>
            </a:avLst>
          </a:prstGeom>
          <a:solidFill>
            <a:srgbClr val="2E3F50"/>
          </a:solidFill>
          <a:ln w="9525">
            <a:solidFill>
              <a:srgbClr val="44586B"/>
            </a:solidFill>
            <a:prstDash val="solid"/>
          </a:ln>
        </p:spPr>
      </p:sp>
      <p:sp>
        <p:nvSpPr>
          <p:cNvPr id="42" name="Text 40"/>
          <p:cNvSpPr/>
          <p:nvPr/>
        </p:nvSpPr>
        <p:spPr>
          <a:xfrm>
            <a:off x="9290304" y="4389120"/>
            <a:ext cx="1170432" cy="502920"/>
          </a:xfrm>
          <a:prstGeom prst="rect">
            <a:avLst/>
          </a:prstGeom>
          <a:noFill/>
          <a:ln/>
        </p:spPr>
        <p:txBody>
          <a:bodyPr wrap="square" lIns="0" tIns="0" rIns="0" bIns="0" rtlCol="0" anchor="ctr"/>
          <a:lstStyle/>
          <a:p>
            <a:pPr algn="ctr" indent="0" marL="0">
              <a:buNone/>
            </a:pPr>
            <a:r>
              <a:rPr lang="en-US" sz="950" dirty="0">
                <a:solidFill>
                  <a:srgbClr val="E6ECF2"/>
                </a:solidFill>
                <a:latin typeface="Arial" pitchFamily="34" charset="0"/>
                <a:ea typeface="Arial" pitchFamily="34" charset="-122"/>
                <a:cs typeface="Arial" pitchFamily="34" charset="-120"/>
              </a:rPr>
              <a:t>8. DevOps</a:t>
            </a:r>
            <a:endParaRPr lang="en-US" sz="950" dirty="0"/>
          </a:p>
        </p:txBody>
      </p:sp>
      <p:sp>
        <p:nvSpPr>
          <p:cNvPr id="43" name="Shape 41"/>
          <p:cNvSpPr/>
          <p:nvPr/>
        </p:nvSpPr>
        <p:spPr>
          <a:xfrm>
            <a:off x="10515600" y="4389120"/>
            <a:ext cx="1170432" cy="502920"/>
          </a:xfrm>
          <a:prstGeom prst="roundRect">
            <a:avLst>
              <a:gd name="adj" fmla="val 18182"/>
            </a:avLst>
          </a:prstGeom>
          <a:solidFill>
            <a:srgbClr val="2E3F50"/>
          </a:solidFill>
          <a:ln w="9525">
            <a:solidFill>
              <a:srgbClr val="44586B"/>
            </a:solidFill>
            <a:prstDash val="solid"/>
          </a:ln>
        </p:spPr>
      </p:sp>
      <p:sp>
        <p:nvSpPr>
          <p:cNvPr id="44" name="Text 42"/>
          <p:cNvSpPr/>
          <p:nvPr/>
        </p:nvSpPr>
        <p:spPr>
          <a:xfrm>
            <a:off x="10515600" y="4389120"/>
            <a:ext cx="1170432" cy="502920"/>
          </a:xfrm>
          <a:prstGeom prst="rect">
            <a:avLst/>
          </a:prstGeom>
          <a:noFill/>
          <a:ln/>
        </p:spPr>
        <p:txBody>
          <a:bodyPr wrap="square" lIns="0" tIns="0" rIns="0" bIns="0" rtlCol="0" anchor="ctr"/>
          <a:lstStyle/>
          <a:p>
            <a:pPr algn="ctr" indent="0" marL="0">
              <a:buNone/>
            </a:pPr>
            <a:r>
              <a:rPr lang="en-US" sz="950" dirty="0">
                <a:solidFill>
                  <a:srgbClr val="E6ECF2"/>
                </a:solidFill>
                <a:latin typeface="Arial" pitchFamily="34" charset="0"/>
                <a:ea typeface="Arial" pitchFamily="34" charset="-122"/>
                <a:cs typeface="Arial" pitchFamily="34" charset="-120"/>
              </a:rPr>
              <a:t>9. Future</a:t>
            </a:r>
            <a:endParaRPr lang="en-US" sz="950" dirty="0"/>
          </a:p>
        </p:txBody>
      </p:sp>
      <p:sp>
        <p:nvSpPr>
          <p:cNvPr id="45" name="Text 43"/>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46" name="Text 44"/>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CONTEXT &amp; MOTIVATION</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Why Move Off the Monolith?</a:t>
            </a:r>
            <a:endParaRPr lang="en-US" sz="2700" dirty="0"/>
          </a:p>
        </p:txBody>
      </p:sp>
      <p:sp>
        <p:nvSpPr>
          <p:cNvPr id="5" name="Shape 3"/>
          <p:cNvSpPr/>
          <p:nvPr/>
        </p:nvSpPr>
        <p:spPr>
          <a:xfrm>
            <a:off x="713232" y="1335024"/>
            <a:ext cx="11018520" cy="0"/>
          </a:xfrm>
          <a:prstGeom prst="line">
            <a:avLst/>
          </a:prstGeom>
          <a:noFill/>
          <a:ln w="12700">
            <a:solidFill>
              <a:srgbClr val="44586B"/>
            </a:solidFill>
            <a:prstDash val="solid"/>
          </a:ln>
        </p:spPr>
      </p:sp>
      <p:sp>
        <p:nvSpPr>
          <p:cNvPr id="6" name="Shape 4"/>
          <p:cNvSpPr/>
          <p:nvPr/>
        </p:nvSpPr>
        <p:spPr>
          <a:xfrm>
            <a:off x="713232" y="1645920"/>
            <a:ext cx="5349240" cy="4480560"/>
          </a:xfrm>
          <a:prstGeom prst="roundRect">
            <a:avLst>
              <a:gd name="adj" fmla="val 1633"/>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7" name="Text 5"/>
          <p:cNvSpPr/>
          <p:nvPr/>
        </p:nvSpPr>
        <p:spPr>
          <a:xfrm>
            <a:off x="960120" y="1828800"/>
            <a:ext cx="4846320" cy="365760"/>
          </a:xfrm>
          <a:prstGeom prst="rect">
            <a:avLst/>
          </a:prstGeom>
          <a:noFill/>
          <a:ln/>
        </p:spPr>
        <p:txBody>
          <a:bodyPr wrap="square" rtlCol="0" anchor="ctr"/>
          <a:lstStyle/>
          <a:p>
            <a:pPr indent="0" marL="0">
              <a:buNone/>
            </a:pPr>
            <a:r>
              <a:rPr lang="en-US" sz="1600" b="1" dirty="0">
                <a:solidFill>
                  <a:srgbClr val="FF9900"/>
                </a:solidFill>
                <a:latin typeface="Arial" pitchFamily="34" charset="0"/>
                <a:ea typeface="Arial" pitchFamily="34" charset="-122"/>
                <a:cs typeface="Arial" pitchFamily="34" charset="-120"/>
              </a:rPr>
              <a:t>The problem with one big application</a:t>
            </a:r>
            <a:endParaRPr lang="en-US" sz="1600" dirty="0"/>
          </a:p>
        </p:txBody>
      </p:sp>
      <p:sp>
        <p:nvSpPr>
          <p:cNvPr id="8" name="Shape 6"/>
          <p:cNvSpPr/>
          <p:nvPr/>
        </p:nvSpPr>
        <p:spPr>
          <a:xfrm>
            <a:off x="960120" y="2331720"/>
            <a:ext cx="292608" cy="292608"/>
          </a:xfrm>
          <a:prstGeom prst="ellipse">
            <a:avLst/>
          </a:prstGeom>
          <a:solidFill>
            <a:srgbClr val="FF6B6B">
              <a:alpha val="30000"/>
            </a:srgbClr>
          </a:solidFill>
          <a:ln w="12700">
            <a:solidFill>
              <a:srgbClr val="FF6B6B"/>
            </a:solidFill>
            <a:prstDash val="solid"/>
          </a:ln>
        </p:spPr>
      </p:sp>
      <p:sp>
        <p:nvSpPr>
          <p:cNvPr id="9" name="Text 7"/>
          <p:cNvSpPr/>
          <p:nvPr/>
        </p:nvSpPr>
        <p:spPr>
          <a:xfrm>
            <a:off x="960120" y="2331720"/>
            <a:ext cx="292608" cy="292608"/>
          </a:xfrm>
          <a:prstGeom prst="rect">
            <a:avLst/>
          </a:prstGeom>
          <a:noFill/>
          <a:ln/>
        </p:spPr>
        <p:txBody>
          <a:bodyPr wrap="square" lIns="0" tIns="0" rIns="0" bIns="0" rtlCol="0" anchor="ctr"/>
          <a:lstStyle/>
          <a:p>
            <a:pPr algn="ctr" indent="0" marL="0">
              <a:buNone/>
            </a:pPr>
            <a:r>
              <a:rPr lang="en-US" sz="1200" b="1" dirty="0">
                <a:solidFill>
                  <a:srgbClr val="FF6B6B"/>
                </a:solidFill>
              </a:rPr>
              <a:t>x</a:t>
            </a:r>
            <a:endParaRPr lang="en-US" sz="1200" dirty="0"/>
          </a:p>
        </p:txBody>
      </p:sp>
      <p:sp>
        <p:nvSpPr>
          <p:cNvPr id="10" name="Text 8"/>
          <p:cNvSpPr/>
          <p:nvPr/>
        </p:nvSpPr>
        <p:spPr>
          <a:xfrm>
            <a:off x="1371600" y="2286000"/>
            <a:ext cx="4480560" cy="3200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Cannot scale selectively</a:t>
            </a:r>
            <a:endParaRPr lang="en-US" sz="1350" dirty="0"/>
          </a:p>
        </p:txBody>
      </p:sp>
      <p:sp>
        <p:nvSpPr>
          <p:cNvPr id="11" name="Text 9"/>
          <p:cNvSpPr/>
          <p:nvPr/>
        </p:nvSpPr>
        <p:spPr>
          <a:xfrm>
            <a:off x="1371600" y="2596896"/>
            <a:ext cx="452628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Check-in load forces the whole app to scale, not just one function.</a:t>
            </a:r>
            <a:endParaRPr lang="en-US" sz="1100" dirty="0"/>
          </a:p>
        </p:txBody>
      </p:sp>
      <p:sp>
        <p:nvSpPr>
          <p:cNvPr id="12" name="Shape 10"/>
          <p:cNvSpPr/>
          <p:nvPr/>
        </p:nvSpPr>
        <p:spPr>
          <a:xfrm>
            <a:off x="960120" y="3246120"/>
            <a:ext cx="292608" cy="292608"/>
          </a:xfrm>
          <a:prstGeom prst="ellipse">
            <a:avLst/>
          </a:prstGeom>
          <a:solidFill>
            <a:srgbClr val="FF6B6B">
              <a:alpha val="30000"/>
            </a:srgbClr>
          </a:solidFill>
          <a:ln w="12700">
            <a:solidFill>
              <a:srgbClr val="FF6B6B"/>
            </a:solidFill>
            <a:prstDash val="solid"/>
          </a:ln>
        </p:spPr>
      </p:sp>
      <p:sp>
        <p:nvSpPr>
          <p:cNvPr id="13" name="Text 11"/>
          <p:cNvSpPr/>
          <p:nvPr/>
        </p:nvSpPr>
        <p:spPr>
          <a:xfrm>
            <a:off x="960120" y="3246120"/>
            <a:ext cx="292608" cy="292608"/>
          </a:xfrm>
          <a:prstGeom prst="rect">
            <a:avLst/>
          </a:prstGeom>
          <a:noFill/>
          <a:ln/>
        </p:spPr>
        <p:txBody>
          <a:bodyPr wrap="square" lIns="0" tIns="0" rIns="0" bIns="0" rtlCol="0" anchor="ctr"/>
          <a:lstStyle/>
          <a:p>
            <a:pPr algn="ctr" indent="0" marL="0">
              <a:buNone/>
            </a:pPr>
            <a:r>
              <a:rPr lang="en-US" sz="1200" b="1" dirty="0">
                <a:solidFill>
                  <a:srgbClr val="FF6B6B"/>
                </a:solidFill>
              </a:rPr>
              <a:t>x</a:t>
            </a:r>
            <a:endParaRPr lang="en-US" sz="1200" dirty="0"/>
          </a:p>
        </p:txBody>
      </p:sp>
      <p:sp>
        <p:nvSpPr>
          <p:cNvPr id="14" name="Text 12"/>
          <p:cNvSpPr/>
          <p:nvPr/>
        </p:nvSpPr>
        <p:spPr>
          <a:xfrm>
            <a:off x="1371600" y="3200400"/>
            <a:ext cx="4480560" cy="3200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Slow, risky releases</a:t>
            </a:r>
            <a:endParaRPr lang="en-US" sz="1350" dirty="0"/>
          </a:p>
        </p:txBody>
      </p:sp>
      <p:sp>
        <p:nvSpPr>
          <p:cNvPr id="15" name="Text 13"/>
          <p:cNvSpPr/>
          <p:nvPr/>
        </p:nvSpPr>
        <p:spPr>
          <a:xfrm>
            <a:off x="1371600" y="3511296"/>
            <a:ext cx="452628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Every change redeploys everything; small fixes are high-risk.</a:t>
            </a:r>
            <a:endParaRPr lang="en-US" sz="1100" dirty="0"/>
          </a:p>
        </p:txBody>
      </p:sp>
      <p:sp>
        <p:nvSpPr>
          <p:cNvPr id="16" name="Shape 14"/>
          <p:cNvSpPr/>
          <p:nvPr/>
        </p:nvSpPr>
        <p:spPr>
          <a:xfrm>
            <a:off x="960120" y="4160520"/>
            <a:ext cx="292608" cy="292608"/>
          </a:xfrm>
          <a:prstGeom prst="ellipse">
            <a:avLst/>
          </a:prstGeom>
          <a:solidFill>
            <a:srgbClr val="FF6B6B">
              <a:alpha val="30000"/>
            </a:srgbClr>
          </a:solidFill>
          <a:ln w="12700">
            <a:solidFill>
              <a:srgbClr val="FF6B6B"/>
            </a:solidFill>
            <a:prstDash val="solid"/>
          </a:ln>
        </p:spPr>
      </p:sp>
      <p:sp>
        <p:nvSpPr>
          <p:cNvPr id="17" name="Text 15"/>
          <p:cNvSpPr/>
          <p:nvPr/>
        </p:nvSpPr>
        <p:spPr>
          <a:xfrm>
            <a:off x="960120" y="4160520"/>
            <a:ext cx="292608" cy="292608"/>
          </a:xfrm>
          <a:prstGeom prst="rect">
            <a:avLst/>
          </a:prstGeom>
          <a:noFill/>
          <a:ln/>
        </p:spPr>
        <p:txBody>
          <a:bodyPr wrap="square" lIns="0" tIns="0" rIns="0" bIns="0" rtlCol="0" anchor="ctr"/>
          <a:lstStyle/>
          <a:p>
            <a:pPr algn="ctr" indent="0" marL="0">
              <a:buNone/>
            </a:pPr>
            <a:r>
              <a:rPr lang="en-US" sz="1200" b="1" dirty="0">
                <a:solidFill>
                  <a:srgbClr val="FF6B6B"/>
                </a:solidFill>
              </a:rPr>
              <a:t>x</a:t>
            </a:r>
            <a:endParaRPr lang="en-US" sz="1200" dirty="0"/>
          </a:p>
        </p:txBody>
      </p:sp>
      <p:sp>
        <p:nvSpPr>
          <p:cNvPr id="18" name="Text 16"/>
          <p:cNvSpPr/>
          <p:nvPr/>
        </p:nvSpPr>
        <p:spPr>
          <a:xfrm>
            <a:off x="1371600" y="4114800"/>
            <a:ext cx="4480560" cy="3200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Fragile coupling</a:t>
            </a:r>
            <a:endParaRPr lang="en-US" sz="1350" dirty="0"/>
          </a:p>
        </p:txBody>
      </p:sp>
      <p:sp>
        <p:nvSpPr>
          <p:cNvPr id="19" name="Text 17"/>
          <p:cNvSpPr/>
          <p:nvPr/>
        </p:nvSpPr>
        <p:spPr>
          <a:xfrm>
            <a:off x="1371600" y="4425696"/>
            <a:ext cx="452628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A fault or saturation in one subsystem cascades to unrelated ones.</a:t>
            </a:r>
            <a:endParaRPr lang="en-US" sz="1100" dirty="0"/>
          </a:p>
        </p:txBody>
      </p:sp>
      <p:sp>
        <p:nvSpPr>
          <p:cNvPr id="20" name="Shape 18"/>
          <p:cNvSpPr/>
          <p:nvPr/>
        </p:nvSpPr>
        <p:spPr>
          <a:xfrm>
            <a:off x="960120" y="5074920"/>
            <a:ext cx="292608" cy="292608"/>
          </a:xfrm>
          <a:prstGeom prst="ellipse">
            <a:avLst/>
          </a:prstGeom>
          <a:solidFill>
            <a:srgbClr val="FF6B6B">
              <a:alpha val="30000"/>
            </a:srgbClr>
          </a:solidFill>
          <a:ln w="12700">
            <a:solidFill>
              <a:srgbClr val="FF6B6B"/>
            </a:solidFill>
            <a:prstDash val="solid"/>
          </a:ln>
        </p:spPr>
      </p:sp>
      <p:sp>
        <p:nvSpPr>
          <p:cNvPr id="21" name="Text 19"/>
          <p:cNvSpPr/>
          <p:nvPr/>
        </p:nvSpPr>
        <p:spPr>
          <a:xfrm>
            <a:off x="960120" y="5074920"/>
            <a:ext cx="292608" cy="292608"/>
          </a:xfrm>
          <a:prstGeom prst="rect">
            <a:avLst/>
          </a:prstGeom>
          <a:noFill/>
          <a:ln/>
        </p:spPr>
        <p:txBody>
          <a:bodyPr wrap="square" lIns="0" tIns="0" rIns="0" bIns="0" rtlCol="0" anchor="ctr"/>
          <a:lstStyle/>
          <a:p>
            <a:pPr algn="ctr" indent="0" marL="0">
              <a:buNone/>
            </a:pPr>
            <a:r>
              <a:rPr lang="en-US" sz="1200" b="1" dirty="0">
                <a:solidFill>
                  <a:srgbClr val="FF6B6B"/>
                </a:solidFill>
              </a:rPr>
              <a:t>x</a:t>
            </a:r>
            <a:endParaRPr lang="en-US" sz="1200" dirty="0"/>
          </a:p>
        </p:txBody>
      </p:sp>
      <p:sp>
        <p:nvSpPr>
          <p:cNvPr id="22" name="Text 20"/>
          <p:cNvSpPr/>
          <p:nvPr/>
        </p:nvSpPr>
        <p:spPr>
          <a:xfrm>
            <a:off x="1371600" y="5029200"/>
            <a:ext cx="4480560" cy="3200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Shared database</a:t>
            </a:r>
            <a:endParaRPr lang="en-US" sz="1350" dirty="0"/>
          </a:p>
        </p:txBody>
      </p:sp>
      <p:sp>
        <p:nvSpPr>
          <p:cNvPr id="23" name="Text 21"/>
          <p:cNvSpPr/>
          <p:nvPr/>
        </p:nvSpPr>
        <p:spPr>
          <a:xfrm>
            <a:off x="1371600" y="5340096"/>
            <a:ext cx="452628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One schema, one process — no clear domain boundaries.</a:t>
            </a:r>
            <a:endParaRPr lang="en-US" sz="1100" dirty="0"/>
          </a:p>
        </p:txBody>
      </p:sp>
      <p:sp>
        <p:nvSpPr>
          <p:cNvPr id="24" name="Shape 22"/>
          <p:cNvSpPr/>
          <p:nvPr/>
        </p:nvSpPr>
        <p:spPr>
          <a:xfrm>
            <a:off x="6355080" y="1645920"/>
            <a:ext cx="5120640" cy="4480560"/>
          </a:xfrm>
          <a:prstGeom prst="roundRect">
            <a:avLst>
              <a:gd name="adj" fmla="val 1633"/>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5" name="Text 23"/>
          <p:cNvSpPr/>
          <p:nvPr/>
        </p:nvSpPr>
        <p:spPr>
          <a:xfrm>
            <a:off x="6601968" y="1828800"/>
            <a:ext cx="4572000" cy="365760"/>
          </a:xfrm>
          <a:prstGeom prst="rect">
            <a:avLst/>
          </a:prstGeom>
          <a:noFill/>
          <a:ln/>
        </p:spPr>
        <p:txBody>
          <a:bodyPr wrap="square" rtlCol="0" anchor="ctr"/>
          <a:lstStyle/>
          <a:p>
            <a:pPr indent="0" marL="0">
              <a:buNone/>
            </a:pPr>
            <a:r>
              <a:rPr lang="en-US" sz="1600" b="1" dirty="0">
                <a:solidFill>
                  <a:srgbClr val="27D196"/>
                </a:solidFill>
                <a:latin typeface="Arial" pitchFamily="34" charset="0"/>
                <a:ea typeface="Arial" pitchFamily="34" charset="-122"/>
                <a:cs typeface="Arial" pitchFamily="34" charset="-120"/>
              </a:rPr>
              <a:t>AeroLink's response</a:t>
            </a:r>
            <a:endParaRPr lang="en-US" sz="1600" dirty="0"/>
          </a:p>
        </p:txBody>
      </p:sp>
      <p:sp>
        <p:nvSpPr>
          <p:cNvPr id="26" name="Shape 24"/>
          <p:cNvSpPr/>
          <p:nvPr/>
        </p:nvSpPr>
        <p:spPr>
          <a:xfrm>
            <a:off x="6601968" y="2331720"/>
            <a:ext cx="292608" cy="292608"/>
          </a:xfrm>
          <a:prstGeom prst="ellipse">
            <a:avLst/>
          </a:prstGeom>
          <a:solidFill>
            <a:srgbClr val="27D196">
              <a:alpha val="30000"/>
            </a:srgbClr>
          </a:solidFill>
          <a:ln w="12700">
            <a:solidFill>
              <a:srgbClr val="27D196"/>
            </a:solidFill>
            <a:prstDash val="solid"/>
          </a:ln>
        </p:spPr>
      </p:sp>
      <p:sp>
        <p:nvSpPr>
          <p:cNvPr id="27" name="Text 25"/>
          <p:cNvSpPr/>
          <p:nvPr/>
        </p:nvSpPr>
        <p:spPr>
          <a:xfrm>
            <a:off x="6601968" y="2331720"/>
            <a:ext cx="292608" cy="292608"/>
          </a:xfrm>
          <a:prstGeom prst="rect">
            <a:avLst/>
          </a:prstGeom>
          <a:noFill/>
          <a:ln/>
        </p:spPr>
        <p:txBody>
          <a:bodyPr wrap="square" lIns="0" tIns="0" rIns="0" bIns="0" rtlCol="0" anchor="ctr"/>
          <a:lstStyle/>
          <a:p>
            <a:pPr algn="ctr" indent="0" marL="0">
              <a:buNone/>
            </a:pPr>
            <a:r>
              <a:rPr lang="en-US" sz="1300" b="1" dirty="0">
                <a:solidFill>
                  <a:srgbClr val="27D196"/>
                </a:solidFill>
              </a:rPr>
              <a:t>+</a:t>
            </a:r>
            <a:endParaRPr lang="en-US" sz="1300" dirty="0"/>
          </a:p>
        </p:txBody>
      </p:sp>
      <p:sp>
        <p:nvSpPr>
          <p:cNvPr id="28" name="Text 26"/>
          <p:cNvSpPr/>
          <p:nvPr/>
        </p:nvSpPr>
        <p:spPr>
          <a:xfrm>
            <a:off x="7013448" y="2286000"/>
            <a:ext cx="4297680" cy="3200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Bounded contexts</a:t>
            </a:r>
            <a:endParaRPr lang="en-US" sz="1350" dirty="0"/>
          </a:p>
        </p:txBody>
      </p:sp>
      <p:sp>
        <p:nvSpPr>
          <p:cNvPr id="29" name="Text 27"/>
          <p:cNvSpPr/>
          <p:nvPr/>
        </p:nvSpPr>
        <p:spPr>
          <a:xfrm>
            <a:off x="7013448" y="2596896"/>
            <a:ext cx="434340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Model the airline domain as independent services, one per business capability.</a:t>
            </a:r>
            <a:endParaRPr lang="en-US" sz="1100" dirty="0"/>
          </a:p>
        </p:txBody>
      </p:sp>
      <p:sp>
        <p:nvSpPr>
          <p:cNvPr id="30" name="Shape 28"/>
          <p:cNvSpPr/>
          <p:nvPr/>
        </p:nvSpPr>
        <p:spPr>
          <a:xfrm>
            <a:off x="6601968" y="3246120"/>
            <a:ext cx="292608" cy="292608"/>
          </a:xfrm>
          <a:prstGeom prst="ellipse">
            <a:avLst/>
          </a:prstGeom>
          <a:solidFill>
            <a:srgbClr val="27D196">
              <a:alpha val="30000"/>
            </a:srgbClr>
          </a:solidFill>
          <a:ln w="12700">
            <a:solidFill>
              <a:srgbClr val="27D196"/>
            </a:solidFill>
            <a:prstDash val="solid"/>
          </a:ln>
        </p:spPr>
      </p:sp>
      <p:sp>
        <p:nvSpPr>
          <p:cNvPr id="31" name="Text 29"/>
          <p:cNvSpPr/>
          <p:nvPr/>
        </p:nvSpPr>
        <p:spPr>
          <a:xfrm>
            <a:off x="6601968" y="3246120"/>
            <a:ext cx="292608" cy="292608"/>
          </a:xfrm>
          <a:prstGeom prst="rect">
            <a:avLst/>
          </a:prstGeom>
          <a:noFill/>
          <a:ln/>
        </p:spPr>
        <p:txBody>
          <a:bodyPr wrap="square" lIns="0" tIns="0" rIns="0" bIns="0" rtlCol="0" anchor="ctr"/>
          <a:lstStyle/>
          <a:p>
            <a:pPr algn="ctr" indent="0" marL="0">
              <a:buNone/>
            </a:pPr>
            <a:r>
              <a:rPr lang="en-US" sz="1300" b="1" dirty="0">
                <a:solidFill>
                  <a:srgbClr val="27D196"/>
                </a:solidFill>
              </a:rPr>
              <a:t>+</a:t>
            </a:r>
            <a:endParaRPr lang="en-US" sz="1300" dirty="0"/>
          </a:p>
        </p:txBody>
      </p:sp>
      <p:sp>
        <p:nvSpPr>
          <p:cNvPr id="32" name="Text 30"/>
          <p:cNvSpPr/>
          <p:nvPr/>
        </p:nvSpPr>
        <p:spPr>
          <a:xfrm>
            <a:off x="7013448" y="3200400"/>
            <a:ext cx="4297680" cy="3200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Event-driven coupling</a:t>
            </a:r>
            <a:endParaRPr lang="en-US" sz="1350" dirty="0"/>
          </a:p>
        </p:txBody>
      </p:sp>
      <p:sp>
        <p:nvSpPr>
          <p:cNvPr id="33" name="Text 31"/>
          <p:cNvSpPr/>
          <p:nvPr/>
        </p:nvSpPr>
        <p:spPr>
          <a:xfrm>
            <a:off x="7013448" y="3511296"/>
            <a:ext cx="434340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Services coordinate via domain events on Kafka — not synchronous calls.</a:t>
            </a:r>
            <a:endParaRPr lang="en-US" sz="1100" dirty="0"/>
          </a:p>
        </p:txBody>
      </p:sp>
      <p:sp>
        <p:nvSpPr>
          <p:cNvPr id="34" name="Shape 32"/>
          <p:cNvSpPr/>
          <p:nvPr/>
        </p:nvSpPr>
        <p:spPr>
          <a:xfrm>
            <a:off x="6601968" y="4160520"/>
            <a:ext cx="292608" cy="292608"/>
          </a:xfrm>
          <a:prstGeom prst="ellipse">
            <a:avLst/>
          </a:prstGeom>
          <a:solidFill>
            <a:srgbClr val="27D196">
              <a:alpha val="30000"/>
            </a:srgbClr>
          </a:solidFill>
          <a:ln w="12700">
            <a:solidFill>
              <a:srgbClr val="27D196"/>
            </a:solidFill>
            <a:prstDash val="solid"/>
          </a:ln>
        </p:spPr>
      </p:sp>
      <p:sp>
        <p:nvSpPr>
          <p:cNvPr id="35" name="Text 33"/>
          <p:cNvSpPr/>
          <p:nvPr/>
        </p:nvSpPr>
        <p:spPr>
          <a:xfrm>
            <a:off x="6601968" y="4160520"/>
            <a:ext cx="292608" cy="292608"/>
          </a:xfrm>
          <a:prstGeom prst="rect">
            <a:avLst/>
          </a:prstGeom>
          <a:noFill/>
          <a:ln/>
        </p:spPr>
        <p:txBody>
          <a:bodyPr wrap="square" lIns="0" tIns="0" rIns="0" bIns="0" rtlCol="0" anchor="ctr"/>
          <a:lstStyle/>
          <a:p>
            <a:pPr algn="ctr" indent="0" marL="0">
              <a:buNone/>
            </a:pPr>
            <a:r>
              <a:rPr lang="en-US" sz="1300" b="1" dirty="0">
                <a:solidFill>
                  <a:srgbClr val="27D196"/>
                </a:solidFill>
              </a:rPr>
              <a:t>+</a:t>
            </a:r>
            <a:endParaRPr lang="en-US" sz="1300" dirty="0"/>
          </a:p>
        </p:txBody>
      </p:sp>
      <p:sp>
        <p:nvSpPr>
          <p:cNvPr id="36" name="Text 34"/>
          <p:cNvSpPr/>
          <p:nvPr/>
        </p:nvSpPr>
        <p:spPr>
          <a:xfrm>
            <a:off x="7013448" y="4114800"/>
            <a:ext cx="4297680" cy="3200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Cloud-native operations</a:t>
            </a:r>
            <a:endParaRPr lang="en-US" sz="1350" dirty="0"/>
          </a:p>
        </p:txBody>
      </p:sp>
      <p:sp>
        <p:nvSpPr>
          <p:cNvPr id="37" name="Text 35"/>
          <p:cNvSpPr/>
          <p:nvPr/>
        </p:nvSpPr>
        <p:spPr>
          <a:xfrm>
            <a:off x="7013448" y="4425696"/>
            <a:ext cx="434340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Managed AWS services for data, messaging, scaling and security.</a:t>
            </a:r>
            <a:endParaRPr lang="en-US" sz="1100" dirty="0"/>
          </a:p>
        </p:txBody>
      </p:sp>
      <p:sp>
        <p:nvSpPr>
          <p:cNvPr id="38" name="Shape 36"/>
          <p:cNvSpPr/>
          <p:nvPr/>
        </p:nvSpPr>
        <p:spPr>
          <a:xfrm>
            <a:off x="6601968" y="5074920"/>
            <a:ext cx="292608" cy="292608"/>
          </a:xfrm>
          <a:prstGeom prst="ellipse">
            <a:avLst/>
          </a:prstGeom>
          <a:solidFill>
            <a:srgbClr val="27D196">
              <a:alpha val="30000"/>
            </a:srgbClr>
          </a:solidFill>
          <a:ln w="12700">
            <a:solidFill>
              <a:srgbClr val="27D196"/>
            </a:solidFill>
            <a:prstDash val="solid"/>
          </a:ln>
        </p:spPr>
      </p:sp>
      <p:sp>
        <p:nvSpPr>
          <p:cNvPr id="39" name="Text 37"/>
          <p:cNvSpPr/>
          <p:nvPr/>
        </p:nvSpPr>
        <p:spPr>
          <a:xfrm>
            <a:off x="6601968" y="5074920"/>
            <a:ext cx="292608" cy="292608"/>
          </a:xfrm>
          <a:prstGeom prst="rect">
            <a:avLst/>
          </a:prstGeom>
          <a:noFill/>
          <a:ln/>
        </p:spPr>
        <p:txBody>
          <a:bodyPr wrap="square" lIns="0" tIns="0" rIns="0" bIns="0" rtlCol="0" anchor="ctr"/>
          <a:lstStyle/>
          <a:p>
            <a:pPr algn="ctr" indent="0" marL="0">
              <a:buNone/>
            </a:pPr>
            <a:r>
              <a:rPr lang="en-US" sz="1300" b="1" dirty="0">
                <a:solidFill>
                  <a:srgbClr val="27D196"/>
                </a:solidFill>
              </a:rPr>
              <a:t>+</a:t>
            </a:r>
            <a:endParaRPr lang="en-US" sz="1300" dirty="0"/>
          </a:p>
        </p:txBody>
      </p:sp>
      <p:sp>
        <p:nvSpPr>
          <p:cNvPr id="40" name="Text 38"/>
          <p:cNvSpPr/>
          <p:nvPr/>
        </p:nvSpPr>
        <p:spPr>
          <a:xfrm>
            <a:off x="7013448" y="5029200"/>
            <a:ext cx="4297680" cy="3200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Designed for the requirements</a:t>
            </a:r>
            <a:endParaRPr lang="en-US" sz="1350" dirty="0"/>
          </a:p>
        </p:txBody>
      </p:sp>
      <p:sp>
        <p:nvSpPr>
          <p:cNvPr id="41" name="Text 39"/>
          <p:cNvSpPr/>
          <p:nvPr/>
        </p:nvSpPr>
        <p:spPr>
          <a:xfrm>
            <a:off x="7013448" y="5340096"/>
            <a:ext cx="434340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High availability, global scalability, fault tolerance, real-time sync.</a:t>
            </a:r>
            <a:endParaRPr lang="en-US" sz="1100" dirty="0"/>
          </a:p>
        </p:txBody>
      </p:sp>
      <p:sp>
        <p:nvSpPr>
          <p:cNvPr id="42" name="Text 40"/>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43" name="Text 41"/>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SOLUTION OVERVIEW</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AeroLink at a Glance</a:t>
            </a:r>
            <a:endParaRPr lang="en-US" sz="2700" dirty="0"/>
          </a:p>
        </p:txBody>
      </p:sp>
      <p:sp>
        <p:nvSpPr>
          <p:cNvPr id="5" name="Shape 3"/>
          <p:cNvSpPr/>
          <p:nvPr/>
        </p:nvSpPr>
        <p:spPr>
          <a:xfrm>
            <a:off x="713232" y="1335024"/>
            <a:ext cx="11018520" cy="0"/>
          </a:xfrm>
          <a:prstGeom prst="line">
            <a:avLst/>
          </a:prstGeom>
          <a:noFill/>
          <a:ln w="12700">
            <a:solidFill>
              <a:srgbClr val="44586B"/>
            </a:solidFill>
            <a:prstDash val="solid"/>
          </a:ln>
        </p:spPr>
      </p:sp>
      <p:sp>
        <p:nvSpPr>
          <p:cNvPr id="6" name="Shape 4"/>
          <p:cNvSpPr/>
          <p:nvPr/>
        </p:nvSpPr>
        <p:spPr>
          <a:xfrm>
            <a:off x="713232" y="1645920"/>
            <a:ext cx="2697480" cy="1691640"/>
          </a:xfrm>
          <a:prstGeom prst="roundRect">
            <a:avLst>
              <a:gd name="adj" fmla="val 432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7" name="Text 5"/>
          <p:cNvSpPr/>
          <p:nvPr/>
        </p:nvSpPr>
        <p:spPr>
          <a:xfrm>
            <a:off x="713232" y="1783080"/>
            <a:ext cx="2697480" cy="868680"/>
          </a:xfrm>
          <a:prstGeom prst="rect">
            <a:avLst/>
          </a:prstGeom>
          <a:noFill/>
          <a:ln/>
        </p:spPr>
        <p:txBody>
          <a:bodyPr wrap="square" lIns="0" tIns="0" rIns="0" bIns="0" rtlCol="0" anchor="ctr"/>
          <a:lstStyle/>
          <a:p>
            <a:pPr algn="ctr" indent="0" marL="0">
              <a:buNone/>
            </a:pPr>
            <a:r>
              <a:rPr lang="en-US" sz="4600" b="1" dirty="0">
                <a:solidFill>
                  <a:srgbClr val="FF9900"/>
                </a:solidFill>
                <a:latin typeface="Arial" pitchFamily="34" charset="0"/>
                <a:ea typeface="Arial" pitchFamily="34" charset="-122"/>
                <a:cs typeface="Arial" pitchFamily="34" charset="-120"/>
              </a:rPr>
              <a:t>7</a:t>
            </a:r>
            <a:endParaRPr lang="en-US" sz="4600" dirty="0"/>
          </a:p>
        </p:txBody>
      </p:sp>
      <p:sp>
        <p:nvSpPr>
          <p:cNvPr id="8" name="Text 6"/>
          <p:cNvSpPr/>
          <p:nvPr/>
        </p:nvSpPr>
        <p:spPr>
          <a:xfrm>
            <a:off x="804672" y="2697480"/>
            <a:ext cx="2514600" cy="594360"/>
          </a:xfrm>
          <a:prstGeom prst="rect">
            <a:avLst/>
          </a:prstGeom>
          <a:noFill/>
          <a:ln/>
        </p:spPr>
        <p:txBody>
          <a:bodyPr wrap="square" lIns="0" tIns="0" rIns="0" bIns="0" rtlCol="0" anchor="ctr"/>
          <a:lstStyle/>
          <a:p>
            <a:pPr algn="ctr" indent="0" marL="0">
              <a:lnSpc>
                <a:spcPct val="100000"/>
              </a:lnSpc>
              <a:buNone/>
            </a:pPr>
            <a:r>
              <a:rPr lang="en-US" sz="1150" dirty="0">
                <a:solidFill>
                  <a:srgbClr val="9FB0C0"/>
                </a:solidFill>
                <a:latin typeface="Arial" pitchFamily="34" charset="0"/>
                <a:ea typeface="Arial" pitchFamily="34" charset="-122"/>
                <a:cs typeface="Arial" pitchFamily="34" charset="-120"/>
              </a:rPr>
              <a:t>Node.js / NestJS</a:t>
            </a:r>
            <a:endParaRPr lang="en-US" sz="1150" dirty="0"/>
          </a:p>
          <a:p>
            <a:pPr algn="ctr" indent="0" marL="0">
              <a:lnSpc>
                <a:spcPct val="100000"/>
              </a:lnSpc>
              <a:buNone/>
            </a:pPr>
            <a:r>
              <a:rPr lang="en-US" sz="1150" dirty="0">
                <a:solidFill>
                  <a:srgbClr val="9FB0C0"/>
                </a:solidFill>
                <a:latin typeface="Arial" pitchFamily="34" charset="0"/>
                <a:ea typeface="Arial" pitchFamily="34" charset="-122"/>
                <a:cs typeface="Arial" pitchFamily="34" charset="-120"/>
              </a:rPr>
              <a:t>microservices</a:t>
            </a:r>
            <a:endParaRPr lang="en-US" sz="1150" dirty="0"/>
          </a:p>
        </p:txBody>
      </p:sp>
      <p:sp>
        <p:nvSpPr>
          <p:cNvPr id="9" name="Shape 7"/>
          <p:cNvSpPr/>
          <p:nvPr/>
        </p:nvSpPr>
        <p:spPr>
          <a:xfrm>
            <a:off x="3557016" y="1645920"/>
            <a:ext cx="2697480" cy="1691640"/>
          </a:xfrm>
          <a:prstGeom prst="roundRect">
            <a:avLst>
              <a:gd name="adj" fmla="val 432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0" name="Text 8"/>
          <p:cNvSpPr/>
          <p:nvPr/>
        </p:nvSpPr>
        <p:spPr>
          <a:xfrm>
            <a:off x="3557016" y="1783080"/>
            <a:ext cx="2697480" cy="868680"/>
          </a:xfrm>
          <a:prstGeom prst="rect">
            <a:avLst/>
          </a:prstGeom>
          <a:noFill/>
          <a:ln/>
        </p:spPr>
        <p:txBody>
          <a:bodyPr wrap="square" lIns="0" tIns="0" rIns="0" bIns="0" rtlCol="0" anchor="ctr"/>
          <a:lstStyle/>
          <a:p>
            <a:pPr algn="ctr" indent="0" marL="0">
              <a:buNone/>
            </a:pPr>
            <a:r>
              <a:rPr lang="en-US" sz="4600" b="1" dirty="0">
                <a:solidFill>
                  <a:srgbClr val="00A1C9"/>
                </a:solidFill>
                <a:latin typeface="Arial" pitchFamily="34" charset="0"/>
                <a:ea typeface="Arial" pitchFamily="34" charset="-122"/>
                <a:cs typeface="Arial" pitchFamily="34" charset="-120"/>
              </a:rPr>
              <a:t>16+</a:t>
            </a:r>
            <a:endParaRPr lang="en-US" sz="4600" dirty="0"/>
          </a:p>
        </p:txBody>
      </p:sp>
      <p:sp>
        <p:nvSpPr>
          <p:cNvPr id="11" name="Text 9"/>
          <p:cNvSpPr/>
          <p:nvPr/>
        </p:nvSpPr>
        <p:spPr>
          <a:xfrm>
            <a:off x="3648456" y="2697480"/>
            <a:ext cx="2514600" cy="594360"/>
          </a:xfrm>
          <a:prstGeom prst="rect">
            <a:avLst/>
          </a:prstGeom>
          <a:noFill/>
          <a:ln/>
        </p:spPr>
        <p:txBody>
          <a:bodyPr wrap="square" lIns="0" tIns="0" rIns="0" bIns="0" rtlCol="0" anchor="ctr"/>
          <a:lstStyle/>
          <a:p>
            <a:pPr algn="ctr" indent="0" marL="0">
              <a:lnSpc>
                <a:spcPct val="100000"/>
              </a:lnSpc>
              <a:buNone/>
            </a:pPr>
            <a:r>
              <a:rPr lang="en-US" sz="1150" dirty="0">
                <a:solidFill>
                  <a:srgbClr val="9FB0C0"/>
                </a:solidFill>
                <a:latin typeface="Arial" pitchFamily="34" charset="0"/>
                <a:ea typeface="Arial" pitchFamily="34" charset="-122"/>
                <a:cs typeface="Arial" pitchFamily="34" charset="-120"/>
              </a:rPr>
              <a:t>Kafka domain topics</a:t>
            </a:r>
            <a:endParaRPr lang="en-US" sz="1150" dirty="0"/>
          </a:p>
          <a:p>
            <a:pPr algn="ctr" indent="0" marL="0">
              <a:lnSpc>
                <a:spcPct val="100000"/>
              </a:lnSpc>
              <a:buNone/>
            </a:pPr>
            <a:r>
              <a:rPr lang="en-US" sz="1150" dirty="0">
                <a:solidFill>
                  <a:srgbClr val="9FB0C0"/>
                </a:solidFill>
                <a:latin typeface="Arial" pitchFamily="34" charset="0"/>
                <a:ea typeface="Arial" pitchFamily="34" charset="-122"/>
                <a:cs typeface="Arial" pitchFamily="34" charset="-120"/>
              </a:rPr>
              <a:t>+ dead-letter queue</a:t>
            </a:r>
            <a:endParaRPr lang="en-US" sz="1150" dirty="0"/>
          </a:p>
        </p:txBody>
      </p:sp>
      <p:sp>
        <p:nvSpPr>
          <p:cNvPr id="12" name="Shape 10"/>
          <p:cNvSpPr/>
          <p:nvPr/>
        </p:nvSpPr>
        <p:spPr>
          <a:xfrm>
            <a:off x="6400800" y="1645920"/>
            <a:ext cx="2697480" cy="1691640"/>
          </a:xfrm>
          <a:prstGeom prst="roundRect">
            <a:avLst>
              <a:gd name="adj" fmla="val 432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3" name="Text 11"/>
          <p:cNvSpPr/>
          <p:nvPr/>
        </p:nvSpPr>
        <p:spPr>
          <a:xfrm>
            <a:off x="6400800" y="1783080"/>
            <a:ext cx="2697480" cy="868680"/>
          </a:xfrm>
          <a:prstGeom prst="rect">
            <a:avLst/>
          </a:prstGeom>
          <a:noFill/>
          <a:ln/>
        </p:spPr>
        <p:txBody>
          <a:bodyPr wrap="square" lIns="0" tIns="0" rIns="0" bIns="0" rtlCol="0" anchor="ctr"/>
          <a:lstStyle/>
          <a:p>
            <a:pPr algn="ctr" indent="0" marL="0">
              <a:buNone/>
            </a:pPr>
            <a:r>
              <a:rPr lang="en-US" sz="4600" b="1" dirty="0">
                <a:solidFill>
                  <a:srgbClr val="27D196"/>
                </a:solidFill>
                <a:latin typeface="Arial" pitchFamily="34" charset="0"/>
                <a:ea typeface="Arial" pitchFamily="34" charset="-122"/>
                <a:cs typeface="Arial" pitchFamily="34" charset="-120"/>
              </a:rPr>
              <a:t>19</a:t>
            </a:r>
            <a:endParaRPr lang="en-US" sz="4600" dirty="0"/>
          </a:p>
        </p:txBody>
      </p:sp>
      <p:sp>
        <p:nvSpPr>
          <p:cNvPr id="14" name="Text 12"/>
          <p:cNvSpPr/>
          <p:nvPr/>
        </p:nvSpPr>
        <p:spPr>
          <a:xfrm>
            <a:off x="6492240" y="2697480"/>
            <a:ext cx="2514600" cy="594360"/>
          </a:xfrm>
          <a:prstGeom prst="rect">
            <a:avLst/>
          </a:prstGeom>
          <a:noFill/>
          <a:ln/>
        </p:spPr>
        <p:txBody>
          <a:bodyPr wrap="square" lIns="0" tIns="0" rIns="0" bIns="0" rtlCol="0" anchor="ctr"/>
          <a:lstStyle/>
          <a:p>
            <a:pPr algn="ctr" indent="0" marL="0">
              <a:lnSpc>
                <a:spcPct val="100000"/>
              </a:lnSpc>
              <a:buNone/>
            </a:pPr>
            <a:r>
              <a:rPr lang="en-US" sz="1150" dirty="0">
                <a:solidFill>
                  <a:srgbClr val="9FB0C0"/>
                </a:solidFill>
                <a:latin typeface="Arial" pitchFamily="34" charset="0"/>
                <a:ea typeface="Arial" pitchFamily="34" charset="-122"/>
                <a:cs typeface="Arial" pitchFamily="34" charset="-120"/>
              </a:rPr>
              <a:t>Terraform modules</a:t>
            </a:r>
            <a:endParaRPr lang="en-US" sz="1150" dirty="0"/>
          </a:p>
          <a:p>
            <a:pPr algn="ctr" indent="0" marL="0">
              <a:lnSpc>
                <a:spcPct val="100000"/>
              </a:lnSpc>
              <a:buNone/>
            </a:pPr>
            <a:r>
              <a:rPr lang="en-US" sz="1150" dirty="0">
                <a:solidFill>
                  <a:srgbClr val="9FB0C0"/>
                </a:solidFill>
                <a:latin typeface="Arial" pitchFamily="34" charset="0"/>
                <a:ea typeface="Arial" pitchFamily="34" charset="-122"/>
                <a:cs typeface="Arial" pitchFamily="34" charset="-120"/>
              </a:rPr>
              <a:t>(infra-as-code)</a:t>
            </a:r>
            <a:endParaRPr lang="en-US" sz="1150" dirty="0"/>
          </a:p>
        </p:txBody>
      </p:sp>
      <p:sp>
        <p:nvSpPr>
          <p:cNvPr id="15" name="Shape 13"/>
          <p:cNvSpPr/>
          <p:nvPr/>
        </p:nvSpPr>
        <p:spPr>
          <a:xfrm>
            <a:off x="9244584" y="1645920"/>
            <a:ext cx="2697480" cy="1691640"/>
          </a:xfrm>
          <a:prstGeom prst="roundRect">
            <a:avLst>
              <a:gd name="adj" fmla="val 432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6" name="Text 14"/>
          <p:cNvSpPr/>
          <p:nvPr/>
        </p:nvSpPr>
        <p:spPr>
          <a:xfrm>
            <a:off x="9244584" y="1783080"/>
            <a:ext cx="2697480" cy="868680"/>
          </a:xfrm>
          <a:prstGeom prst="rect">
            <a:avLst/>
          </a:prstGeom>
          <a:noFill/>
          <a:ln/>
        </p:spPr>
        <p:txBody>
          <a:bodyPr wrap="square" lIns="0" tIns="0" rIns="0" bIns="0" rtlCol="0" anchor="ctr"/>
          <a:lstStyle/>
          <a:p>
            <a:pPr algn="ctr" indent="0" marL="0">
              <a:buNone/>
            </a:pPr>
            <a:r>
              <a:rPr lang="en-US" sz="4600" b="1" dirty="0">
                <a:solidFill>
                  <a:srgbClr val="4DA6FF"/>
                </a:solidFill>
                <a:latin typeface="Arial" pitchFamily="34" charset="0"/>
                <a:ea typeface="Arial" pitchFamily="34" charset="-122"/>
                <a:cs typeface="Arial" pitchFamily="34" charset="-120"/>
              </a:rPr>
              <a:t>9</a:t>
            </a:r>
            <a:endParaRPr lang="en-US" sz="4600" dirty="0"/>
          </a:p>
        </p:txBody>
      </p:sp>
      <p:sp>
        <p:nvSpPr>
          <p:cNvPr id="17" name="Text 15"/>
          <p:cNvSpPr/>
          <p:nvPr/>
        </p:nvSpPr>
        <p:spPr>
          <a:xfrm>
            <a:off x="9336024" y="2697480"/>
            <a:ext cx="2514600" cy="594360"/>
          </a:xfrm>
          <a:prstGeom prst="rect">
            <a:avLst/>
          </a:prstGeom>
          <a:noFill/>
          <a:ln/>
        </p:spPr>
        <p:txBody>
          <a:bodyPr wrap="square" lIns="0" tIns="0" rIns="0" bIns="0" rtlCol="0" anchor="ctr"/>
          <a:lstStyle/>
          <a:p>
            <a:pPr algn="ctr" indent="0" marL="0">
              <a:lnSpc>
                <a:spcPct val="100000"/>
              </a:lnSpc>
              <a:buNone/>
            </a:pPr>
            <a:r>
              <a:rPr lang="en-US" sz="1150" dirty="0">
                <a:solidFill>
                  <a:srgbClr val="9FB0C0"/>
                </a:solidFill>
                <a:latin typeface="Arial" pitchFamily="34" charset="0"/>
                <a:ea typeface="Arial" pitchFamily="34" charset="-122"/>
                <a:cs typeface="Arial" pitchFamily="34" charset="-120"/>
              </a:rPr>
              <a:t>RBAC roles across</a:t>
            </a:r>
            <a:endParaRPr lang="en-US" sz="1150" dirty="0"/>
          </a:p>
          <a:p>
            <a:pPr algn="ctr" indent="0" marL="0">
              <a:lnSpc>
                <a:spcPct val="100000"/>
              </a:lnSpc>
              <a:buNone/>
            </a:pPr>
            <a:r>
              <a:rPr lang="en-US" sz="1150" dirty="0">
                <a:solidFill>
                  <a:srgbClr val="9FB0C0"/>
                </a:solidFill>
                <a:latin typeface="Arial" pitchFamily="34" charset="0"/>
                <a:ea typeface="Arial" pitchFamily="34" charset="-122"/>
                <a:cs typeface="Arial" pitchFamily="34" charset="-120"/>
              </a:rPr>
              <a:t>the platform</a:t>
            </a:r>
            <a:endParaRPr lang="en-US" sz="1150" dirty="0"/>
          </a:p>
        </p:txBody>
      </p:sp>
      <p:sp>
        <p:nvSpPr>
          <p:cNvPr id="18" name="Shape 16"/>
          <p:cNvSpPr/>
          <p:nvPr/>
        </p:nvSpPr>
        <p:spPr>
          <a:xfrm>
            <a:off x="713232" y="3566160"/>
            <a:ext cx="5349240" cy="2560320"/>
          </a:xfrm>
          <a:prstGeom prst="roundRect">
            <a:avLst>
              <a:gd name="adj" fmla="val 2857"/>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9" name="Text 17"/>
          <p:cNvSpPr/>
          <p:nvPr/>
        </p:nvSpPr>
        <p:spPr>
          <a:xfrm>
            <a:off x="960120" y="3730752"/>
            <a:ext cx="4846320" cy="365760"/>
          </a:xfrm>
          <a:prstGeom prst="rect">
            <a:avLst/>
          </a:prstGeom>
          <a:noFill/>
          <a:ln/>
        </p:spPr>
        <p:txBody>
          <a:bodyPr wrap="square" rtlCol="0" anchor="ctr"/>
          <a:lstStyle/>
          <a:p>
            <a:pPr indent="0" marL="0">
              <a:buNone/>
            </a:pPr>
            <a:r>
              <a:rPr lang="en-US" sz="1500" b="1" dirty="0">
                <a:solidFill>
                  <a:srgbClr val="FF9900"/>
                </a:solidFill>
                <a:latin typeface="Arial" pitchFamily="34" charset="0"/>
                <a:ea typeface="Arial" pitchFamily="34" charset="-122"/>
                <a:cs typeface="Arial" pitchFamily="34" charset="-120"/>
              </a:rPr>
              <a:t>What it does — the passenger journey</a:t>
            </a:r>
            <a:endParaRPr lang="en-US" sz="1500" dirty="0"/>
          </a:p>
        </p:txBody>
      </p:sp>
      <p:sp>
        <p:nvSpPr>
          <p:cNvPr id="20" name="Text 18"/>
          <p:cNvSpPr/>
          <p:nvPr/>
        </p:nvSpPr>
        <p:spPr>
          <a:xfrm>
            <a:off x="1005840" y="4114800"/>
            <a:ext cx="4937760" cy="1920240"/>
          </a:xfrm>
          <a:prstGeom prst="rect">
            <a:avLst/>
          </a:prstGeom>
          <a:noFill/>
          <a:ln/>
        </p:spPr>
        <p:txBody>
          <a:bodyPr wrap="square" rtlCol="0" anchor="ctr"/>
          <a:lstStyle/>
          <a:p>
            <a:pPr marL="342900" indent="-342900">
              <a:lnSpc>
                <a:spcPct val="115000"/>
              </a:lnSpc>
              <a:buSzPct val="100000"/>
              <a:buChar char="•"/>
            </a:pPr>
            <a:r>
              <a:rPr lang="en-US" sz="1250" dirty="0">
                <a:solidFill>
                  <a:srgbClr val="E6ECF2"/>
                </a:solidFill>
                <a:latin typeface="Arial" pitchFamily="34" charset="0"/>
                <a:ea typeface="Arial" pitchFamily="34" charset="-122"/>
                <a:cs typeface="Arial" pitchFamily="34" charset="-120"/>
              </a:rPr>
              <a:t>Register &amp; sign in</a:t>
            </a:r>
            <a:endParaRPr lang="en-US" sz="1250" dirty="0"/>
          </a:p>
          <a:p>
            <a:pPr marL="342900" indent="-342900">
              <a:lnSpc>
                <a:spcPct val="115000"/>
              </a:lnSpc>
              <a:buSzPct val="100000"/>
              <a:buChar char="•"/>
            </a:pPr>
            <a:r>
              <a:rPr lang="en-US" sz="1250" dirty="0">
                <a:solidFill>
                  <a:srgbClr val="E6ECF2"/>
                </a:solidFill>
                <a:latin typeface="Arial" pitchFamily="34" charset="0"/>
                <a:ea typeface="Arial" pitchFamily="34" charset="-122"/>
                <a:cs typeface="Arial" pitchFamily="34" charset="-120"/>
              </a:rPr>
              <a:t>Search flights &amp; compare fares</a:t>
            </a:r>
            <a:endParaRPr lang="en-US" sz="1250" dirty="0"/>
          </a:p>
          <a:p>
            <a:pPr marL="342900" indent="-342900">
              <a:lnSpc>
                <a:spcPct val="115000"/>
              </a:lnSpc>
              <a:buSzPct val="100000"/>
              <a:buChar char="•"/>
            </a:pPr>
            <a:r>
              <a:rPr lang="en-US" sz="1250" dirty="0">
                <a:solidFill>
                  <a:srgbClr val="E6ECF2"/>
                </a:solidFill>
                <a:latin typeface="Arial" pitchFamily="34" charset="0"/>
                <a:ea typeface="Arial" pitchFamily="34" charset="-122"/>
                <a:cs typeface="Arial" pitchFamily="34" charset="-120"/>
              </a:rPr>
              <a:t>Select seat &amp; book (distributed saga)</a:t>
            </a:r>
            <a:endParaRPr lang="en-US" sz="1250" dirty="0"/>
          </a:p>
          <a:p>
            <a:pPr marL="342900" indent="-342900">
              <a:lnSpc>
                <a:spcPct val="115000"/>
              </a:lnSpc>
              <a:buSzPct val="100000"/>
              <a:buChar char="•"/>
            </a:pPr>
            <a:r>
              <a:rPr lang="en-US" sz="1250" dirty="0">
                <a:solidFill>
                  <a:srgbClr val="E6ECF2"/>
                </a:solidFill>
                <a:latin typeface="Arial" pitchFamily="34" charset="0"/>
                <a:ea typeface="Arial" pitchFamily="34" charset="-122"/>
                <a:cs typeface="Arial" pitchFamily="34" charset="-120"/>
              </a:rPr>
              <a:t>Pay securely (Stripe, PCI-safe)</a:t>
            </a:r>
            <a:endParaRPr lang="en-US" sz="1250" dirty="0"/>
          </a:p>
          <a:p>
            <a:pPr marL="342900" indent="-342900">
              <a:lnSpc>
                <a:spcPct val="115000"/>
              </a:lnSpc>
              <a:buSzPct val="100000"/>
              <a:buChar char="•"/>
            </a:pPr>
            <a:r>
              <a:rPr lang="en-US" sz="1250" dirty="0">
                <a:solidFill>
                  <a:srgbClr val="E6ECF2"/>
                </a:solidFill>
                <a:latin typeface="Arial" pitchFamily="34" charset="0"/>
                <a:ea typeface="Arial" pitchFamily="34" charset="-122"/>
                <a:cs typeface="Arial" pitchFamily="34" charset="-120"/>
              </a:rPr>
              <a:t>Web check-in &amp; boarding-pass QR</a:t>
            </a:r>
            <a:endParaRPr lang="en-US" sz="1250" dirty="0"/>
          </a:p>
          <a:p>
            <a:pPr marL="342900" indent="-342900">
              <a:lnSpc>
                <a:spcPct val="115000"/>
              </a:lnSpc>
              <a:buSzPct val="100000"/>
              <a:buChar char="•"/>
            </a:pPr>
            <a:r>
              <a:rPr lang="en-US" sz="1250" dirty="0">
                <a:solidFill>
                  <a:srgbClr val="E6ECF2"/>
                </a:solidFill>
                <a:latin typeface="Arial" pitchFamily="34" charset="0"/>
                <a:ea typeface="Arial" pitchFamily="34" charset="-122"/>
                <a:cs typeface="Arial" pitchFamily="34" charset="-120"/>
              </a:rPr>
              <a:t>Track baggage in real time</a:t>
            </a:r>
            <a:endParaRPr lang="en-US" sz="1250" dirty="0"/>
          </a:p>
        </p:txBody>
      </p:sp>
      <p:sp>
        <p:nvSpPr>
          <p:cNvPr id="21" name="Shape 19"/>
          <p:cNvSpPr/>
          <p:nvPr/>
        </p:nvSpPr>
        <p:spPr>
          <a:xfrm>
            <a:off x="6355080" y="3566160"/>
            <a:ext cx="5120640" cy="2560320"/>
          </a:xfrm>
          <a:prstGeom prst="roundRect">
            <a:avLst>
              <a:gd name="adj" fmla="val 2857"/>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2" name="Text 20"/>
          <p:cNvSpPr/>
          <p:nvPr/>
        </p:nvSpPr>
        <p:spPr>
          <a:xfrm>
            <a:off x="6601968" y="3730752"/>
            <a:ext cx="4572000" cy="365760"/>
          </a:xfrm>
          <a:prstGeom prst="rect">
            <a:avLst/>
          </a:prstGeom>
          <a:noFill/>
          <a:ln/>
        </p:spPr>
        <p:txBody>
          <a:bodyPr wrap="square" rtlCol="0" anchor="ctr"/>
          <a:lstStyle/>
          <a:p>
            <a:pPr indent="0" marL="0">
              <a:buNone/>
            </a:pPr>
            <a:r>
              <a:rPr lang="en-US" sz="1500" b="1" dirty="0">
                <a:solidFill>
                  <a:srgbClr val="00A1C9"/>
                </a:solidFill>
                <a:latin typeface="Arial" pitchFamily="34" charset="0"/>
                <a:ea typeface="Arial" pitchFamily="34" charset="-122"/>
                <a:cs typeface="Arial" pitchFamily="34" charset="-120"/>
              </a:rPr>
              <a:t>Built on</a:t>
            </a:r>
            <a:endParaRPr lang="en-US" sz="1500" dirty="0"/>
          </a:p>
        </p:txBody>
      </p:sp>
      <p:sp>
        <p:nvSpPr>
          <p:cNvPr id="23" name="Shape 21"/>
          <p:cNvSpPr/>
          <p:nvPr/>
        </p:nvSpPr>
        <p:spPr>
          <a:xfrm>
            <a:off x="6601968" y="4160520"/>
            <a:ext cx="960120" cy="420624"/>
          </a:xfrm>
          <a:prstGeom prst="roundRect">
            <a:avLst>
              <a:gd name="adj" fmla="val 21739"/>
            </a:avLst>
          </a:prstGeom>
          <a:solidFill>
            <a:srgbClr val="232F3E"/>
          </a:solidFill>
          <a:ln w="9525">
            <a:solidFill>
              <a:srgbClr val="00A1C9"/>
            </a:solidFill>
            <a:prstDash val="solid"/>
          </a:ln>
        </p:spPr>
      </p:sp>
      <p:sp>
        <p:nvSpPr>
          <p:cNvPr id="24" name="Text 22"/>
          <p:cNvSpPr/>
          <p:nvPr/>
        </p:nvSpPr>
        <p:spPr>
          <a:xfrm>
            <a:off x="6601968" y="4160520"/>
            <a:ext cx="960120"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AWS EKS</a:t>
            </a:r>
            <a:endParaRPr lang="en-US" sz="1000" dirty="0"/>
          </a:p>
        </p:txBody>
      </p:sp>
      <p:sp>
        <p:nvSpPr>
          <p:cNvPr id="25" name="Shape 23"/>
          <p:cNvSpPr/>
          <p:nvPr/>
        </p:nvSpPr>
        <p:spPr>
          <a:xfrm>
            <a:off x="7690104" y="4160520"/>
            <a:ext cx="1770278" cy="420624"/>
          </a:xfrm>
          <a:prstGeom prst="roundRect">
            <a:avLst>
              <a:gd name="adj" fmla="val 21739"/>
            </a:avLst>
          </a:prstGeom>
          <a:solidFill>
            <a:srgbClr val="232F3E"/>
          </a:solidFill>
          <a:ln w="9525">
            <a:solidFill>
              <a:srgbClr val="00A1C9"/>
            </a:solidFill>
            <a:prstDash val="solid"/>
          </a:ln>
        </p:spPr>
      </p:sp>
      <p:sp>
        <p:nvSpPr>
          <p:cNvPr id="26" name="Text 24"/>
          <p:cNvSpPr/>
          <p:nvPr/>
        </p:nvSpPr>
        <p:spPr>
          <a:xfrm>
            <a:off x="7690104" y="4160520"/>
            <a:ext cx="1770278"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Apache Kafka (MSK)</a:t>
            </a:r>
            <a:endParaRPr lang="en-US" sz="1000" dirty="0"/>
          </a:p>
        </p:txBody>
      </p:sp>
      <p:sp>
        <p:nvSpPr>
          <p:cNvPr id="27" name="Shape 25"/>
          <p:cNvSpPr/>
          <p:nvPr/>
        </p:nvSpPr>
        <p:spPr>
          <a:xfrm>
            <a:off x="9588398" y="4160520"/>
            <a:ext cx="1686154" cy="420624"/>
          </a:xfrm>
          <a:prstGeom prst="roundRect">
            <a:avLst>
              <a:gd name="adj" fmla="val 21739"/>
            </a:avLst>
          </a:prstGeom>
          <a:solidFill>
            <a:srgbClr val="232F3E"/>
          </a:solidFill>
          <a:ln w="9525">
            <a:solidFill>
              <a:srgbClr val="00A1C9"/>
            </a:solidFill>
            <a:prstDash val="solid"/>
          </a:ln>
        </p:spPr>
      </p:sp>
      <p:sp>
        <p:nvSpPr>
          <p:cNvPr id="28" name="Text 26"/>
          <p:cNvSpPr/>
          <p:nvPr/>
        </p:nvSpPr>
        <p:spPr>
          <a:xfrm>
            <a:off x="9588398" y="4160520"/>
            <a:ext cx="1686154"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Aurora PostgreSQL</a:t>
            </a:r>
            <a:endParaRPr lang="en-US" sz="1000" dirty="0"/>
          </a:p>
        </p:txBody>
      </p:sp>
      <p:sp>
        <p:nvSpPr>
          <p:cNvPr id="29" name="Shape 27"/>
          <p:cNvSpPr/>
          <p:nvPr/>
        </p:nvSpPr>
        <p:spPr>
          <a:xfrm>
            <a:off x="6601968" y="4727448"/>
            <a:ext cx="960120" cy="420624"/>
          </a:xfrm>
          <a:prstGeom prst="roundRect">
            <a:avLst>
              <a:gd name="adj" fmla="val 21739"/>
            </a:avLst>
          </a:prstGeom>
          <a:solidFill>
            <a:srgbClr val="232F3E"/>
          </a:solidFill>
          <a:ln w="9525">
            <a:solidFill>
              <a:srgbClr val="00A1C9"/>
            </a:solidFill>
            <a:prstDash val="solid"/>
          </a:ln>
        </p:spPr>
      </p:sp>
      <p:sp>
        <p:nvSpPr>
          <p:cNvPr id="30" name="Text 28"/>
          <p:cNvSpPr/>
          <p:nvPr/>
        </p:nvSpPr>
        <p:spPr>
          <a:xfrm>
            <a:off x="6601968" y="4727448"/>
            <a:ext cx="960120"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DynamoDB</a:t>
            </a:r>
            <a:endParaRPr lang="en-US" sz="1000" dirty="0"/>
          </a:p>
        </p:txBody>
      </p:sp>
      <p:sp>
        <p:nvSpPr>
          <p:cNvPr id="31" name="Shape 29"/>
          <p:cNvSpPr/>
          <p:nvPr/>
        </p:nvSpPr>
        <p:spPr>
          <a:xfrm>
            <a:off x="7690104" y="4727448"/>
            <a:ext cx="1686154" cy="420624"/>
          </a:xfrm>
          <a:prstGeom prst="roundRect">
            <a:avLst>
              <a:gd name="adj" fmla="val 21739"/>
            </a:avLst>
          </a:prstGeom>
          <a:solidFill>
            <a:srgbClr val="232F3E"/>
          </a:solidFill>
          <a:ln w="9525">
            <a:solidFill>
              <a:srgbClr val="00A1C9"/>
            </a:solidFill>
            <a:prstDash val="solid"/>
          </a:ln>
        </p:spPr>
      </p:sp>
      <p:sp>
        <p:nvSpPr>
          <p:cNvPr id="32" name="Text 30"/>
          <p:cNvSpPr/>
          <p:nvPr/>
        </p:nvSpPr>
        <p:spPr>
          <a:xfrm>
            <a:off x="7690104" y="4727448"/>
            <a:ext cx="1686154"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ElastiCache Redis</a:t>
            </a:r>
            <a:endParaRPr lang="en-US" sz="1000" dirty="0"/>
          </a:p>
        </p:txBody>
      </p:sp>
      <p:sp>
        <p:nvSpPr>
          <p:cNvPr id="33" name="Shape 31"/>
          <p:cNvSpPr/>
          <p:nvPr/>
        </p:nvSpPr>
        <p:spPr>
          <a:xfrm>
            <a:off x="9504274" y="4727448"/>
            <a:ext cx="1097280" cy="420624"/>
          </a:xfrm>
          <a:prstGeom prst="roundRect">
            <a:avLst>
              <a:gd name="adj" fmla="val 21739"/>
            </a:avLst>
          </a:prstGeom>
          <a:solidFill>
            <a:srgbClr val="232F3E"/>
          </a:solidFill>
          <a:ln w="9525">
            <a:solidFill>
              <a:srgbClr val="00A1C9"/>
            </a:solidFill>
            <a:prstDash val="solid"/>
          </a:ln>
        </p:spPr>
      </p:sp>
      <p:sp>
        <p:nvSpPr>
          <p:cNvPr id="34" name="Text 32"/>
          <p:cNvSpPr/>
          <p:nvPr/>
        </p:nvSpPr>
        <p:spPr>
          <a:xfrm>
            <a:off x="9504274" y="4727448"/>
            <a:ext cx="1097280"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AWS Lambda</a:t>
            </a:r>
            <a:endParaRPr lang="en-US" sz="1000" dirty="0"/>
          </a:p>
        </p:txBody>
      </p:sp>
      <p:sp>
        <p:nvSpPr>
          <p:cNvPr id="35" name="Shape 33"/>
          <p:cNvSpPr/>
          <p:nvPr/>
        </p:nvSpPr>
        <p:spPr>
          <a:xfrm>
            <a:off x="6601968" y="5294376"/>
            <a:ext cx="1517904" cy="420624"/>
          </a:xfrm>
          <a:prstGeom prst="roundRect">
            <a:avLst>
              <a:gd name="adj" fmla="val 21739"/>
            </a:avLst>
          </a:prstGeom>
          <a:solidFill>
            <a:srgbClr val="232F3E"/>
          </a:solidFill>
          <a:ln w="9525">
            <a:solidFill>
              <a:srgbClr val="00A1C9"/>
            </a:solidFill>
            <a:prstDash val="solid"/>
          </a:ln>
        </p:spPr>
      </p:sp>
      <p:sp>
        <p:nvSpPr>
          <p:cNvPr id="36" name="Text 34"/>
          <p:cNvSpPr/>
          <p:nvPr/>
        </p:nvSpPr>
        <p:spPr>
          <a:xfrm>
            <a:off x="6601968" y="5294376"/>
            <a:ext cx="1517904"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React 19 + Vite</a:t>
            </a:r>
            <a:endParaRPr lang="en-US" sz="1000" dirty="0"/>
          </a:p>
        </p:txBody>
      </p:sp>
      <p:sp>
        <p:nvSpPr>
          <p:cNvPr id="37" name="Shape 35"/>
          <p:cNvSpPr/>
          <p:nvPr/>
        </p:nvSpPr>
        <p:spPr>
          <a:xfrm>
            <a:off x="8247888" y="5294376"/>
            <a:ext cx="1013155" cy="420624"/>
          </a:xfrm>
          <a:prstGeom prst="roundRect">
            <a:avLst>
              <a:gd name="adj" fmla="val 21739"/>
            </a:avLst>
          </a:prstGeom>
          <a:solidFill>
            <a:srgbClr val="232F3E"/>
          </a:solidFill>
          <a:ln w="9525">
            <a:solidFill>
              <a:srgbClr val="00A1C9"/>
            </a:solidFill>
            <a:prstDash val="solid"/>
          </a:ln>
        </p:spPr>
      </p:sp>
      <p:sp>
        <p:nvSpPr>
          <p:cNvPr id="38" name="Text 36"/>
          <p:cNvSpPr/>
          <p:nvPr/>
        </p:nvSpPr>
        <p:spPr>
          <a:xfrm>
            <a:off x="8247888" y="5294376"/>
            <a:ext cx="1013155"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Terraform</a:t>
            </a:r>
            <a:endParaRPr lang="en-US" sz="1000" dirty="0"/>
          </a:p>
        </p:txBody>
      </p:sp>
      <p:sp>
        <p:nvSpPr>
          <p:cNvPr id="39" name="Shape 37"/>
          <p:cNvSpPr/>
          <p:nvPr/>
        </p:nvSpPr>
        <p:spPr>
          <a:xfrm>
            <a:off x="9389059" y="5294376"/>
            <a:ext cx="1433779" cy="420624"/>
          </a:xfrm>
          <a:prstGeom prst="roundRect">
            <a:avLst>
              <a:gd name="adj" fmla="val 21739"/>
            </a:avLst>
          </a:prstGeom>
          <a:solidFill>
            <a:srgbClr val="232F3E"/>
          </a:solidFill>
          <a:ln w="9525">
            <a:solidFill>
              <a:srgbClr val="00A1C9"/>
            </a:solidFill>
            <a:prstDash val="solid"/>
          </a:ln>
        </p:spPr>
      </p:sp>
      <p:sp>
        <p:nvSpPr>
          <p:cNvPr id="40" name="Text 38"/>
          <p:cNvSpPr/>
          <p:nvPr/>
        </p:nvSpPr>
        <p:spPr>
          <a:xfrm>
            <a:off x="9389059" y="5294376"/>
            <a:ext cx="1433779"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GitHub Actions</a:t>
            </a:r>
            <a:endParaRPr lang="en-US" sz="1000" dirty="0"/>
          </a:p>
        </p:txBody>
      </p:sp>
      <p:sp>
        <p:nvSpPr>
          <p:cNvPr id="41" name="Shape 39"/>
          <p:cNvSpPr/>
          <p:nvPr/>
        </p:nvSpPr>
        <p:spPr>
          <a:xfrm>
            <a:off x="6601968" y="5861304"/>
            <a:ext cx="960120" cy="420624"/>
          </a:xfrm>
          <a:prstGeom prst="roundRect">
            <a:avLst>
              <a:gd name="adj" fmla="val 21739"/>
            </a:avLst>
          </a:prstGeom>
          <a:solidFill>
            <a:srgbClr val="232F3E"/>
          </a:solidFill>
          <a:ln w="9525">
            <a:solidFill>
              <a:srgbClr val="00A1C9"/>
            </a:solidFill>
            <a:prstDash val="solid"/>
          </a:ln>
        </p:spPr>
      </p:sp>
      <p:sp>
        <p:nvSpPr>
          <p:cNvPr id="42" name="Text 40"/>
          <p:cNvSpPr/>
          <p:nvPr/>
        </p:nvSpPr>
        <p:spPr>
          <a:xfrm>
            <a:off x="6601968" y="5861304"/>
            <a:ext cx="960120"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Argo CD</a:t>
            </a:r>
            <a:endParaRPr lang="en-US" sz="1000" dirty="0"/>
          </a:p>
        </p:txBody>
      </p:sp>
      <p:sp>
        <p:nvSpPr>
          <p:cNvPr id="43" name="Shape 41"/>
          <p:cNvSpPr/>
          <p:nvPr/>
        </p:nvSpPr>
        <p:spPr>
          <a:xfrm>
            <a:off x="7690104" y="5861304"/>
            <a:ext cx="960120" cy="420624"/>
          </a:xfrm>
          <a:prstGeom prst="roundRect">
            <a:avLst>
              <a:gd name="adj" fmla="val 21739"/>
            </a:avLst>
          </a:prstGeom>
          <a:solidFill>
            <a:srgbClr val="232F3E"/>
          </a:solidFill>
          <a:ln w="9525">
            <a:solidFill>
              <a:srgbClr val="00A1C9"/>
            </a:solidFill>
            <a:prstDash val="solid"/>
          </a:ln>
        </p:spPr>
      </p:sp>
      <p:sp>
        <p:nvSpPr>
          <p:cNvPr id="44" name="Text 42"/>
          <p:cNvSpPr/>
          <p:nvPr/>
        </p:nvSpPr>
        <p:spPr>
          <a:xfrm>
            <a:off x="7690104" y="5861304"/>
            <a:ext cx="960120"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NestJS</a:t>
            </a:r>
            <a:endParaRPr lang="en-US" sz="1000" dirty="0"/>
          </a:p>
        </p:txBody>
      </p:sp>
      <p:sp>
        <p:nvSpPr>
          <p:cNvPr id="45" name="Shape 43"/>
          <p:cNvSpPr/>
          <p:nvPr/>
        </p:nvSpPr>
        <p:spPr>
          <a:xfrm>
            <a:off x="8778240" y="5861304"/>
            <a:ext cx="960120" cy="420624"/>
          </a:xfrm>
          <a:prstGeom prst="roundRect">
            <a:avLst>
              <a:gd name="adj" fmla="val 21739"/>
            </a:avLst>
          </a:prstGeom>
          <a:solidFill>
            <a:srgbClr val="232F3E"/>
          </a:solidFill>
          <a:ln w="9525">
            <a:solidFill>
              <a:srgbClr val="00A1C9"/>
            </a:solidFill>
            <a:prstDash val="solid"/>
          </a:ln>
        </p:spPr>
      </p:sp>
      <p:sp>
        <p:nvSpPr>
          <p:cNvPr id="46" name="Text 44"/>
          <p:cNvSpPr/>
          <p:nvPr/>
        </p:nvSpPr>
        <p:spPr>
          <a:xfrm>
            <a:off x="8778240" y="5861304"/>
            <a:ext cx="960120" cy="420624"/>
          </a:xfrm>
          <a:prstGeom prst="rect">
            <a:avLst/>
          </a:prstGeom>
          <a:noFill/>
          <a:ln/>
        </p:spPr>
        <p:txBody>
          <a:bodyPr wrap="square" lIns="0" tIns="0" rIns="0" bIns="0" rtlCol="0" anchor="ctr"/>
          <a:lstStyle/>
          <a:p>
            <a:pPr algn="ctr" indent="0" marL="0">
              <a:buNone/>
            </a:pPr>
            <a:r>
              <a:rPr lang="en-US" sz="1000" dirty="0">
                <a:solidFill>
                  <a:srgbClr val="E6ECF2"/>
                </a:solidFill>
                <a:latin typeface="Arial" pitchFamily="34" charset="0"/>
                <a:ea typeface="Arial" pitchFamily="34" charset="-122"/>
                <a:cs typeface="Arial" pitchFamily="34" charset="-120"/>
              </a:rPr>
              <a:t>Stripe</a:t>
            </a:r>
            <a:endParaRPr lang="en-US" sz="1000" dirty="0"/>
          </a:p>
        </p:txBody>
      </p:sp>
      <p:sp>
        <p:nvSpPr>
          <p:cNvPr id="47" name="Text 45"/>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48" name="Text 46"/>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01 — CLOUD-BASED WEB APPLICATION DESIGN</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Five-Layer Cloud-Native Architecture</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Arch 20%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Shape 6"/>
          <p:cNvSpPr/>
          <p:nvPr/>
        </p:nvSpPr>
        <p:spPr>
          <a:xfrm>
            <a:off x="713232" y="1600200"/>
            <a:ext cx="7955280" cy="822960"/>
          </a:xfrm>
          <a:prstGeom prst="roundRect">
            <a:avLst>
              <a:gd name="adj" fmla="val 8889"/>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9" name="Shape 7"/>
          <p:cNvSpPr/>
          <p:nvPr/>
        </p:nvSpPr>
        <p:spPr>
          <a:xfrm>
            <a:off x="713232" y="1600200"/>
            <a:ext cx="1554480" cy="822960"/>
          </a:xfrm>
          <a:prstGeom prst="rect">
            <a:avLst/>
          </a:prstGeom>
          <a:solidFill>
            <a:srgbClr val="FF9900">
              <a:alpha val="88000"/>
            </a:srgbClr>
          </a:solidFill>
          <a:ln/>
        </p:spPr>
      </p:sp>
      <p:sp>
        <p:nvSpPr>
          <p:cNvPr id="10" name="Text 8"/>
          <p:cNvSpPr/>
          <p:nvPr/>
        </p:nvSpPr>
        <p:spPr>
          <a:xfrm>
            <a:off x="713232" y="1600200"/>
            <a:ext cx="1554480" cy="822960"/>
          </a:xfrm>
          <a:prstGeom prst="rect">
            <a:avLst/>
          </a:prstGeom>
          <a:noFill/>
          <a:ln/>
        </p:spPr>
        <p:txBody>
          <a:bodyPr wrap="square" lIns="0" tIns="0" rIns="0" bIns="0" rtlCol="0" anchor="ctr"/>
          <a:lstStyle/>
          <a:p>
            <a:pPr algn="ctr" indent="0" marL="0">
              <a:buNone/>
            </a:pPr>
            <a:r>
              <a:rPr lang="en-US" sz="1400" b="1" dirty="0">
                <a:solidFill>
                  <a:srgbClr val="232F3E"/>
                </a:solidFill>
                <a:latin typeface="Arial" pitchFamily="34" charset="0"/>
                <a:ea typeface="Arial" pitchFamily="34" charset="-122"/>
                <a:cs typeface="Arial" pitchFamily="34" charset="-120"/>
              </a:rPr>
              <a:t>EDGE</a:t>
            </a:r>
            <a:endParaRPr lang="en-US" sz="1400" dirty="0"/>
          </a:p>
        </p:txBody>
      </p:sp>
      <p:sp>
        <p:nvSpPr>
          <p:cNvPr id="11" name="Text 9"/>
          <p:cNvSpPr/>
          <p:nvPr/>
        </p:nvSpPr>
        <p:spPr>
          <a:xfrm>
            <a:off x="2423160" y="1719072"/>
            <a:ext cx="6126480" cy="3657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CloudFront CDN · WAF · Route 53</a:t>
            </a:r>
            <a:endParaRPr lang="en-US" sz="1350" dirty="0"/>
          </a:p>
        </p:txBody>
      </p:sp>
      <p:sp>
        <p:nvSpPr>
          <p:cNvPr id="12" name="Text 10"/>
          <p:cNvSpPr/>
          <p:nvPr/>
        </p:nvSpPr>
        <p:spPr>
          <a:xfrm>
            <a:off x="2423160" y="2057400"/>
            <a:ext cx="6126480" cy="320040"/>
          </a:xfrm>
          <a:prstGeom prst="rect">
            <a:avLst/>
          </a:prstGeom>
          <a:noFill/>
          <a:ln/>
        </p:spPr>
        <p:txBody>
          <a:bodyPr wrap="square" lIns="0" tIns="0" rIns="0" bIns="0" rtlCol="0" anchor="ctr"/>
          <a:lstStyle/>
          <a:p>
            <a:pPr indent="0" marL="0">
              <a:buNone/>
            </a:pPr>
            <a:r>
              <a:rPr lang="en-US" sz="1050" dirty="0">
                <a:solidFill>
                  <a:srgbClr val="9FB0C0"/>
                </a:solidFill>
                <a:latin typeface="Arial" pitchFamily="34" charset="0"/>
                <a:ea typeface="Arial" pitchFamily="34" charset="-122"/>
                <a:cs typeface="Arial" pitchFamily="34" charset="-120"/>
              </a:rPr>
              <a:t>TLS termination, DDoS protection, DNS, static assets</a:t>
            </a:r>
            <a:endParaRPr lang="en-US" sz="1050" dirty="0"/>
          </a:p>
        </p:txBody>
      </p:sp>
      <p:sp>
        <p:nvSpPr>
          <p:cNvPr id="13" name="Shape 11"/>
          <p:cNvSpPr/>
          <p:nvPr/>
        </p:nvSpPr>
        <p:spPr>
          <a:xfrm>
            <a:off x="713232" y="2551176"/>
            <a:ext cx="7955280" cy="822960"/>
          </a:xfrm>
          <a:prstGeom prst="roundRect">
            <a:avLst>
              <a:gd name="adj" fmla="val 8889"/>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4" name="Shape 12"/>
          <p:cNvSpPr/>
          <p:nvPr/>
        </p:nvSpPr>
        <p:spPr>
          <a:xfrm>
            <a:off x="713232" y="2551176"/>
            <a:ext cx="1554480" cy="822960"/>
          </a:xfrm>
          <a:prstGeom prst="rect">
            <a:avLst/>
          </a:prstGeom>
          <a:solidFill>
            <a:srgbClr val="00A1C9">
              <a:alpha val="88000"/>
            </a:srgbClr>
          </a:solidFill>
          <a:ln/>
        </p:spPr>
      </p:sp>
      <p:sp>
        <p:nvSpPr>
          <p:cNvPr id="15" name="Text 13"/>
          <p:cNvSpPr/>
          <p:nvPr/>
        </p:nvSpPr>
        <p:spPr>
          <a:xfrm>
            <a:off x="713232" y="2551176"/>
            <a:ext cx="1554480" cy="822960"/>
          </a:xfrm>
          <a:prstGeom prst="rect">
            <a:avLst/>
          </a:prstGeom>
          <a:noFill/>
          <a:ln/>
        </p:spPr>
        <p:txBody>
          <a:bodyPr wrap="square" lIns="0" tIns="0" rIns="0" bIns="0" rtlCol="0" anchor="ctr"/>
          <a:lstStyle/>
          <a:p>
            <a:pPr algn="ctr" indent="0" marL="0">
              <a:buNone/>
            </a:pPr>
            <a:r>
              <a:rPr lang="en-US" sz="1400" b="1" dirty="0">
                <a:solidFill>
                  <a:srgbClr val="232F3E"/>
                </a:solidFill>
                <a:latin typeface="Arial" pitchFamily="34" charset="0"/>
                <a:ea typeface="Arial" pitchFamily="34" charset="-122"/>
                <a:cs typeface="Arial" pitchFamily="34" charset="-120"/>
              </a:rPr>
              <a:t>API</a:t>
            </a:r>
            <a:endParaRPr lang="en-US" sz="1400" dirty="0"/>
          </a:p>
        </p:txBody>
      </p:sp>
      <p:sp>
        <p:nvSpPr>
          <p:cNvPr id="16" name="Text 14"/>
          <p:cNvSpPr/>
          <p:nvPr/>
        </p:nvSpPr>
        <p:spPr>
          <a:xfrm>
            <a:off x="2423160" y="2670048"/>
            <a:ext cx="6126480" cy="3657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API Gateway (HTTP + WebSocket) · ALB</a:t>
            </a:r>
            <a:endParaRPr lang="en-US" sz="1350" dirty="0"/>
          </a:p>
        </p:txBody>
      </p:sp>
      <p:sp>
        <p:nvSpPr>
          <p:cNvPr id="17" name="Text 15"/>
          <p:cNvSpPr/>
          <p:nvPr/>
        </p:nvSpPr>
        <p:spPr>
          <a:xfrm>
            <a:off x="2423160" y="3008376"/>
            <a:ext cx="6126480" cy="320040"/>
          </a:xfrm>
          <a:prstGeom prst="rect">
            <a:avLst/>
          </a:prstGeom>
          <a:noFill/>
          <a:ln/>
        </p:spPr>
        <p:txBody>
          <a:bodyPr wrap="square" lIns="0" tIns="0" rIns="0" bIns="0" rtlCol="0" anchor="ctr"/>
          <a:lstStyle/>
          <a:p>
            <a:pPr indent="0" marL="0">
              <a:buNone/>
            </a:pPr>
            <a:r>
              <a:rPr lang="en-US" sz="1050" dirty="0">
                <a:solidFill>
                  <a:srgbClr val="9FB0C0"/>
                </a:solidFill>
                <a:latin typeface="Arial" pitchFamily="34" charset="0"/>
                <a:ea typeface="Arial" pitchFamily="34" charset="-122"/>
                <a:cs typeface="Arial" pitchFamily="34" charset="-120"/>
              </a:rPr>
              <a:t>JWT validation (Cognito), rate limiting, routing via VPC Link</a:t>
            </a:r>
            <a:endParaRPr lang="en-US" sz="1050" dirty="0"/>
          </a:p>
        </p:txBody>
      </p:sp>
      <p:sp>
        <p:nvSpPr>
          <p:cNvPr id="18" name="Shape 16"/>
          <p:cNvSpPr/>
          <p:nvPr/>
        </p:nvSpPr>
        <p:spPr>
          <a:xfrm>
            <a:off x="713232" y="3502152"/>
            <a:ext cx="7955280" cy="822960"/>
          </a:xfrm>
          <a:prstGeom prst="roundRect">
            <a:avLst>
              <a:gd name="adj" fmla="val 8889"/>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9" name="Shape 17"/>
          <p:cNvSpPr/>
          <p:nvPr/>
        </p:nvSpPr>
        <p:spPr>
          <a:xfrm>
            <a:off x="713232" y="3502152"/>
            <a:ext cx="1554480" cy="822960"/>
          </a:xfrm>
          <a:prstGeom prst="rect">
            <a:avLst/>
          </a:prstGeom>
          <a:solidFill>
            <a:srgbClr val="4DA6FF">
              <a:alpha val="88000"/>
            </a:srgbClr>
          </a:solidFill>
          <a:ln/>
        </p:spPr>
      </p:sp>
      <p:sp>
        <p:nvSpPr>
          <p:cNvPr id="20" name="Text 18"/>
          <p:cNvSpPr/>
          <p:nvPr/>
        </p:nvSpPr>
        <p:spPr>
          <a:xfrm>
            <a:off x="713232" y="3502152"/>
            <a:ext cx="1554480" cy="822960"/>
          </a:xfrm>
          <a:prstGeom prst="rect">
            <a:avLst/>
          </a:prstGeom>
          <a:noFill/>
          <a:ln/>
        </p:spPr>
        <p:txBody>
          <a:bodyPr wrap="square" lIns="0" tIns="0" rIns="0" bIns="0" rtlCol="0" anchor="ctr"/>
          <a:lstStyle/>
          <a:p>
            <a:pPr algn="ctr" indent="0" marL="0">
              <a:buNone/>
            </a:pPr>
            <a:r>
              <a:rPr lang="en-US" sz="1400" b="1" dirty="0">
                <a:solidFill>
                  <a:srgbClr val="232F3E"/>
                </a:solidFill>
                <a:latin typeface="Arial" pitchFamily="34" charset="0"/>
                <a:ea typeface="Arial" pitchFamily="34" charset="-122"/>
                <a:cs typeface="Arial" pitchFamily="34" charset="-120"/>
              </a:rPr>
              <a:t>COMPUTE</a:t>
            </a:r>
            <a:endParaRPr lang="en-US" sz="1400" dirty="0"/>
          </a:p>
        </p:txBody>
      </p:sp>
      <p:sp>
        <p:nvSpPr>
          <p:cNvPr id="21" name="Text 19"/>
          <p:cNvSpPr/>
          <p:nvPr/>
        </p:nvSpPr>
        <p:spPr>
          <a:xfrm>
            <a:off x="2423160" y="3621024"/>
            <a:ext cx="6126480" cy="3657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Amazon EKS — 2→6 Spot nodes</a:t>
            </a:r>
            <a:endParaRPr lang="en-US" sz="1350" dirty="0"/>
          </a:p>
        </p:txBody>
      </p:sp>
      <p:sp>
        <p:nvSpPr>
          <p:cNvPr id="22" name="Text 20"/>
          <p:cNvSpPr/>
          <p:nvPr/>
        </p:nvSpPr>
        <p:spPr>
          <a:xfrm>
            <a:off x="2423160" y="3959352"/>
            <a:ext cx="6126480" cy="320040"/>
          </a:xfrm>
          <a:prstGeom prst="rect">
            <a:avLst/>
          </a:prstGeom>
          <a:noFill/>
          <a:ln/>
        </p:spPr>
        <p:txBody>
          <a:bodyPr wrap="square" lIns="0" tIns="0" rIns="0" bIns="0" rtlCol="0" anchor="ctr"/>
          <a:lstStyle/>
          <a:p>
            <a:pPr indent="0" marL="0">
              <a:buNone/>
            </a:pPr>
            <a:r>
              <a:rPr lang="en-US" sz="1050" dirty="0">
                <a:solidFill>
                  <a:srgbClr val="9FB0C0"/>
                </a:solidFill>
                <a:latin typeface="Arial" pitchFamily="34" charset="0"/>
                <a:ea typeface="Arial" pitchFamily="34" charset="-122"/>
                <a:cs typeface="Arial" pitchFamily="34" charset="-120"/>
              </a:rPr>
              <a:t>Stateless service pods, HPA / KEDA / Cluster Autoscaler</a:t>
            </a:r>
            <a:endParaRPr lang="en-US" sz="1050" dirty="0"/>
          </a:p>
        </p:txBody>
      </p:sp>
      <p:sp>
        <p:nvSpPr>
          <p:cNvPr id="23" name="Shape 21"/>
          <p:cNvSpPr/>
          <p:nvPr/>
        </p:nvSpPr>
        <p:spPr>
          <a:xfrm>
            <a:off x="713232" y="4453128"/>
            <a:ext cx="7955280" cy="822960"/>
          </a:xfrm>
          <a:prstGeom prst="roundRect">
            <a:avLst>
              <a:gd name="adj" fmla="val 8889"/>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4" name="Shape 22"/>
          <p:cNvSpPr/>
          <p:nvPr/>
        </p:nvSpPr>
        <p:spPr>
          <a:xfrm>
            <a:off x="713232" y="4453128"/>
            <a:ext cx="1554480" cy="822960"/>
          </a:xfrm>
          <a:prstGeom prst="rect">
            <a:avLst/>
          </a:prstGeom>
          <a:solidFill>
            <a:srgbClr val="27D196">
              <a:alpha val="88000"/>
            </a:srgbClr>
          </a:solidFill>
          <a:ln/>
        </p:spPr>
      </p:sp>
      <p:sp>
        <p:nvSpPr>
          <p:cNvPr id="25" name="Text 23"/>
          <p:cNvSpPr/>
          <p:nvPr/>
        </p:nvSpPr>
        <p:spPr>
          <a:xfrm>
            <a:off x="713232" y="4453128"/>
            <a:ext cx="1554480" cy="822960"/>
          </a:xfrm>
          <a:prstGeom prst="rect">
            <a:avLst/>
          </a:prstGeom>
          <a:noFill/>
          <a:ln/>
        </p:spPr>
        <p:txBody>
          <a:bodyPr wrap="square" lIns="0" tIns="0" rIns="0" bIns="0" rtlCol="0" anchor="ctr"/>
          <a:lstStyle/>
          <a:p>
            <a:pPr algn="ctr" indent="0" marL="0">
              <a:buNone/>
            </a:pPr>
            <a:r>
              <a:rPr lang="en-US" sz="1400" b="1" dirty="0">
                <a:solidFill>
                  <a:srgbClr val="232F3E"/>
                </a:solidFill>
                <a:latin typeface="Arial" pitchFamily="34" charset="0"/>
                <a:ea typeface="Arial" pitchFamily="34" charset="-122"/>
                <a:cs typeface="Arial" pitchFamily="34" charset="-120"/>
              </a:rPr>
              <a:t>DATA</a:t>
            </a:r>
            <a:endParaRPr lang="en-US" sz="1400" dirty="0"/>
          </a:p>
        </p:txBody>
      </p:sp>
      <p:sp>
        <p:nvSpPr>
          <p:cNvPr id="26" name="Text 24"/>
          <p:cNvSpPr/>
          <p:nvPr/>
        </p:nvSpPr>
        <p:spPr>
          <a:xfrm>
            <a:off x="2423160" y="4572000"/>
            <a:ext cx="6126480" cy="3657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Aurora PG · Redis · DynamoDB · MSK (Kafka)</a:t>
            </a:r>
            <a:endParaRPr lang="en-US" sz="1350" dirty="0"/>
          </a:p>
        </p:txBody>
      </p:sp>
      <p:sp>
        <p:nvSpPr>
          <p:cNvPr id="27" name="Text 25"/>
          <p:cNvSpPr/>
          <p:nvPr/>
        </p:nvSpPr>
        <p:spPr>
          <a:xfrm>
            <a:off x="2423160" y="4910328"/>
            <a:ext cx="6126480" cy="320040"/>
          </a:xfrm>
          <a:prstGeom prst="rect">
            <a:avLst/>
          </a:prstGeom>
          <a:noFill/>
          <a:ln/>
        </p:spPr>
        <p:txBody>
          <a:bodyPr wrap="square" lIns="0" tIns="0" rIns="0" bIns="0" rtlCol="0" anchor="ctr"/>
          <a:lstStyle/>
          <a:p>
            <a:pPr indent="0" marL="0">
              <a:buNone/>
            </a:pPr>
            <a:r>
              <a:rPr lang="en-US" sz="1050" dirty="0">
                <a:solidFill>
                  <a:srgbClr val="9FB0C0"/>
                </a:solidFill>
                <a:latin typeface="Arial" pitchFamily="34" charset="0"/>
                <a:ea typeface="Arial" pitchFamily="34" charset="-122"/>
                <a:cs typeface="Arial" pitchFamily="34" charset="-120"/>
              </a:rPr>
              <a:t>Polyglot persistence — one store per access pattern</a:t>
            </a:r>
            <a:endParaRPr lang="en-US" sz="1050" dirty="0"/>
          </a:p>
        </p:txBody>
      </p:sp>
      <p:sp>
        <p:nvSpPr>
          <p:cNvPr id="28" name="Shape 26"/>
          <p:cNvSpPr/>
          <p:nvPr/>
        </p:nvSpPr>
        <p:spPr>
          <a:xfrm>
            <a:off x="713232" y="5404104"/>
            <a:ext cx="7955280" cy="822960"/>
          </a:xfrm>
          <a:prstGeom prst="roundRect">
            <a:avLst>
              <a:gd name="adj" fmla="val 8889"/>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9" name="Shape 27"/>
          <p:cNvSpPr/>
          <p:nvPr/>
        </p:nvSpPr>
        <p:spPr>
          <a:xfrm>
            <a:off x="713232" y="5404104"/>
            <a:ext cx="1554480" cy="822960"/>
          </a:xfrm>
          <a:prstGeom prst="rect">
            <a:avLst/>
          </a:prstGeom>
          <a:solidFill>
            <a:srgbClr val="FF6B6B">
              <a:alpha val="88000"/>
            </a:srgbClr>
          </a:solidFill>
          <a:ln/>
        </p:spPr>
      </p:sp>
      <p:sp>
        <p:nvSpPr>
          <p:cNvPr id="30" name="Text 28"/>
          <p:cNvSpPr/>
          <p:nvPr/>
        </p:nvSpPr>
        <p:spPr>
          <a:xfrm>
            <a:off x="713232" y="5404104"/>
            <a:ext cx="1554480" cy="822960"/>
          </a:xfrm>
          <a:prstGeom prst="rect">
            <a:avLst/>
          </a:prstGeom>
          <a:noFill/>
          <a:ln/>
        </p:spPr>
        <p:txBody>
          <a:bodyPr wrap="square" lIns="0" tIns="0" rIns="0" bIns="0" rtlCol="0" anchor="ctr"/>
          <a:lstStyle/>
          <a:p>
            <a:pPr algn="ctr" indent="0" marL="0">
              <a:buNone/>
            </a:pPr>
            <a:r>
              <a:rPr lang="en-US" sz="1400" b="1" dirty="0">
                <a:solidFill>
                  <a:srgbClr val="232F3E"/>
                </a:solidFill>
                <a:latin typeface="Arial" pitchFamily="34" charset="0"/>
                <a:ea typeface="Arial" pitchFamily="34" charset="-122"/>
                <a:cs typeface="Arial" pitchFamily="34" charset="-120"/>
              </a:rPr>
              <a:t>SECURITY</a:t>
            </a:r>
            <a:endParaRPr lang="en-US" sz="1400" dirty="0"/>
          </a:p>
        </p:txBody>
      </p:sp>
      <p:sp>
        <p:nvSpPr>
          <p:cNvPr id="31" name="Text 29"/>
          <p:cNvSpPr/>
          <p:nvPr/>
        </p:nvSpPr>
        <p:spPr>
          <a:xfrm>
            <a:off x="2423160" y="5522976"/>
            <a:ext cx="6126480" cy="3657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KMS · Cognito · Secrets Manager · GuardDuty</a:t>
            </a:r>
            <a:endParaRPr lang="en-US" sz="1350" dirty="0"/>
          </a:p>
        </p:txBody>
      </p:sp>
      <p:sp>
        <p:nvSpPr>
          <p:cNvPr id="32" name="Text 30"/>
          <p:cNvSpPr/>
          <p:nvPr/>
        </p:nvSpPr>
        <p:spPr>
          <a:xfrm>
            <a:off x="2423160" y="5861304"/>
            <a:ext cx="6126480" cy="320040"/>
          </a:xfrm>
          <a:prstGeom prst="rect">
            <a:avLst/>
          </a:prstGeom>
          <a:noFill/>
          <a:ln/>
        </p:spPr>
        <p:txBody>
          <a:bodyPr wrap="square" lIns="0" tIns="0" rIns="0" bIns="0" rtlCol="0" anchor="ctr"/>
          <a:lstStyle/>
          <a:p>
            <a:pPr indent="0" marL="0">
              <a:buNone/>
            </a:pPr>
            <a:r>
              <a:rPr lang="en-US" sz="1050" dirty="0">
                <a:solidFill>
                  <a:srgbClr val="9FB0C0"/>
                </a:solidFill>
                <a:latin typeface="Arial" pitchFamily="34" charset="0"/>
                <a:ea typeface="Arial" pitchFamily="34" charset="-122"/>
                <a:cs typeface="Arial" pitchFamily="34" charset="-120"/>
              </a:rPr>
              <a:t>Encryption, identity, secrets, threat detection (cross-cutting)</a:t>
            </a:r>
            <a:endParaRPr lang="en-US" sz="1050" dirty="0"/>
          </a:p>
        </p:txBody>
      </p:sp>
      <p:sp>
        <p:nvSpPr>
          <p:cNvPr id="33" name="Shape 31"/>
          <p:cNvSpPr/>
          <p:nvPr/>
        </p:nvSpPr>
        <p:spPr>
          <a:xfrm>
            <a:off x="8869680" y="1600200"/>
            <a:ext cx="2606040" cy="4544568"/>
          </a:xfrm>
          <a:prstGeom prst="roundRect">
            <a:avLst>
              <a:gd name="adj" fmla="val 2807"/>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34" name="Text 32"/>
          <p:cNvSpPr/>
          <p:nvPr/>
        </p:nvSpPr>
        <p:spPr>
          <a:xfrm>
            <a:off x="9098280" y="1755648"/>
            <a:ext cx="2194560" cy="320040"/>
          </a:xfrm>
          <a:prstGeom prst="rect">
            <a:avLst/>
          </a:prstGeom>
          <a:noFill/>
          <a:ln/>
        </p:spPr>
        <p:txBody>
          <a:bodyPr wrap="square" rtlCol="0" anchor="ctr"/>
          <a:lstStyle/>
          <a:p>
            <a:pPr indent="0" marL="0">
              <a:buNone/>
            </a:pPr>
            <a:r>
              <a:rPr lang="en-US" sz="1300" b="1" dirty="0">
                <a:solidFill>
                  <a:srgbClr val="FF9900"/>
                </a:solidFill>
                <a:latin typeface="Arial" pitchFamily="34" charset="0"/>
                <a:ea typeface="Arial" pitchFamily="34" charset="-122"/>
                <a:cs typeface="Arial" pitchFamily="34" charset="-120"/>
              </a:rPr>
              <a:t>Request flow</a:t>
            </a:r>
            <a:endParaRPr lang="en-US" sz="1300" dirty="0"/>
          </a:p>
        </p:txBody>
      </p:sp>
      <p:sp>
        <p:nvSpPr>
          <p:cNvPr id="35" name="Shape 33"/>
          <p:cNvSpPr/>
          <p:nvPr/>
        </p:nvSpPr>
        <p:spPr>
          <a:xfrm>
            <a:off x="9125712" y="2194560"/>
            <a:ext cx="274320" cy="274320"/>
          </a:xfrm>
          <a:prstGeom prst="ellipse">
            <a:avLst/>
          </a:prstGeom>
          <a:solidFill>
            <a:srgbClr val="00A1C9"/>
          </a:solidFill>
          <a:ln/>
        </p:spPr>
      </p:sp>
      <p:sp>
        <p:nvSpPr>
          <p:cNvPr id="36" name="Text 34"/>
          <p:cNvSpPr/>
          <p:nvPr/>
        </p:nvSpPr>
        <p:spPr>
          <a:xfrm>
            <a:off x="9125712" y="2194560"/>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1</a:t>
            </a:r>
            <a:endParaRPr lang="en-US" sz="1000" dirty="0"/>
          </a:p>
        </p:txBody>
      </p:sp>
      <p:sp>
        <p:nvSpPr>
          <p:cNvPr id="37" name="Text 35"/>
          <p:cNvSpPr/>
          <p:nvPr/>
        </p:nvSpPr>
        <p:spPr>
          <a:xfrm>
            <a:off x="9509760" y="2167128"/>
            <a:ext cx="1874520" cy="329184"/>
          </a:xfrm>
          <a:prstGeom prst="rect">
            <a:avLst/>
          </a:prstGeom>
          <a:noFill/>
          <a:ln/>
        </p:spPr>
        <p:txBody>
          <a:bodyPr wrap="square" lIns="0" tIns="0" rIns="0" bIns="0" rtlCol="0" anchor="ctr"/>
          <a:lstStyle/>
          <a:p>
            <a:pPr indent="0" marL="0">
              <a:buNone/>
            </a:pPr>
            <a:r>
              <a:rPr lang="en-US" sz="1050" dirty="0">
                <a:solidFill>
                  <a:srgbClr val="E6ECF2"/>
                </a:solidFill>
                <a:latin typeface="Arial" pitchFamily="34" charset="0"/>
                <a:ea typeface="Arial" pitchFamily="34" charset="-122"/>
                <a:cs typeface="Arial" pitchFamily="34" charset="-120"/>
              </a:rPr>
              <a:t>Browser</a:t>
            </a:r>
            <a:endParaRPr lang="en-US" sz="1050" dirty="0"/>
          </a:p>
        </p:txBody>
      </p:sp>
      <p:sp>
        <p:nvSpPr>
          <p:cNvPr id="38" name="Shape 36"/>
          <p:cNvSpPr/>
          <p:nvPr/>
        </p:nvSpPr>
        <p:spPr>
          <a:xfrm>
            <a:off x="9262872" y="2468880"/>
            <a:ext cx="0" cy="274320"/>
          </a:xfrm>
          <a:prstGeom prst="line">
            <a:avLst/>
          </a:prstGeom>
          <a:noFill/>
          <a:ln w="12700">
            <a:solidFill>
              <a:srgbClr val="44586B"/>
            </a:solidFill>
            <a:prstDash val="solid"/>
          </a:ln>
        </p:spPr>
      </p:sp>
      <p:sp>
        <p:nvSpPr>
          <p:cNvPr id="39" name="Shape 37"/>
          <p:cNvSpPr/>
          <p:nvPr/>
        </p:nvSpPr>
        <p:spPr>
          <a:xfrm>
            <a:off x="9125712" y="2743200"/>
            <a:ext cx="274320" cy="274320"/>
          </a:xfrm>
          <a:prstGeom prst="ellipse">
            <a:avLst/>
          </a:prstGeom>
          <a:solidFill>
            <a:srgbClr val="00A1C9"/>
          </a:solidFill>
          <a:ln/>
        </p:spPr>
      </p:sp>
      <p:sp>
        <p:nvSpPr>
          <p:cNvPr id="40" name="Text 38"/>
          <p:cNvSpPr/>
          <p:nvPr/>
        </p:nvSpPr>
        <p:spPr>
          <a:xfrm>
            <a:off x="9125712" y="2743200"/>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2</a:t>
            </a:r>
            <a:endParaRPr lang="en-US" sz="1000" dirty="0"/>
          </a:p>
        </p:txBody>
      </p:sp>
      <p:sp>
        <p:nvSpPr>
          <p:cNvPr id="41" name="Text 39"/>
          <p:cNvSpPr/>
          <p:nvPr/>
        </p:nvSpPr>
        <p:spPr>
          <a:xfrm>
            <a:off x="9509760" y="2715768"/>
            <a:ext cx="1874520" cy="329184"/>
          </a:xfrm>
          <a:prstGeom prst="rect">
            <a:avLst/>
          </a:prstGeom>
          <a:noFill/>
          <a:ln/>
        </p:spPr>
        <p:txBody>
          <a:bodyPr wrap="square" lIns="0" tIns="0" rIns="0" bIns="0" rtlCol="0" anchor="ctr"/>
          <a:lstStyle/>
          <a:p>
            <a:pPr indent="0" marL="0">
              <a:buNone/>
            </a:pPr>
            <a:r>
              <a:rPr lang="en-US" sz="1050" dirty="0">
                <a:solidFill>
                  <a:srgbClr val="E6ECF2"/>
                </a:solidFill>
                <a:latin typeface="Arial" pitchFamily="34" charset="0"/>
                <a:ea typeface="Arial" pitchFamily="34" charset="-122"/>
                <a:cs typeface="Arial" pitchFamily="34" charset="-120"/>
              </a:rPr>
              <a:t>CloudFront / API GW</a:t>
            </a:r>
            <a:endParaRPr lang="en-US" sz="1050" dirty="0"/>
          </a:p>
        </p:txBody>
      </p:sp>
      <p:sp>
        <p:nvSpPr>
          <p:cNvPr id="42" name="Shape 40"/>
          <p:cNvSpPr/>
          <p:nvPr/>
        </p:nvSpPr>
        <p:spPr>
          <a:xfrm>
            <a:off x="9262872" y="3017520"/>
            <a:ext cx="0" cy="274320"/>
          </a:xfrm>
          <a:prstGeom prst="line">
            <a:avLst/>
          </a:prstGeom>
          <a:noFill/>
          <a:ln w="12700">
            <a:solidFill>
              <a:srgbClr val="44586B"/>
            </a:solidFill>
            <a:prstDash val="solid"/>
          </a:ln>
        </p:spPr>
      </p:sp>
      <p:sp>
        <p:nvSpPr>
          <p:cNvPr id="43" name="Shape 41"/>
          <p:cNvSpPr/>
          <p:nvPr/>
        </p:nvSpPr>
        <p:spPr>
          <a:xfrm>
            <a:off x="9125712" y="3291840"/>
            <a:ext cx="274320" cy="274320"/>
          </a:xfrm>
          <a:prstGeom prst="ellipse">
            <a:avLst/>
          </a:prstGeom>
          <a:solidFill>
            <a:srgbClr val="00A1C9"/>
          </a:solidFill>
          <a:ln/>
        </p:spPr>
      </p:sp>
      <p:sp>
        <p:nvSpPr>
          <p:cNvPr id="44" name="Text 42"/>
          <p:cNvSpPr/>
          <p:nvPr/>
        </p:nvSpPr>
        <p:spPr>
          <a:xfrm>
            <a:off x="9125712" y="3291840"/>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3</a:t>
            </a:r>
            <a:endParaRPr lang="en-US" sz="1000" dirty="0"/>
          </a:p>
        </p:txBody>
      </p:sp>
      <p:sp>
        <p:nvSpPr>
          <p:cNvPr id="45" name="Text 43"/>
          <p:cNvSpPr/>
          <p:nvPr/>
        </p:nvSpPr>
        <p:spPr>
          <a:xfrm>
            <a:off x="9509760" y="3264408"/>
            <a:ext cx="1874520" cy="329184"/>
          </a:xfrm>
          <a:prstGeom prst="rect">
            <a:avLst/>
          </a:prstGeom>
          <a:noFill/>
          <a:ln/>
        </p:spPr>
        <p:txBody>
          <a:bodyPr wrap="square" lIns="0" tIns="0" rIns="0" bIns="0" rtlCol="0" anchor="ctr"/>
          <a:lstStyle/>
          <a:p>
            <a:pPr indent="0" marL="0">
              <a:buNone/>
            </a:pPr>
            <a:r>
              <a:rPr lang="en-US" sz="1050" dirty="0">
                <a:solidFill>
                  <a:srgbClr val="E6ECF2"/>
                </a:solidFill>
                <a:latin typeface="Arial" pitchFamily="34" charset="0"/>
                <a:ea typeface="Arial" pitchFamily="34" charset="-122"/>
                <a:cs typeface="Arial" pitchFamily="34" charset="-120"/>
              </a:rPr>
              <a:t>JWT validated</a:t>
            </a:r>
            <a:endParaRPr lang="en-US" sz="1050" dirty="0"/>
          </a:p>
        </p:txBody>
      </p:sp>
      <p:sp>
        <p:nvSpPr>
          <p:cNvPr id="46" name="Shape 44"/>
          <p:cNvSpPr/>
          <p:nvPr/>
        </p:nvSpPr>
        <p:spPr>
          <a:xfrm>
            <a:off x="9262872" y="3566160"/>
            <a:ext cx="0" cy="274320"/>
          </a:xfrm>
          <a:prstGeom prst="line">
            <a:avLst/>
          </a:prstGeom>
          <a:noFill/>
          <a:ln w="12700">
            <a:solidFill>
              <a:srgbClr val="44586B"/>
            </a:solidFill>
            <a:prstDash val="solid"/>
          </a:ln>
        </p:spPr>
      </p:sp>
      <p:sp>
        <p:nvSpPr>
          <p:cNvPr id="47" name="Shape 45"/>
          <p:cNvSpPr/>
          <p:nvPr/>
        </p:nvSpPr>
        <p:spPr>
          <a:xfrm>
            <a:off x="9125712" y="3840480"/>
            <a:ext cx="274320" cy="274320"/>
          </a:xfrm>
          <a:prstGeom prst="ellipse">
            <a:avLst/>
          </a:prstGeom>
          <a:solidFill>
            <a:srgbClr val="00A1C9"/>
          </a:solidFill>
          <a:ln/>
        </p:spPr>
      </p:sp>
      <p:sp>
        <p:nvSpPr>
          <p:cNvPr id="48" name="Text 46"/>
          <p:cNvSpPr/>
          <p:nvPr/>
        </p:nvSpPr>
        <p:spPr>
          <a:xfrm>
            <a:off x="9125712" y="3840480"/>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4</a:t>
            </a:r>
            <a:endParaRPr lang="en-US" sz="1000" dirty="0"/>
          </a:p>
        </p:txBody>
      </p:sp>
      <p:sp>
        <p:nvSpPr>
          <p:cNvPr id="49" name="Text 47"/>
          <p:cNvSpPr/>
          <p:nvPr/>
        </p:nvSpPr>
        <p:spPr>
          <a:xfrm>
            <a:off x="9509760" y="3813048"/>
            <a:ext cx="1874520" cy="329184"/>
          </a:xfrm>
          <a:prstGeom prst="rect">
            <a:avLst/>
          </a:prstGeom>
          <a:noFill/>
          <a:ln/>
        </p:spPr>
        <p:txBody>
          <a:bodyPr wrap="square" lIns="0" tIns="0" rIns="0" bIns="0" rtlCol="0" anchor="ctr"/>
          <a:lstStyle/>
          <a:p>
            <a:pPr indent="0" marL="0">
              <a:buNone/>
            </a:pPr>
            <a:r>
              <a:rPr lang="en-US" sz="1050" dirty="0">
                <a:solidFill>
                  <a:srgbClr val="E6ECF2"/>
                </a:solidFill>
                <a:latin typeface="Arial" pitchFamily="34" charset="0"/>
                <a:ea typeface="Arial" pitchFamily="34" charset="-122"/>
                <a:cs typeface="Arial" pitchFamily="34" charset="-120"/>
              </a:rPr>
              <a:t>VPC Link → ALB</a:t>
            </a:r>
            <a:endParaRPr lang="en-US" sz="1050" dirty="0"/>
          </a:p>
        </p:txBody>
      </p:sp>
      <p:sp>
        <p:nvSpPr>
          <p:cNvPr id="50" name="Shape 48"/>
          <p:cNvSpPr/>
          <p:nvPr/>
        </p:nvSpPr>
        <p:spPr>
          <a:xfrm>
            <a:off x="9262872" y="4114800"/>
            <a:ext cx="0" cy="274320"/>
          </a:xfrm>
          <a:prstGeom prst="line">
            <a:avLst/>
          </a:prstGeom>
          <a:noFill/>
          <a:ln w="12700">
            <a:solidFill>
              <a:srgbClr val="44586B"/>
            </a:solidFill>
            <a:prstDash val="solid"/>
          </a:ln>
        </p:spPr>
      </p:sp>
      <p:sp>
        <p:nvSpPr>
          <p:cNvPr id="51" name="Shape 49"/>
          <p:cNvSpPr/>
          <p:nvPr/>
        </p:nvSpPr>
        <p:spPr>
          <a:xfrm>
            <a:off x="9125712" y="4389120"/>
            <a:ext cx="274320" cy="274320"/>
          </a:xfrm>
          <a:prstGeom prst="ellipse">
            <a:avLst/>
          </a:prstGeom>
          <a:solidFill>
            <a:srgbClr val="00A1C9"/>
          </a:solidFill>
          <a:ln/>
        </p:spPr>
      </p:sp>
      <p:sp>
        <p:nvSpPr>
          <p:cNvPr id="52" name="Text 50"/>
          <p:cNvSpPr/>
          <p:nvPr/>
        </p:nvSpPr>
        <p:spPr>
          <a:xfrm>
            <a:off x="9125712" y="4389120"/>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5</a:t>
            </a:r>
            <a:endParaRPr lang="en-US" sz="1000" dirty="0"/>
          </a:p>
        </p:txBody>
      </p:sp>
      <p:sp>
        <p:nvSpPr>
          <p:cNvPr id="53" name="Text 51"/>
          <p:cNvSpPr/>
          <p:nvPr/>
        </p:nvSpPr>
        <p:spPr>
          <a:xfrm>
            <a:off x="9509760" y="4361688"/>
            <a:ext cx="1874520" cy="329184"/>
          </a:xfrm>
          <a:prstGeom prst="rect">
            <a:avLst/>
          </a:prstGeom>
          <a:noFill/>
          <a:ln/>
        </p:spPr>
        <p:txBody>
          <a:bodyPr wrap="square" lIns="0" tIns="0" rIns="0" bIns="0" rtlCol="0" anchor="ctr"/>
          <a:lstStyle/>
          <a:p>
            <a:pPr indent="0" marL="0">
              <a:buNone/>
            </a:pPr>
            <a:r>
              <a:rPr lang="en-US" sz="1050" dirty="0">
                <a:solidFill>
                  <a:srgbClr val="E6ECF2"/>
                </a:solidFill>
                <a:latin typeface="Arial" pitchFamily="34" charset="0"/>
                <a:ea typeface="Arial" pitchFamily="34" charset="-122"/>
                <a:cs typeface="Arial" pitchFamily="34" charset="-120"/>
              </a:rPr>
              <a:t>EKS service pod</a:t>
            </a:r>
            <a:endParaRPr lang="en-US" sz="1050" dirty="0"/>
          </a:p>
        </p:txBody>
      </p:sp>
      <p:sp>
        <p:nvSpPr>
          <p:cNvPr id="54" name="Shape 52"/>
          <p:cNvSpPr/>
          <p:nvPr/>
        </p:nvSpPr>
        <p:spPr>
          <a:xfrm>
            <a:off x="9262872" y="4663440"/>
            <a:ext cx="0" cy="274320"/>
          </a:xfrm>
          <a:prstGeom prst="line">
            <a:avLst/>
          </a:prstGeom>
          <a:noFill/>
          <a:ln w="12700">
            <a:solidFill>
              <a:srgbClr val="44586B"/>
            </a:solidFill>
            <a:prstDash val="solid"/>
          </a:ln>
        </p:spPr>
      </p:sp>
      <p:sp>
        <p:nvSpPr>
          <p:cNvPr id="55" name="Shape 53"/>
          <p:cNvSpPr/>
          <p:nvPr/>
        </p:nvSpPr>
        <p:spPr>
          <a:xfrm>
            <a:off x="9125712" y="4937760"/>
            <a:ext cx="274320" cy="274320"/>
          </a:xfrm>
          <a:prstGeom prst="ellipse">
            <a:avLst/>
          </a:prstGeom>
          <a:solidFill>
            <a:srgbClr val="00A1C9"/>
          </a:solidFill>
          <a:ln/>
        </p:spPr>
      </p:sp>
      <p:sp>
        <p:nvSpPr>
          <p:cNvPr id="56" name="Text 54"/>
          <p:cNvSpPr/>
          <p:nvPr/>
        </p:nvSpPr>
        <p:spPr>
          <a:xfrm>
            <a:off x="9125712" y="4937760"/>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6</a:t>
            </a:r>
            <a:endParaRPr lang="en-US" sz="1000" dirty="0"/>
          </a:p>
        </p:txBody>
      </p:sp>
      <p:sp>
        <p:nvSpPr>
          <p:cNvPr id="57" name="Text 55"/>
          <p:cNvSpPr/>
          <p:nvPr/>
        </p:nvSpPr>
        <p:spPr>
          <a:xfrm>
            <a:off x="9509760" y="4910328"/>
            <a:ext cx="1874520" cy="329184"/>
          </a:xfrm>
          <a:prstGeom prst="rect">
            <a:avLst/>
          </a:prstGeom>
          <a:noFill/>
          <a:ln/>
        </p:spPr>
        <p:txBody>
          <a:bodyPr wrap="square" lIns="0" tIns="0" rIns="0" bIns="0" rtlCol="0" anchor="ctr"/>
          <a:lstStyle/>
          <a:p>
            <a:pPr indent="0" marL="0">
              <a:buNone/>
            </a:pPr>
            <a:r>
              <a:rPr lang="en-US" sz="1050" dirty="0">
                <a:solidFill>
                  <a:srgbClr val="E6ECF2"/>
                </a:solidFill>
                <a:latin typeface="Arial" pitchFamily="34" charset="0"/>
                <a:ea typeface="Arial" pitchFamily="34" charset="-122"/>
                <a:cs typeface="Arial" pitchFamily="34" charset="-120"/>
              </a:rPr>
              <a:t>Aurora / Redis / Dynamo</a:t>
            </a:r>
            <a:endParaRPr lang="en-US" sz="1050" dirty="0"/>
          </a:p>
        </p:txBody>
      </p:sp>
      <p:sp>
        <p:nvSpPr>
          <p:cNvPr id="58" name="Shape 56"/>
          <p:cNvSpPr/>
          <p:nvPr/>
        </p:nvSpPr>
        <p:spPr>
          <a:xfrm>
            <a:off x="9262872" y="5212080"/>
            <a:ext cx="0" cy="274320"/>
          </a:xfrm>
          <a:prstGeom prst="line">
            <a:avLst/>
          </a:prstGeom>
          <a:noFill/>
          <a:ln w="12700">
            <a:solidFill>
              <a:srgbClr val="44586B"/>
            </a:solidFill>
            <a:prstDash val="solid"/>
          </a:ln>
        </p:spPr>
      </p:sp>
      <p:sp>
        <p:nvSpPr>
          <p:cNvPr id="59" name="Shape 57"/>
          <p:cNvSpPr/>
          <p:nvPr/>
        </p:nvSpPr>
        <p:spPr>
          <a:xfrm>
            <a:off x="9125712" y="5486400"/>
            <a:ext cx="274320" cy="274320"/>
          </a:xfrm>
          <a:prstGeom prst="ellipse">
            <a:avLst/>
          </a:prstGeom>
          <a:solidFill>
            <a:srgbClr val="00A1C9"/>
          </a:solidFill>
          <a:ln/>
        </p:spPr>
      </p:sp>
      <p:sp>
        <p:nvSpPr>
          <p:cNvPr id="60" name="Text 58"/>
          <p:cNvSpPr/>
          <p:nvPr/>
        </p:nvSpPr>
        <p:spPr>
          <a:xfrm>
            <a:off x="9125712" y="5486400"/>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7</a:t>
            </a:r>
            <a:endParaRPr lang="en-US" sz="1000" dirty="0"/>
          </a:p>
        </p:txBody>
      </p:sp>
      <p:sp>
        <p:nvSpPr>
          <p:cNvPr id="61" name="Text 59"/>
          <p:cNvSpPr/>
          <p:nvPr/>
        </p:nvSpPr>
        <p:spPr>
          <a:xfrm>
            <a:off x="9509760" y="5458968"/>
            <a:ext cx="1874520" cy="329184"/>
          </a:xfrm>
          <a:prstGeom prst="rect">
            <a:avLst/>
          </a:prstGeom>
          <a:noFill/>
          <a:ln/>
        </p:spPr>
        <p:txBody>
          <a:bodyPr wrap="square" lIns="0" tIns="0" rIns="0" bIns="0" rtlCol="0" anchor="ctr"/>
          <a:lstStyle/>
          <a:p>
            <a:pPr indent="0" marL="0">
              <a:buNone/>
            </a:pPr>
            <a:r>
              <a:rPr lang="en-US" sz="1050" dirty="0">
                <a:solidFill>
                  <a:srgbClr val="E6ECF2"/>
                </a:solidFill>
                <a:latin typeface="Arial" pitchFamily="34" charset="0"/>
                <a:ea typeface="Arial" pitchFamily="34" charset="-122"/>
                <a:cs typeface="Arial" pitchFamily="34" charset="-120"/>
              </a:rPr>
              <a:t>Kafka event emitted</a:t>
            </a:r>
            <a:endParaRPr lang="en-US" sz="1050" dirty="0"/>
          </a:p>
        </p:txBody>
      </p:sp>
      <p:sp>
        <p:nvSpPr>
          <p:cNvPr id="62" name="Text 60"/>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63" name="Text 61"/>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01 — SERVICE DECOMPOSITION</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Seven Services, One Bounded Context Each</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Arch 20%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13232" y="1572768"/>
          <a:ext cx="8412480" cy="914400"/>
        </p:xfrm>
        <a:graphic>
          <a:graphicData uri="http://schemas.openxmlformats.org/drawingml/2006/table">
            <a:tbl>
              <a:tblPr/>
              <a:tblGrid>
                <a:gridCol w="1417320"/>
                <a:gridCol w="3383280"/>
                <a:gridCol w="1783080"/>
                <a:gridCol w="1828800"/>
              </a:tblGrid>
              <a:tr h="512064">
                <a:tc>
                  <a:txBody>
                    <a:bodyPr/>
                    <a:lstStyle/>
                    <a:p>
                      <a:pPr algn="l" indent="0" marL="0">
                        <a:buNone/>
                      </a:pPr>
                      <a:r>
                        <a:rPr lang="en-US" sz="1200" b="1" dirty="0">
                          <a:solidFill>
                            <a:srgbClr val="FF9900"/>
                          </a:solidFill>
                          <a:latin typeface="Arial" pitchFamily="34" charset="0"/>
                          <a:ea typeface="Arial" pitchFamily="34" charset="-122"/>
                          <a:cs typeface="Arial" pitchFamily="34" charset="-120"/>
                        </a:rPr>
                        <a:t>Service</a:t>
                      </a:r>
                      <a:endParaRPr lang="en-US" sz="120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1A232E"/>
                    </a:solidFill>
                  </a:tcPr>
                </a:tc>
                <a:tc>
                  <a:txBody>
                    <a:bodyPr/>
                    <a:lstStyle/>
                    <a:p>
                      <a:pPr algn="l" indent="0" marL="0">
                        <a:buNone/>
                      </a:pPr>
                      <a:r>
                        <a:rPr lang="en-US" sz="1200" b="1" dirty="0">
                          <a:solidFill>
                            <a:srgbClr val="FF9900"/>
                          </a:solidFill>
                          <a:latin typeface="Arial" pitchFamily="34" charset="0"/>
                          <a:ea typeface="Arial" pitchFamily="34" charset="-122"/>
                          <a:cs typeface="Arial" pitchFamily="34" charset="-120"/>
                        </a:rPr>
                        <a:t>Responsibility</a:t>
                      </a:r>
                      <a:endParaRPr lang="en-US" sz="120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1A232E"/>
                    </a:solidFill>
                  </a:tcPr>
                </a:tc>
                <a:tc>
                  <a:txBody>
                    <a:bodyPr/>
                    <a:lstStyle/>
                    <a:p>
                      <a:pPr algn="l" indent="0" marL="0">
                        <a:buNone/>
                      </a:pPr>
                      <a:r>
                        <a:rPr lang="en-US" sz="1200" b="1" dirty="0">
                          <a:solidFill>
                            <a:srgbClr val="FF9900"/>
                          </a:solidFill>
                          <a:latin typeface="Arial" pitchFamily="34" charset="0"/>
                          <a:ea typeface="Arial" pitchFamily="34" charset="-122"/>
                          <a:cs typeface="Arial" pitchFamily="34" charset="-120"/>
                        </a:rPr>
                        <a:t>Data store</a:t>
                      </a:r>
                      <a:endParaRPr lang="en-US" sz="120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1A232E"/>
                    </a:solidFill>
                  </a:tcPr>
                </a:tc>
                <a:tc>
                  <a:txBody>
                    <a:bodyPr/>
                    <a:lstStyle/>
                    <a:p>
                      <a:pPr algn="l" indent="0" marL="0">
                        <a:buNone/>
                      </a:pPr>
                      <a:r>
                        <a:rPr lang="en-US" sz="1200" b="1" dirty="0">
                          <a:solidFill>
                            <a:srgbClr val="FF9900"/>
                          </a:solidFill>
                          <a:latin typeface="Arial" pitchFamily="34" charset="0"/>
                          <a:ea typeface="Arial" pitchFamily="34" charset="-122"/>
                          <a:cs typeface="Arial" pitchFamily="34" charset="-120"/>
                        </a:rPr>
                        <a:t>Event role</a:t>
                      </a:r>
                      <a:endParaRPr lang="en-US" sz="120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1A232E"/>
                    </a:solidFill>
                  </a:tcPr>
                </a:tc>
              </a:tr>
              <a:tr h="512064">
                <a:tc>
                  <a:txBody>
                    <a:bodyPr/>
                    <a:lstStyle/>
                    <a:p>
                      <a:pPr algn="l" indent="0" marL="0">
                        <a:buNone/>
                      </a:pPr>
                      <a:r>
                        <a:rPr lang="en-US" sz="1150" b="1" dirty="0">
                          <a:solidFill>
                            <a:srgbClr val="00A1C9"/>
                          </a:solidFill>
                          <a:latin typeface="Arial" pitchFamily="34" charset="0"/>
                          <a:ea typeface="Arial" pitchFamily="34" charset="-122"/>
                          <a:cs typeface="Arial" pitchFamily="34" charset="-120"/>
                        </a:rPr>
                        <a:t>identity</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Registration, login, JWT, RBAC</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Aurora PG</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-&gt; user.registered</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r>
              <a:tr h="512064">
                <a:tc>
                  <a:txBody>
                    <a:bodyPr/>
                    <a:lstStyle/>
                    <a:p>
                      <a:pPr algn="l" indent="0" marL="0">
                        <a:buNone/>
                      </a:pPr>
                      <a:r>
                        <a:rPr lang="en-US" sz="1150" b="1" dirty="0">
                          <a:solidFill>
                            <a:srgbClr val="00A1C9"/>
                          </a:solidFill>
                          <a:latin typeface="Arial" pitchFamily="34" charset="0"/>
                          <a:ea typeface="Arial" pitchFamily="34" charset="-122"/>
                          <a:cs typeface="Arial" pitchFamily="34" charset="-120"/>
                        </a:rPr>
                        <a:t>flight</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Flight data, seat inventory, CQRS read model</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Aurora PG + Redis</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&lt;-&gt; seat-lock, availability</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r>
              <a:tr h="512064">
                <a:tc>
                  <a:txBody>
                    <a:bodyPr/>
                    <a:lstStyle/>
                    <a:p>
                      <a:pPr algn="l" indent="0" marL="0">
                        <a:buNone/>
                      </a:pPr>
                      <a:r>
                        <a:rPr lang="en-US" sz="1150" b="1" dirty="0">
                          <a:solidFill>
                            <a:srgbClr val="00A1C9"/>
                          </a:solidFill>
                          <a:latin typeface="Arial" pitchFamily="34" charset="0"/>
                          <a:ea typeface="Arial" pitchFamily="34" charset="-122"/>
                          <a:cs typeface="Arial" pitchFamily="34" charset="-120"/>
                        </a:rPr>
                        <a:t>booking</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Booking lifecycle &amp; Saga coordination</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Aurora PG</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&lt;-&gt; booking.* events</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r>
              <a:tr h="512064">
                <a:tc>
                  <a:txBody>
                    <a:bodyPr/>
                    <a:lstStyle/>
                    <a:p>
                      <a:pPr algn="l" indent="0" marL="0">
                        <a:buNone/>
                      </a:pPr>
                      <a:r>
                        <a:rPr lang="en-US" sz="1150" b="1" dirty="0">
                          <a:solidFill>
                            <a:srgbClr val="00A1C9"/>
                          </a:solidFill>
                          <a:latin typeface="Arial" pitchFamily="34" charset="0"/>
                          <a:ea typeface="Arial" pitchFamily="34" charset="-122"/>
                          <a:cs typeface="Arial" pitchFamily="34" charset="-120"/>
                        </a:rPr>
                        <a:t>payment</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Stripe charge / refund (PCI-safe)</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Aurora PG</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&lt;-&gt; payment.*</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r>
              <a:tr h="512064">
                <a:tc>
                  <a:txBody>
                    <a:bodyPr/>
                    <a:lstStyle/>
                    <a:p>
                      <a:pPr algn="l" indent="0" marL="0">
                        <a:buNone/>
                      </a:pPr>
                      <a:r>
                        <a:rPr lang="en-US" sz="1150" b="1" dirty="0">
                          <a:solidFill>
                            <a:srgbClr val="00A1C9"/>
                          </a:solidFill>
                          <a:latin typeface="Arial" pitchFamily="34" charset="0"/>
                          <a:ea typeface="Arial" pitchFamily="34" charset="-122"/>
                          <a:cs typeface="Arial" pitchFamily="34" charset="-120"/>
                        </a:rPr>
                        <a:t>check-in</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Web check-in, boarding pass (Lambda)</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Aurora PG</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-&gt; checkin.completed</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r>
              <a:tr h="512064">
                <a:tc>
                  <a:txBody>
                    <a:bodyPr/>
                    <a:lstStyle/>
                    <a:p>
                      <a:pPr algn="l" indent="0" marL="0">
                        <a:buNone/>
                      </a:pPr>
                      <a:r>
                        <a:rPr lang="en-US" sz="1150" b="1" dirty="0">
                          <a:solidFill>
                            <a:srgbClr val="00A1C9"/>
                          </a:solidFill>
                          <a:latin typeface="Arial" pitchFamily="34" charset="0"/>
                          <a:ea typeface="Arial" pitchFamily="34" charset="-122"/>
                          <a:cs typeface="Arial" pitchFamily="34" charset="-120"/>
                        </a:rPr>
                        <a:t>baggage</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7-state baggage finite-state machine</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DynamoDB</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-&gt; baggage.status-updated</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r>
              <a:tr h="512064">
                <a:tc>
                  <a:txBody>
                    <a:bodyPr/>
                    <a:lstStyle/>
                    <a:p>
                      <a:pPr algn="l" indent="0" marL="0">
                        <a:buNone/>
                      </a:pPr>
                      <a:r>
                        <a:rPr lang="en-US" sz="1150" b="1" dirty="0">
                          <a:solidFill>
                            <a:srgbClr val="00A1C9"/>
                          </a:solidFill>
                          <a:latin typeface="Arial" pitchFamily="34" charset="0"/>
                          <a:ea typeface="Arial" pitchFamily="34" charset="-122"/>
                          <a:cs typeface="Arial" pitchFamily="34" charset="-120"/>
                        </a:rPr>
                        <a:t>notification</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Email (SES) &amp; SMS (SNS) dispatch</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DynamoDB</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c>
                  <a:txBody>
                    <a:bodyPr/>
                    <a:lstStyle/>
                    <a:p>
                      <a:pPr algn="l" indent="0" marL="0">
                        <a:buNone/>
                      </a:pPr>
                      <a:r>
                        <a:rPr lang="en-US" sz="1150" dirty="0">
                          <a:solidFill>
                            <a:srgbClr val="E6ECF2"/>
                          </a:solidFill>
                          <a:latin typeface="Arial" pitchFamily="34" charset="0"/>
                          <a:ea typeface="Arial" pitchFamily="34" charset="-122"/>
                          <a:cs typeface="Arial" pitchFamily="34" charset="-120"/>
                        </a:rPr>
                        <a:t>&lt;- consumes all domains</a:t>
                      </a:r>
                      <a:endParaRPr lang="en-US" sz="1150" dirty="0">
                        <a:latin typeface="Arial" charset="0"/>
                        <a:ea typeface="Arial" charset="0"/>
                        <a:cs typeface="Arial" charset="0"/>
                      </a:endParaRPr>
                    </a:p>
                  </a:txBody>
                  <a:tcPr marL="76200" marR="76200" marT="38100" marB="38100" anchor="ctr">
                    <a:lnL w="6350" cap="flat" cmpd="sng" algn="ctr">
                      <a:solidFill>
                        <a:srgbClr val="44586B"/>
                      </a:solidFill>
                      <a:prstDash val="solid"/>
                      <a:round/>
                      <a:headEnd type="none" w="med" len="med"/>
                      <a:tailEnd type="none" w="med" len="med"/>
                    </a:lnL>
                    <a:lnR w="6350" cap="flat" cmpd="sng" algn="ctr">
                      <a:solidFill>
                        <a:srgbClr val="44586B"/>
                      </a:solidFill>
                      <a:prstDash val="solid"/>
                      <a:round/>
                      <a:headEnd type="none" w="med" len="med"/>
                      <a:tailEnd type="none" w="med" len="med"/>
                    </a:lnR>
                    <a:lnT w="6350" cap="flat" cmpd="sng" algn="ctr">
                      <a:solidFill>
                        <a:srgbClr val="44586B"/>
                      </a:solidFill>
                      <a:prstDash val="solid"/>
                      <a:round/>
                      <a:headEnd type="none" w="med" len="med"/>
                      <a:tailEnd type="none" w="med" len="med"/>
                    </a:lnT>
                    <a:lnB w="6350" cap="flat" cmpd="sng" algn="ctr">
                      <a:solidFill>
                        <a:srgbClr val="44586B"/>
                      </a:solidFill>
                      <a:prstDash val="solid"/>
                      <a:round/>
                      <a:headEnd type="none" w="med" len="med"/>
                      <a:tailEnd type="none" w="med" len="med"/>
                    </a:lnB>
                    <a:solidFill>
                      <a:srgbClr val="2E3F50"/>
                    </a:solidFill>
                  </a:tcPr>
                </a:tc>
              </a:tr>
            </a:tbl>
          </a:graphicData>
        </a:graphic>
      </p:graphicFrame>
      <p:sp>
        <p:nvSpPr>
          <p:cNvPr id="9" name="Shape 6"/>
          <p:cNvSpPr/>
          <p:nvPr/>
        </p:nvSpPr>
        <p:spPr>
          <a:xfrm>
            <a:off x="9326880" y="1572768"/>
            <a:ext cx="2148840" cy="4526280"/>
          </a:xfrm>
          <a:prstGeom prst="roundRect">
            <a:avLst>
              <a:gd name="adj" fmla="val 3404"/>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0" name="Text 7"/>
          <p:cNvSpPr/>
          <p:nvPr/>
        </p:nvSpPr>
        <p:spPr>
          <a:xfrm>
            <a:off x="9528048" y="1737360"/>
            <a:ext cx="1828800" cy="320040"/>
          </a:xfrm>
          <a:prstGeom prst="rect">
            <a:avLst/>
          </a:prstGeom>
          <a:noFill/>
          <a:ln/>
        </p:spPr>
        <p:txBody>
          <a:bodyPr wrap="square" rtlCol="0" anchor="ctr"/>
          <a:lstStyle/>
          <a:p>
            <a:pPr indent="0" marL="0">
              <a:buNone/>
            </a:pPr>
            <a:r>
              <a:rPr lang="en-US" sz="1250" b="1" dirty="0">
                <a:solidFill>
                  <a:srgbClr val="FF9900"/>
                </a:solidFill>
                <a:latin typeface="Arial" pitchFamily="34" charset="0"/>
                <a:ea typeface="Arial" pitchFamily="34" charset="-122"/>
                <a:cs typeface="Arial" pitchFamily="34" charset="-120"/>
              </a:rPr>
              <a:t>Enforced boundaries</a:t>
            </a:r>
            <a:endParaRPr lang="en-US" sz="1250" dirty="0"/>
          </a:p>
        </p:txBody>
      </p:sp>
      <p:sp>
        <p:nvSpPr>
          <p:cNvPr id="11" name="Text 8"/>
          <p:cNvSpPr/>
          <p:nvPr/>
        </p:nvSpPr>
        <p:spPr>
          <a:xfrm>
            <a:off x="9528048" y="2148840"/>
            <a:ext cx="1828800" cy="3840480"/>
          </a:xfrm>
          <a:prstGeom prst="rect">
            <a:avLst/>
          </a:prstGeom>
          <a:noFill/>
          <a:ln/>
        </p:spPr>
        <p:txBody>
          <a:bodyPr wrap="square" rtlCol="0" anchor="ctr"/>
          <a:lstStyle/>
          <a:p>
            <a:pPr marL="342900" indent="-342900">
              <a:lnSpc>
                <a:spcPct val="105000"/>
              </a:lnSpc>
              <a:buSzPct val="100000"/>
              <a:buChar char="•"/>
            </a:pPr>
            <a:r>
              <a:rPr lang="en-US" sz="1050" dirty="0">
                <a:solidFill>
                  <a:srgbClr val="E6ECF2"/>
                </a:solidFill>
                <a:latin typeface="Arial" pitchFamily="34" charset="0"/>
                <a:ea typeface="Arial" pitchFamily="34" charset="-122"/>
                <a:cs typeface="Arial" pitchFamily="34" charset="-120"/>
              </a:rPr>
              <a:t>Each service owns its store and writes only to it</a:t>
            </a:r>
            <a:endParaRPr lang="en-US" sz="1050" dirty="0"/>
          </a:p>
          <a:p>
            <a:pPr marL="342900" indent="-342900">
              <a:lnSpc>
                <a:spcPct val="105000"/>
              </a:lnSpc>
              <a:buSzPct val="100000"/>
              <a:buChar char="•"/>
            </a:pPr>
            <a:r>
              <a:rPr lang="en-US" sz="1050" dirty="0">
                <a:solidFill>
                  <a:srgbClr val="E6ECF2"/>
                </a:solidFill>
                <a:latin typeface="Arial" pitchFamily="34" charset="0"/>
                <a:ea typeface="Arial" pitchFamily="34" charset="-122"/>
                <a:cs typeface="Arial" pitchFamily="34" charset="-120"/>
              </a:rPr>
              <a:t>Versioned REST API per service</a:t>
            </a:r>
            <a:endParaRPr lang="en-US" sz="1050" dirty="0"/>
          </a:p>
          <a:p>
            <a:pPr marL="342900" indent="-342900">
              <a:lnSpc>
                <a:spcPct val="105000"/>
              </a:lnSpc>
              <a:buSzPct val="100000"/>
              <a:buChar char="•"/>
            </a:pPr>
            <a:r>
              <a:rPr lang="en-US" sz="1050" dirty="0">
                <a:solidFill>
                  <a:srgbClr val="E6ECF2"/>
                </a:solidFill>
                <a:latin typeface="Arial" pitchFamily="34" charset="0"/>
                <a:ea typeface="Arial" pitchFamily="34" charset="-122"/>
                <a:cs typeface="Arial" pitchFamily="34" charset="-120"/>
              </a:rPr>
              <a:t>Shared packages: event schemas, middleware, kernel</a:t>
            </a:r>
            <a:endParaRPr lang="en-US" sz="1050" dirty="0"/>
          </a:p>
          <a:p>
            <a:pPr marL="342900" indent="-342900">
              <a:lnSpc>
                <a:spcPct val="105000"/>
              </a:lnSpc>
              <a:buSzPct val="100000"/>
              <a:buChar char="•"/>
            </a:pPr>
            <a:r>
              <a:rPr lang="en-US" sz="1050" dirty="0">
                <a:solidFill>
                  <a:srgbClr val="E6ECF2"/>
                </a:solidFill>
                <a:latin typeface="Arial" pitchFamily="34" charset="0"/>
                <a:ea typeface="Arial" pitchFamily="34" charset="-122"/>
                <a:cs typeface="Arial" pitchFamily="34" charset="-120"/>
              </a:rPr>
              <a:t>CI rule forbids one service importing another's source</a:t>
            </a:r>
            <a:endParaRPr lang="en-US" sz="1050" dirty="0"/>
          </a:p>
          <a:p>
            <a:pPr marL="342900" indent="-342900">
              <a:lnSpc>
                <a:spcPct val="105000"/>
              </a:lnSpc>
              <a:buSzPct val="100000"/>
              <a:buChar char="•"/>
            </a:pPr>
            <a:r>
              <a:rPr lang="en-US" sz="1050" dirty="0">
                <a:solidFill>
                  <a:srgbClr val="27D196"/>
                </a:solidFill>
                <a:latin typeface="Arial" pitchFamily="34" charset="0"/>
                <a:ea typeface="Arial" pitchFamily="34" charset="-122"/>
                <a:cs typeface="Arial" pitchFamily="34" charset="-120"/>
              </a:rPr>
              <a:t>+ lambda-qr serverless QR / barcode generator</a:t>
            </a:r>
            <a:endParaRPr lang="en-US" sz="1050" dirty="0"/>
          </a:p>
        </p:txBody>
      </p:sp>
      <p:sp>
        <p:nvSpPr>
          <p:cNvPr id="12" name="Text 9"/>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13" name="Text 10"/>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01 — DATA, AVAILABILITY &amp; SCALE</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Polyglot Persistence, Multi-AZ &amp; Auto-Scaling</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Arch 20%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Shape 6"/>
          <p:cNvSpPr/>
          <p:nvPr/>
        </p:nvSpPr>
        <p:spPr>
          <a:xfrm>
            <a:off x="713232" y="1600200"/>
            <a:ext cx="5349240" cy="2148840"/>
          </a:xfrm>
          <a:prstGeom prst="roundRect">
            <a:avLst>
              <a:gd name="adj" fmla="val 340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914400" y="1737360"/>
            <a:ext cx="4937760" cy="320040"/>
          </a:xfrm>
          <a:prstGeom prst="rect">
            <a:avLst/>
          </a:prstGeom>
          <a:noFill/>
          <a:ln/>
        </p:spPr>
        <p:txBody>
          <a:bodyPr wrap="square" rtlCol="0" anchor="ctr"/>
          <a:lstStyle/>
          <a:p>
            <a:pPr indent="0" marL="0">
              <a:buNone/>
            </a:pPr>
            <a:r>
              <a:rPr lang="en-US" sz="1400" b="1" dirty="0">
                <a:solidFill>
                  <a:srgbClr val="FF9900"/>
                </a:solidFill>
                <a:latin typeface="Arial" pitchFamily="34" charset="0"/>
                <a:ea typeface="Arial" pitchFamily="34" charset="-122"/>
                <a:cs typeface="Arial" pitchFamily="34" charset="-120"/>
              </a:rPr>
              <a:t>One store per access pattern</a:t>
            </a:r>
            <a:endParaRPr lang="en-US" sz="1400" dirty="0"/>
          </a:p>
        </p:txBody>
      </p:sp>
      <p:sp>
        <p:nvSpPr>
          <p:cNvPr id="10" name="Shape 8"/>
          <p:cNvSpPr/>
          <p:nvPr/>
        </p:nvSpPr>
        <p:spPr>
          <a:xfrm>
            <a:off x="914400" y="2157984"/>
            <a:ext cx="109728" cy="365760"/>
          </a:xfrm>
          <a:prstGeom prst="rect">
            <a:avLst/>
          </a:prstGeom>
          <a:solidFill>
            <a:srgbClr val="00A1C9"/>
          </a:solidFill>
          <a:ln/>
        </p:spPr>
      </p:sp>
      <p:sp>
        <p:nvSpPr>
          <p:cNvPr id="11" name="Text 9"/>
          <p:cNvSpPr/>
          <p:nvPr/>
        </p:nvSpPr>
        <p:spPr>
          <a:xfrm>
            <a:off x="1143000" y="2121408"/>
            <a:ext cx="2377440"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Aurora PostgreSQL</a:t>
            </a:r>
            <a:endParaRPr lang="en-US" sz="1200" dirty="0"/>
          </a:p>
        </p:txBody>
      </p:sp>
      <p:sp>
        <p:nvSpPr>
          <p:cNvPr id="12" name="Text 10"/>
          <p:cNvSpPr/>
          <p:nvPr/>
        </p:nvSpPr>
        <p:spPr>
          <a:xfrm>
            <a:off x="3383280" y="2121408"/>
            <a:ext cx="2606040" cy="457200"/>
          </a:xfrm>
          <a:prstGeom prst="rect">
            <a:avLst/>
          </a:prstGeom>
          <a:noFill/>
          <a:ln/>
        </p:spPr>
        <p:txBody>
          <a:bodyPr wrap="square" lIns="0" tIns="0" rIns="0" bIns="0" rtlCol="0" anchor="ctr"/>
          <a:lstStyle/>
          <a:p>
            <a:pPr indent="0" marL="0">
              <a:buNone/>
            </a:pPr>
            <a:r>
              <a:rPr lang="en-US" sz="980" dirty="0">
                <a:solidFill>
                  <a:srgbClr val="9FB0C0"/>
                </a:solidFill>
                <a:latin typeface="Arial" pitchFamily="34" charset="0"/>
                <a:ea typeface="Arial" pitchFamily="34" charset="-122"/>
                <a:cs typeface="Arial" pitchFamily="34" charset="-120"/>
              </a:rPr>
              <a:t>ACID transactional store — 5 logical DBs</a:t>
            </a:r>
            <a:endParaRPr lang="en-US" sz="980" dirty="0"/>
          </a:p>
        </p:txBody>
      </p:sp>
      <p:sp>
        <p:nvSpPr>
          <p:cNvPr id="13" name="Shape 11"/>
          <p:cNvSpPr/>
          <p:nvPr/>
        </p:nvSpPr>
        <p:spPr>
          <a:xfrm>
            <a:off x="914400" y="2670048"/>
            <a:ext cx="109728" cy="365760"/>
          </a:xfrm>
          <a:prstGeom prst="rect">
            <a:avLst/>
          </a:prstGeom>
          <a:solidFill>
            <a:srgbClr val="00A1C9"/>
          </a:solidFill>
          <a:ln/>
        </p:spPr>
      </p:sp>
      <p:sp>
        <p:nvSpPr>
          <p:cNvPr id="14" name="Text 12"/>
          <p:cNvSpPr/>
          <p:nvPr/>
        </p:nvSpPr>
        <p:spPr>
          <a:xfrm>
            <a:off x="1143000" y="2633472"/>
            <a:ext cx="2377440"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ElastiCache Redis</a:t>
            </a:r>
            <a:endParaRPr lang="en-US" sz="1200" dirty="0"/>
          </a:p>
        </p:txBody>
      </p:sp>
      <p:sp>
        <p:nvSpPr>
          <p:cNvPr id="15" name="Text 13"/>
          <p:cNvSpPr/>
          <p:nvPr/>
        </p:nvSpPr>
        <p:spPr>
          <a:xfrm>
            <a:off x="3383280" y="2633472"/>
            <a:ext cx="2606040" cy="457200"/>
          </a:xfrm>
          <a:prstGeom prst="rect">
            <a:avLst/>
          </a:prstGeom>
          <a:noFill/>
          <a:ln/>
        </p:spPr>
        <p:txBody>
          <a:bodyPr wrap="square" lIns="0" tIns="0" rIns="0" bIns="0" rtlCol="0" anchor="ctr"/>
          <a:lstStyle/>
          <a:p>
            <a:pPr indent="0" marL="0">
              <a:buNone/>
            </a:pPr>
            <a:r>
              <a:rPr lang="en-US" sz="980" dirty="0">
                <a:solidFill>
                  <a:srgbClr val="9FB0C0"/>
                </a:solidFill>
                <a:latin typeface="Arial" pitchFamily="34" charset="0"/>
                <a:ea typeface="Arial" pitchFamily="34" charset="-122"/>
                <a:cs typeface="Arial" pitchFamily="34" charset="-120"/>
              </a:rPr>
              <a:t>CQRS seat-map read model + distributed locks</a:t>
            </a:r>
            <a:endParaRPr lang="en-US" sz="980" dirty="0"/>
          </a:p>
        </p:txBody>
      </p:sp>
      <p:sp>
        <p:nvSpPr>
          <p:cNvPr id="16" name="Shape 14"/>
          <p:cNvSpPr/>
          <p:nvPr/>
        </p:nvSpPr>
        <p:spPr>
          <a:xfrm>
            <a:off x="914400" y="3182112"/>
            <a:ext cx="109728" cy="365760"/>
          </a:xfrm>
          <a:prstGeom prst="rect">
            <a:avLst/>
          </a:prstGeom>
          <a:solidFill>
            <a:srgbClr val="00A1C9"/>
          </a:solidFill>
          <a:ln/>
        </p:spPr>
      </p:sp>
      <p:sp>
        <p:nvSpPr>
          <p:cNvPr id="17" name="Text 15"/>
          <p:cNvSpPr/>
          <p:nvPr/>
        </p:nvSpPr>
        <p:spPr>
          <a:xfrm>
            <a:off x="1143000" y="3145536"/>
            <a:ext cx="2377440"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DynamoDB</a:t>
            </a:r>
            <a:endParaRPr lang="en-US" sz="1200" dirty="0"/>
          </a:p>
        </p:txBody>
      </p:sp>
      <p:sp>
        <p:nvSpPr>
          <p:cNvPr id="18" name="Text 16"/>
          <p:cNvSpPr/>
          <p:nvPr/>
        </p:nvSpPr>
        <p:spPr>
          <a:xfrm>
            <a:off x="3383280" y="3145536"/>
            <a:ext cx="2606040" cy="457200"/>
          </a:xfrm>
          <a:prstGeom prst="rect">
            <a:avLst/>
          </a:prstGeom>
          <a:noFill/>
          <a:ln/>
        </p:spPr>
        <p:txBody>
          <a:bodyPr wrap="square" lIns="0" tIns="0" rIns="0" bIns="0" rtlCol="0" anchor="ctr"/>
          <a:lstStyle/>
          <a:p>
            <a:pPr indent="0" marL="0">
              <a:buNone/>
            </a:pPr>
            <a:r>
              <a:rPr lang="en-US" sz="980" dirty="0">
                <a:solidFill>
                  <a:srgbClr val="9FB0C0"/>
                </a:solidFill>
                <a:latin typeface="Arial" pitchFamily="34" charset="0"/>
                <a:ea typeface="Arial" pitchFamily="34" charset="-122"/>
                <a:cs typeface="Arial" pitchFamily="34" charset="-120"/>
              </a:rPr>
              <a:t>Baggage &amp; notification — conditional writes, GSIs</a:t>
            </a:r>
            <a:endParaRPr lang="en-US" sz="980" dirty="0"/>
          </a:p>
        </p:txBody>
      </p:sp>
      <p:sp>
        <p:nvSpPr>
          <p:cNvPr id="19" name="Shape 17"/>
          <p:cNvSpPr/>
          <p:nvPr/>
        </p:nvSpPr>
        <p:spPr>
          <a:xfrm>
            <a:off x="713232" y="3886200"/>
            <a:ext cx="5349240" cy="2240280"/>
          </a:xfrm>
          <a:prstGeom prst="roundRect">
            <a:avLst>
              <a:gd name="adj" fmla="val 3265"/>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0" name="Text 18"/>
          <p:cNvSpPr/>
          <p:nvPr/>
        </p:nvSpPr>
        <p:spPr>
          <a:xfrm>
            <a:off x="914400" y="4023360"/>
            <a:ext cx="4937760" cy="320040"/>
          </a:xfrm>
          <a:prstGeom prst="rect">
            <a:avLst/>
          </a:prstGeom>
          <a:noFill/>
          <a:ln/>
        </p:spPr>
        <p:txBody>
          <a:bodyPr wrap="square" rtlCol="0" anchor="ctr"/>
          <a:lstStyle/>
          <a:p>
            <a:pPr indent="0" marL="0">
              <a:buNone/>
            </a:pPr>
            <a:r>
              <a:rPr lang="en-US" sz="1400" b="1" dirty="0">
                <a:solidFill>
                  <a:srgbClr val="27D196"/>
                </a:solidFill>
                <a:latin typeface="Arial" pitchFamily="34" charset="0"/>
                <a:ea typeface="Arial" pitchFamily="34" charset="-122"/>
                <a:cs typeface="Arial" pitchFamily="34" charset="-120"/>
              </a:rPr>
              <a:t>High availability — Multi-AZ</a:t>
            </a:r>
            <a:endParaRPr lang="en-US" sz="1400" dirty="0"/>
          </a:p>
        </p:txBody>
      </p:sp>
      <p:sp>
        <p:nvSpPr>
          <p:cNvPr id="21" name="Text 19"/>
          <p:cNvSpPr/>
          <p:nvPr/>
        </p:nvSpPr>
        <p:spPr>
          <a:xfrm>
            <a:off x="914400" y="4407408"/>
            <a:ext cx="5029200" cy="1645920"/>
          </a:xfrm>
          <a:prstGeom prst="rect">
            <a:avLst/>
          </a:prstGeom>
          <a:noFill/>
          <a:ln/>
        </p:spPr>
        <p:txBody>
          <a:bodyPr wrap="square" rtlCol="0" anchor="ctr"/>
          <a:lstStyle/>
          <a:p>
            <a:pPr marL="342900" indent="-342900">
              <a:lnSpc>
                <a:spcPct val="105000"/>
              </a:lnSpc>
              <a:buSzPct val="100000"/>
              <a:buChar char="•"/>
            </a:pPr>
            <a:r>
              <a:rPr lang="en-US" sz="1100" dirty="0">
                <a:solidFill>
                  <a:srgbClr val="E6ECF2"/>
                </a:solidFill>
                <a:latin typeface="Arial" pitchFamily="34" charset="0"/>
                <a:ea typeface="Arial" pitchFamily="34" charset="-122"/>
                <a:cs typeface="Arial" pitchFamily="34" charset="-120"/>
              </a:rPr>
              <a:t>Aurora writer + cross-AZ reader, automatic failover</a:t>
            </a:r>
            <a:endParaRPr lang="en-US" sz="1100" dirty="0"/>
          </a:p>
          <a:p>
            <a:pPr marL="342900" indent="-342900">
              <a:lnSpc>
                <a:spcPct val="105000"/>
              </a:lnSpc>
              <a:buSzPct val="100000"/>
              <a:buChar char="•"/>
            </a:pPr>
            <a:r>
              <a:rPr lang="en-US" sz="1100" dirty="0">
                <a:solidFill>
                  <a:srgbClr val="E6ECF2"/>
                </a:solidFill>
                <a:latin typeface="Arial" pitchFamily="34" charset="0"/>
                <a:ea typeface="Arial" pitchFamily="34" charset="-122"/>
                <a:cs typeface="Arial" pitchFamily="34" charset="-120"/>
              </a:rPr>
              <a:t>ElastiCache primary + replica; MSK one broker per AZ</a:t>
            </a:r>
            <a:endParaRPr lang="en-US" sz="1100" dirty="0"/>
          </a:p>
          <a:p>
            <a:pPr marL="342900" indent="-342900">
              <a:lnSpc>
                <a:spcPct val="105000"/>
              </a:lnSpc>
              <a:buSzPct val="100000"/>
              <a:buChar char="•"/>
            </a:pPr>
            <a:r>
              <a:rPr lang="en-US" sz="1100" dirty="0">
                <a:solidFill>
                  <a:srgbClr val="E6ECF2"/>
                </a:solidFill>
                <a:latin typeface="Arial" pitchFamily="34" charset="0"/>
                <a:ea typeface="Arial" pitchFamily="34" charset="-122"/>
                <a:cs typeface="Arial" pitchFamily="34" charset="-120"/>
              </a:rPr>
              <a:t>2+ replicas per Deployment + PodDisruptionBudget</a:t>
            </a:r>
            <a:endParaRPr lang="en-US" sz="1100" dirty="0"/>
          </a:p>
          <a:p>
            <a:pPr marL="342900" indent="-342900">
              <a:lnSpc>
                <a:spcPct val="105000"/>
              </a:lnSpc>
              <a:buSzPct val="100000"/>
              <a:buChar char="•"/>
            </a:pPr>
            <a:r>
              <a:rPr lang="en-US" sz="1100" dirty="0">
                <a:solidFill>
                  <a:srgbClr val="E6ECF2"/>
                </a:solidFill>
                <a:latin typeface="Arial" pitchFamily="34" charset="0"/>
                <a:ea typeface="Arial" pitchFamily="34" charset="-122"/>
                <a:cs typeface="Arial" pitchFamily="34" charset="-120"/>
              </a:rPr>
              <a:t>Topology-spread constraints distribute pods across nodes</a:t>
            </a:r>
            <a:endParaRPr lang="en-US" sz="1100" dirty="0"/>
          </a:p>
          <a:p>
            <a:pPr marL="342900" indent="-342900">
              <a:lnSpc>
                <a:spcPct val="105000"/>
              </a:lnSpc>
              <a:buSzPct val="100000"/>
              <a:buChar char="•"/>
            </a:pPr>
            <a:r>
              <a:rPr lang="en-US" sz="1100" dirty="0">
                <a:solidFill>
                  <a:srgbClr val="27D196"/>
                </a:solidFill>
                <a:latin typeface="Arial" pitchFamily="34" charset="0"/>
                <a:ea typeface="Arial" pitchFamily="34" charset="-122"/>
                <a:cs typeface="Arial" pitchFamily="34" charset="-120"/>
              </a:rPr>
              <a:t>Single-AZ failure recovery &lt; 5 minutes</a:t>
            </a:r>
            <a:endParaRPr lang="en-US" sz="1100" dirty="0"/>
          </a:p>
        </p:txBody>
      </p:sp>
      <p:sp>
        <p:nvSpPr>
          <p:cNvPr id="22" name="Shape 20"/>
          <p:cNvSpPr/>
          <p:nvPr/>
        </p:nvSpPr>
        <p:spPr>
          <a:xfrm>
            <a:off x="6355080" y="1600200"/>
            <a:ext cx="5120640" cy="4526280"/>
          </a:xfrm>
          <a:prstGeom prst="roundRect">
            <a:avLst>
              <a:gd name="adj" fmla="val 1616"/>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3" name="Text 21"/>
          <p:cNvSpPr/>
          <p:nvPr/>
        </p:nvSpPr>
        <p:spPr>
          <a:xfrm>
            <a:off x="6565392" y="1755648"/>
            <a:ext cx="4754880" cy="320040"/>
          </a:xfrm>
          <a:prstGeom prst="rect">
            <a:avLst/>
          </a:prstGeom>
          <a:noFill/>
          <a:ln/>
        </p:spPr>
        <p:txBody>
          <a:bodyPr wrap="square" rtlCol="0" anchor="ctr"/>
          <a:lstStyle/>
          <a:p>
            <a:pPr indent="0" marL="0">
              <a:buNone/>
            </a:pPr>
            <a:r>
              <a:rPr lang="en-US" sz="1400" b="1" dirty="0">
                <a:solidFill>
                  <a:srgbClr val="FF9900"/>
                </a:solidFill>
                <a:latin typeface="Arial" pitchFamily="34" charset="0"/>
                <a:ea typeface="Arial" pitchFamily="34" charset="-122"/>
                <a:cs typeface="Arial" pitchFamily="34" charset="-120"/>
              </a:rPr>
              <a:t>Horizontal scaling at every level</a:t>
            </a:r>
            <a:endParaRPr lang="en-US" sz="1400" dirty="0"/>
          </a:p>
        </p:txBody>
      </p:sp>
      <p:sp>
        <p:nvSpPr>
          <p:cNvPr id="24" name="Shape 22"/>
          <p:cNvSpPr/>
          <p:nvPr/>
        </p:nvSpPr>
        <p:spPr>
          <a:xfrm>
            <a:off x="6565392" y="2240280"/>
            <a:ext cx="4709160" cy="1097280"/>
          </a:xfrm>
          <a:prstGeom prst="roundRect">
            <a:avLst>
              <a:gd name="adj" fmla="val 6667"/>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5" name="Shape 23"/>
          <p:cNvSpPr/>
          <p:nvPr/>
        </p:nvSpPr>
        <p:spPr>
          <a:xfrm>
            <a:off x="6565392" y="2240280"/>
            <a:ext cx="109728" cy="1097280"/>
          </a:xfrm>
          <a:prstGeom prst="rect">
            <a:avLst/>
          </a:prstGeom>
          <a:solidFill>
            <a:srgbClr val="00A1C9"/>
          </a:solidFill>
          <a:ln/>
        </p:spPr>
      </p:sp>
      <p:sp>
        <p:nvSpPr>
          <p:cNvPr id="26" name="Text 24"/>
          <p:cNvSpPr/>
          <p:nvPr/>
        </p:nvSpPr>
        <p:spPr>
          <a:xfrm>
            <a:off x="6766560" y="2368296"/>
            <a:ext cx="4389120" cy="365760"/>
          </a:xfrm>
          <a:prstGeom prst="rect">
            <a:avLst/>
          </a:prstGeom>
          <a:noFill/>
          <a:ln/>
        </p:spPr>
        <p:txBody>
          <a:bodyPr wrap="square" lIns="0" tIns="0" rIns="0" bIns="0" rtlCol="0" anchor="ctr"/>
          <a:lstStyle/>
          <a:p>
            <a:pPr indent="0" marL="0">
              <a:buNone/>
            </a:pPr>
            <a:r>
              <a:rPr lang="en-US" sz="1500" b="1" dirty="0">
                <a:solidFill>
                  <a:srgbClr val="00A1C9"/>
                </a:solidFill>
                <a:latin typeface="Arial" pitchFamily="34" charset="0"/>
                <a:ea typeface="Arial" pitchFamily="34" charset="-122"/>
                <a:cs typeface="Arial" pitchFamily="34" charset="-120"/>
              </a:rPr>
              <a:t>HPA</a:t>
            </a:r>
            <a:endParaRPr lang="en-US" sz="1500" dirty="0"/>
          </a:p>
        </p:txBody>
      </p:sp>
      <p:sp>
        <p:nvSpPr>
          <p:cNvPr id="27" name="Text 25"/>
          <p:cNvSpPr/>
          <p:nvPr/>
        </p:nvSpPr>
        <p:spPr>
          <a:xfrm>
            <a:off x="6766560" y="2752344"/>
            <a:ext cx="438912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Pod scaling on CPU / memory for HTTP-driven services</a:t>
            </a:r>
            <a:endParaRPr lang="en-US" sz="1100" dirty="0"/>
          </a:p>
        </p:txBody>
      </p:sp>
      <p:sp>
        <p:nvSpPr>
          <p:cNvPr id="28" name="Shape 26"/>
          <p:cNvSpPr/>
          <p:nvPr/>
        </p:nvSpPr>
        <p:spPr>
          <a:xfrm>
            <a:off x="6565392" y="3520440"/>
            <a:ext cx="4709160" cy="1097280"/>
          </a:xfrm>
          <a:prstGeom prst="roundRect">
            <a:avLst>
              <a:gd name="adj" fmla="val 6667"/>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9" name="Shape 27"/>
          <p:cNvSpPr/>
          <p:nvPr/>
        </p:nvSpPr>
        <p:spPr>
          <a:xfrm>
            <a:off x="6565392" y="3520440"/>
            <a:ext cx="109728" cy="1097280"/>
          </a:xfrm>
          <a:prstGeom prst="rect">
            <a:avLst/>
          </a:prstGeom>
          <a:solidFill>
            <a:srgbClr val="4DA6FF"/>
          </a:solidFill>
          <a:ln/>
        </p:spPr>
      </p:sp>
      <p:sp>
        <p:nvSpPr>
          <p:cNvPr id="30" name="Text 28"/>
          <p:cNvSpPr/>
          <p:nvPr/>
        </p:nvSpPr>
        <p:spPr>
          <a:xfrm>
            <a:off x="6766560" y="3648456"/>
            <a:ext cx="4389120" cy="365760"/>
          </a:xfrm>
          <a:prstGeom prst="rect">
            <a:avLst/>
          </a:prstGeom>
          <a:noFill/>
          <a:ln/>
        </p:spPr>
        <p:txBody>
          <a:bodyPr wrap="square" lIns="0" tIns="0" rIns="0" bIns="0" rtlCol="0" anchor="ctr"/>
          <a:lstStyle/>
          <a:p>
            <a:pPr indent="0" marL="0">
              <a:buNone/>
            </a:pPr>
            <a:r>
              <a:rPr lang="en-US" sz="1500" b="1" dirty="0">
                <a:solidFill>
                  <a:srgbClr val="4DA6FF"/>
                </a:solidFill>
                <a:latin typeface="Arial" pitchFamily="34" charset="0"/>
                <a:ea typeface="Arial" pitchFamily="34" charset="-122"/>
                <a:cs typeface="Arial" pitchFamily="34" charset="-120"/>
              </a:rPr>
              <a:t>KEDA</a:t>
            </a:r>
            <a:endParaRPr lang="en-US" sz="1500" dirty="0"/>
          </a:p>
        </p:txBody>
      </p:sp>
      <p:sp>
        <p:nvSpPr>
          <p:cNvPr id="31" name="Text 29"/>
          <p:cNvSpPr/>
          <p:nvPr/>
        </p:nvSpPr>
        <p:spPr>
          <a:xfrm>
            <a:off x="6766560" y="4032504"/>
            <a:ext cx="438912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Scales baggage &amp; notification on Kafka consumer lag — event-driven, not request-driven</a:t>
            </a:r>
            <a:endParaRPr lang="en-US" sz="1100" dirty="0"/>
          </a:p>
        </p:txBody>
      </p:sp>
      <p:sp>
        <p:nvSpPr>
          <p:cNvPr id="32" name="Shape 30"/>
          <p:cNvSpPr/>
          <p:nvPr/>
        </p:nvSpPr>
        <p:spPr>
          <a:xfrm>
            <a:off x="6565392" y="4800600"/>
            <a:ext cx="4709160" cy="1097280"/>
          </a:xfrm>
          <a:prstGeom prst="roundRect">
            <a:avLst>
              <a:gd name="adj" fmla="val 6667"/>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33" name="Shape 31"/>
          <p:cNvSpPr/>
          <p:nvPr/>
        </p:nvSpPr>
        <p:spPr>
          <a:xfrm>
            <a:off x="6565392" y="4800600"/>
            <a:ext cx="109728" cy="1097280"/>
          </a:xfrm>
          <a:prstGeom prst="rect">
            <a:avLst/>
          </a:prstGeom>
          <a:solidFill>
            <a:srgbClr val="27D196"/>
          </a:solidFill>
          <a:ln/>
        </p:spPr>
      </p:sp>
      <p:sp>
        <p:nvSpPr>
          <p:cNvPr id="34" name="Text 32"/>
          <p:cNvSpPr/>
          <p:nvPr/>
        </p:nvSpPr>
        <p:spPr>
          <a:xfrm>
            <a:off x="6766560" y="4928616"/>
            <a:ext cx="4389120" cy="365760"/>
          </a:xfrm>
          <a:prstGeom prst="rect">
            <a:avLst/>
          </a:prstGeom>
          <a:noFill/>
          <a:ln/>
        </p:spPr>
        <p:txBody>
          <a:bodyPr wrap="square" lIns="0" tIns="0" rIns="0" bIns="0" rtlCol="0" anchor="ctr"/>
          <a:lstStyle/>
          <a:p>
            <a:pPr indent="0" marL="0">
              <a:buNone/>
            </a:pPr>
            <a:r>
              <a:rPr lang="en-US" sz="1500" b="1" dirty="0">
                <a:solidFill>
                  <a:srgbClr val="27D196"/>
                </a:solidFill>
                <a:latin typeface="Arial" pitchFamily="34" charset="0"/>
                <a:ea typeface="Arial" pitchFamily="34" charset="-122"/>
                <a:cs typeface="Arial" pitchFamily="34" charset="-120"/>
              </a:rPr>
              <a:t>Cluster Autoscaler</a:t>
            </a:r>
            <a:endParaRPr lang="en-US" sz="1500" dirty="0"/>
          </a:p>
        </p:txBody>
      </p:sp>
      <p:sp>
        <p:nvSpPr>
          <p:cNvPr id="35" name="Text 33"/>
          <p:cNvSpPr/>
          <p:nvPr/>
        </p:nvSpPr>
        <p:spPr>
          <a:xfrm>
            <a:off x="6766560" y="5312664"/>
            <a:ext cx="4389120" cy="50292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Provisions Spot nodes 2 -&gt; 6 when pods are pending</a:t>
            </a:r>
            <a:endParaRPr lang="en-US" sz="1100" dirty="0"/>
          </a:p>
        </p:txBody>
      </p:sp>
      <p:sp>
        <p:nvSpPr>
          <p:cNvPr id="36" name="Text 34"/>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37" name="Text 35"/>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02 — DISTRIBUTED WEB APPLICATION &amp; API DESIGN</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RESTful APIs &amp; the API Gateway</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Impl 40%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Shape 6"/>
          <p:cNvSpPr/>
          <p:nvPr/>
        </p:nvSpPr>
        <p:spPr>
          <a:xfrm>
            <a:off x="713232" y="1600200"/>
            <a:ext cx="5349240" cy="4526280"/>
          </a:xfrm>
          <a:prstGeom prst="roundRect">
            <a:avLst>
              <a:gd name="adj" fmla="val 1616"/>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914400" y="1755648"/>
            <a:ext cx="4937760" cy="320040"/>
          </a:xfrm>
          <a:prstGeom prst="rect">
            <a:avLst/>
          </a:prstGeom>
          <a:noFill/>
          <a:ln/>
        </p:spPr>
        <p:txBody>
          <a:bodyPr wrap="square" rtlCol="0" anchor="ctr"/>
          <a:lstStyle/>
          <a:p>
            <a:pPr indent="0" marL="0">
              <a:buNone/>
            </a:pPr>
            <a:r>
              <a:rPr lang="en-US" sz="1400" b="1" dirty="0">
                <a:solidFill>
                  <a:srgbClr val="FF9900"/>
                </a:solidFill>
                <a:latin typeface="Arial" pitchFamily="34" charset="0"/>
                <a:ea typeface="Arial" pitchFamily="34" charset="-122"/>
                <a:cs typeface="Arial" pitchFamily="34" charset="-120"/>
              </a:rPr>
              <a:t>REST API design principles</a:t>
            </a:r>
            <a:endParaRPr lang="en-US" sz="1400" dirty="0"/>
          </a:p>
        </p:txBody>
      </p:sp>
      <p:sp>
        <p:nvSpPr>
          <p:cNvPr id="10" name="Shape 8"/>
          <p:cNvSpPr/>
          <p:nvPr/>
        </p:nvSpPr>
        <p:spPr>
          <a:xfrm>
            <a:off x="914400" y="2194560"/>
            <a:ext cx="237744" cy="237744"/>
          </a:xfrm>
          <a:prstGeom prst="ellipse">
            <a:avLst/>
          </a:prstGeom>
          <a:solidFill>
            <a:srgbClr val="00A1C9"/>
          </a:solidFill>
          <a:ln/>
        </p:spPr>
      </p:sp>
      <p:sp>
        <p:nvSpPr>
          <p:cNvPr id="11" name="Text 9"/>
          <p:cNvSpPr/>
          <p:nvPr/>
        </p:nvSpPr>
        <p:spPr>
          <a:xfrm>
            <a:off x="914400" y="2157984"/>
            <a:ext cx="237744" cy="274320"/>
          </a:xfrm>
          <a:prstGeom prst="rect">
            <a:avLst/>
          </a:prstGeom>
          <a:noFill/>
          <a:ln/>
        </p:spPr>
        <p:txBody>
          <a:bodyPr wrap="square" lIns="0" tIns="0" rIns="0" bIns="0" rtlCol="0" anchor="ctr"/>
          <a:lstStyle/>
          <a:p>
            <a:pPr algn="ctr" indent="0" marL="0">
              <a:buNone/>
            </a:pPr>
            <a:r>
              <a:rPr lang="en-US" sz="1300" b="1" dirty="0">
                <a:solidFill>
                  <a:srgbClr val="232F3E"/>
                </a:solidFill>
              </a:rPr>
              <a:t>&gt;</a:t>
            </a:r>
            <a:endParaRPr lang="en-US" sz="1300" dirty="0"/>
          </a:p>
        </p:txBody>
      </p:sp>
      <p:sp>
        <p:nvSpPr>
          <p:cNvPr id="12" name="Text 10"/>
          <p:cNvSpPr/>
          <p:nvPr/>
        </p:nvSpPr>
        <p:spPr>
          <a:xfrm>
            <a:off x="1261872" y="2176272"/>
            <a:ext cx="4663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Versioned &amp; validated</a:t>
            </a:r>
            <a:endParaRPr lang="en-US" sz="1200" dirty="0"/>
          </a:p>
        </p:txBody>
      </p:sp>
      <p:sp>
        <p:nvSpPr>
          <p:cNvPr id="13" name="Text 11"/>
          <p:cNvSpPr/>
          <p:nvPr/>
        </p:nvSpPr>
        <p:spPr>
          <a:xfrm>
            <a:off x="1261872" y="2450592"/>
            <a:ext cx="4709160" cy="365760"/>
          </a:xfrm>
          <a:prstGeom prst="rect">
            <a:avLst/>
          </a:prstGeom>
          <a:noFill/>
          <a:ln/>
        </p:spPr>
        <p:txBody>
          <a:bodyPr wrap="square" lIns="0" tIns="0" rIns="0" bIns="0" rtlCol="0" anchor="ctr"/>
          <a:lstStyle/>
          <a:p>
            <a:pPr indent="0" marL="0">
              <a:lnSpc>
                <a:spcPct val="95000"/>
              </a:lnSpc>
              <a:buNone/>
            </a:pPr>
            <a:r>
              <a:rPr lang="en-US" sz="1000" dirty="0">
                <a:solidFill>
                  <a:srgbClr val="9FB0C0"/>
                </a:solidFill>
                <a:latin typeface="Arial" pitchFamily="34" charset="0"/>
                <a:ea typeface="Arial" pitchFamily="34" charset="-122"/>
                <a:cs typeface="Arial" pitchFamily="34" charset="-120"/>
              </a:rPr>
              <a:t>Common /api/v1 prefix; global pipe strips unknown props &amp; coerces DTO types</a:t>
            </a:r>
            <a:endParaRPr lang="en-US" sz="1000" dirty="0"/>
          </a:p>
        </p:txBody>
      </p:sp>
      <p:sp>
        <p:nvSpPr>
          <p:cNvPr id="14" name="Shape 12"/>
          <p:cNvSpPr/>
          <p:nvPr/>
        </p:nvSpPr>
        <p:spPr>
          <a:xfrm>
            <a:off x="914400" y="2843784"/>
            <a:ext cx="237744" cy="237744"/>
          </a:xfrm>
          <a:prstGeom prst="ellipse">
            <a:avLst/>
          </a:prstGeom>
          <a:solidFill>
            <a:srgbClr val="00A1C9"/>
          </a:solidFill>
          <a:ln/>
        </p:spPr>
      </p:sp>
      <p:sp>
        <p:nvSpPr>
          <p:cNvPr id="15" name="Text 13"/>
          <p:cNvSpPr/>
          <p:nvPr/>
        </p:nvSpPr>
        <p:spPr>
          <a:xfrm>
            <a:off x="914400" y="2807208"/>
            <a:ext cx="237744" cy="274320"/>
          </a:xfrm>
          <a:prstGeom prst="rect">
            <a:avLst/>
          </a:prstGeom>
          <a:noFill/>
          <a:ln/>
        </p:spPr>
        <p:txBody>
          <a:bodyPr wrap="square" lIns="0" tIns="0" rIns="0" bIns="0" rtlCol="0" anchor="ctr"/>
          <a:lstStyle/>
          <a:p>
            <a:pPr algn="ctr" indent="0" marL="0">
              <a:buNone/>
            </a:pPr>
            <a:r>
              <a:rPr lang="en-US" sz="1300" b="1" dirty="0">
                <a:solidFill>
                  <a:srgbClr val="232F3E"/>
                </a:solidFill>
              </a:rPr>
              <a:t>&gt;</a:t>
            </a:r>
            <a:endParaRPr lang="en-US" sz="1300" dirty="0"/>
          </a:p>
        </p:txBody>
      </p:sp>
      <p:sp>
        <p:nvSpPr>
          <p:cNvPr id="16" name="Text 14"/>
          <p:cNvSpPr/>
          <p:nvPr/>
        </p:nvSpPr>
        <p:spPr>
          <a:xfrm>
            <a:off x="1261872" y="2825496"/>
            <a:ext cx="4663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Paginated reads</a:t>
            </a:r>
            <a:endParaRPr lang="en-US" sz="1200" dirty="0"/>
          </a:p>
        </p:txBody>
      </p:sp>
      <p:sp>
        <p:nvSpPr>
          <p:cNvPr id="17" name="Text 15"/>
          <p:cNvSpPr/>
          <p:nvPr/>
        </p:nvSpPr>
        <p:spPr>
          <a:xfrm>
            <a:off x="1261872" y="3099816"/>
            <a:ext cx="4709160" cy="365760"/>
          </a:xfrm>
          <a:prstGeom prst="rect">
            <a:avLst/>
          </a:prstGeom>
          <a:noFill/>
          <a:ln/>
        </p:spPr>
        <p:txBody>
          <a:bodyPr wrap="square" lIns="0" tIns="0" rIns="0" bIns="0" rtlCol="0" anchor="ctr"/>
          <a:lstStyle/>
          <a:p>
            <a:pPr indent="0" marL="0">
              <a:lnSpc>
                <a:spcPct val="95000"/>
              </a:lnSpc>
              <a:buNone/>
            </a:pPr>
            <a:r>
              <a:rPr lang="en-US" sz="1000" dirty="0">
                <a:solidFill>
                  <a:srgbClr val="9FB0C0"/>
                </a:solidFill>
                <a:latin typeface="Arial" pitchFamily="34" charset="0"/>
                <a:ea typeface="Arial" pitchFamily="34" charset="-122"/>
                <a:cs typeface="Arial" pitchFamily="34" charset="-120"/>
              </a:rPr>
              <a:t>All list endpoints paginate</a:t>
            </a:r>
            <a:endParaRPr lang="en-US" sz="1000" dirty="0"/>
          </a:p>
        </p:txBody>
      </p:sp>
      <p:sp>
        <p:nvSpPr>
          <p:cNvPr id="18" name="Shape 16"/>
          <p:cNvSpPr/>
          <p:nvPr/>
        </p:nvSpPr>
        <p:spPr>
          <a:xfrm>
            <a:off x="914400" y="3493008"/>
            <a:ext cx="237744" cy="237744"/>
          </a:xfrm>
          <a:prstGeom prst="ellipse">
            <a:avLst/>
          </a:prstGeom>
          <a:solidFill>
            <a:srgbClr val="00A1C9"/>
          </a:solidFill>
          <a:ln/>
        </p:spPr>
      </p:sp>
      <p:sp>
        <p:nvSpPr>
          <p:cNvPr id="19" name="Text 17"/>
          <p:cNvSpPr/>
          <p:nvPr/>
        </p:nvSpPr>
        <p:spPr>
          <a:xfrm>
            <a:off x="914400" y="3456432"/>
            <a:ext cx="237744" cy="274320"/>
          </a:xfrm>
          <a:prstGeom prst="rect">
            <a:avLst/>
          </a:prstGeom>
          <a:noFill/>
          <a:ln/>
        </p:spPr>
        <p:txBody>
          <a:bodyPr wrap="square" lIns="0" tIns="0" rIns="0" bIns="0" rtlCol="0" anchor="ctr"/>
          <a:lstStyle/>
          <a:p>
            <a:pPr algn="ctr" indent="0" marL="0">
              <a:buNone/>
            </a:pPr>
            <a:r>
              <a:rPr lang="en-US" sz="1300" b="1" dirty="0">
                <a:solidFill>
                  <a:srgbClr val="232F3E"/>
                </a:solidFill>
              </a:rPr>
              <a:t>&gt;</a:t>
            </a:r>
            <a:endParaRPr lang="en-US" sz="1300" dirty="0"/>
          </a:p>
        </p:txBody>
      </p:sp>
      <p:sp>
        <p:nvSpPr>
          <p:cNvPr id="20" name="Text 18"/>
          <p:cNvSpPr/>
          <p:nvPr/>
        </p:nvSpPr>
        <p:spPr>
          <a:xfrm>
            <a:off x="1261872" y="3474720"/>
            <a:ext cx="4663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Idempotency keys</a:t>
            </a:r>
            <a:endParaRPr lang="en-US" sz="1200" dirty="0"/>
          </a:p>
        </p:txBody>
      </p:sp>
      <p:sp>
        <p:nvSpPr>
          <p:cNvPr id="21" name="Text 19"/>
          <p:cNvSpPr/>
          <p:nvPr/>
        </p:nvSpPr>
        <p:spPr>
          <a:xfrm>
            <a:off x="1261872" y="3749040"/>
            <a:ext cx="4709160" cy="365760"/>
          </a:xfrm>
          <a:prstGeom prst="rect">
            <a:avLst/>
          </a:prstGeom>
          <a:noFill/>
          <a:ln/>
        </p:spPr>
        <p:txBody>
          <a:bodyPr wrap="square" lIns="0" tIns="0" rIns="0" bIns="0" rtlCol="0" anchor="ctr"/>
          <a:lstStyle/>
          <a:p>
            <a:pPr indent="0" marL="0">
              <a:lnSpc>
                <a:spcPct val="95000"/>
              </a:lnSpc>
              <a:buNone/>
            </a:pPr>
            <a:r>
              <a:rPr lang="en-US" sz="1000" dirty="0">
                <a:solidFill>
                  <a:srgbClr val="9FB0C0"/>
                </a:solidFill>
                <a:latin typeface="Arial" pitchFamily="34" charset="0"/>
                <a:ea typeface="Arial" pitchFamily="34" charset="-122"/>
                <a:cs typeface="Arial" pitchFamily="34" charset="-120"/>
              </a:rPr>
              <a:t>Retried writes never create duplicates</a:t>
            </a:r>
            <a:endParaRPr lang="en-US" sz="1000" dirty="0"/>
          </a:p>
        </p:txBody>
      </p:sp>
      <p:sp>
        <p:nvSpPr>
          <p:cNvPr id="22" name="Shape 20"/>
          <p:cNvSpPr/>
          <p:nvPr/>
        </p:nvSpPr>
        <p:spPr>
          <a:xfrm>
            <a:off x="914400" y="4142232"/>
            <a:ext cx="237744" cy="237744"/>
          </a:xfrm>
          <a:prstGeom prst="ellipse">
            <a:avLst/>
          </a:prstGeom>
          <a:solidFill>
            <a:srgbClr val="00A1C9"/>
          </a:solidFill>
          <a:ln/>
        </p:spPr>
      </p:sp>
      <p:sp>
        <p:nvSpPr>
          <p:cNvPr id="23" name="Text 21"/>
          <p:cNvSpPr/>
          <p:nvPr/>
        </p:nvSpPr>
        <p:spPr>
          <a:xfrm>
            <a:off x="914400" y="4105656"/>
            <a:ext cx="237744" cy="274320"/>
          </a:xfrm>
          <a:prstGeom prst="rect">
            <a:avLst/>
          </a:prstGeom>
          <a:noFill/>
          <a:ln/>
        </p:spPr>
        <p:txBody>
          <a:bodyPr wrap="square" lIns="0" tIns="0" rIns="0" bIns="0" rtlCol="0" anchor="ctr"/>
          <a:lstStyle/>
          <a:p>
            <a:pPr algn="ctr" indent="0" marL="0">
              <a:buNone/>
            </a:pPr>
            <a:r>
              <a:rPr lang="en-US" sz="1300" b="1" dirty="0">
                <a:solidFill>
                  <a:srgbClr val="232F3E"/>
                </a:solidFill>
              </a:rPr>
              <a:t>&gt;</a:t>
            </a:r>
            <a:endParaRPr lang="en-US" sz="1300" dirty="0"/>
          </a:p>
        </p:txBody>
      </p:sp>
      <p:sp>
        <p:nvSpPr>
          <p:cNvPr id="24" name="Text 22"/>
          <p:cNvSpPr/>
          <p:nvPr/>
        </p:nvSpPr>
        <p:spPr>
          <a:xfrm>
            <a:off x="1261872" y="4123944"/>
            <a:ext cx="4663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Correlation IDs</a:t>
            </a:r>
            <a:endParaRPr lang="en-US" sz="1200" dirty="0"/>
          </a:p>
        </p:txBody>
      </p:sp>
      <p:sp>
        <p:nvSpPr>
          <p:cNvPr id="25" name="Text 23"/>
          <p:cNvSpPr/>
          <p:nvPr/>
        </p:nvSpPr>
        <p:spPr>
          <a:xfrm>
            <a:off x="1261872" y="4398264"/>
            <a:ext cx="4709160" cy="365760"/>
          </a:xfrm>
          <a:prstGeom prst="rect">
            <a:avLst/>
          </a:prstGeom>
          <a:noFill/>
          <a:ln/>
        </p:spPr>
        <p:txBody>
          <a:bodyPr wrap="square" lIns="0" tIns="0" rIns="0" bIns="0" rtlCol="0" anchor="ctr"/>
          <a:lstStyle/>
          <a:p>
            <a:pPr indent="0" marL="0">
              <a:lnSpc>
                <a:spcPct val="95000"/>
              </a:lnSpc>
              <a:buNone/>
            </a:pPr>
            <a:r>
              <a:rPr lang="en-US" sz="1000" dirty="0">
                <a:solidFill>
                  <a:srgbClr val="9FB0C0"/>
                </a:solidFill>
                <a:latin typeface="Arial" pitchFamily="34" charset="0"/>
                <a:ea typeface="Arial" pitchFamily="34" charset="-122"/>
                <a:cs typeface="Arial" pitchFamily="34" charset="-120"/>
              </a:rPr>
              <a:t>Attached per request, carried into the events it triggers</a:t>
            </a:r>
            <a:endParaRPr lang="en-US" sz="1000" dirty="0"/>
          </a:p>
        </p:txBody>
      </p:sp>
      <p:sp>
        <p:nvSpPr>
          <p:cNvPr id="26" name="Shape 24"/>
          <p:cNvSpPr/>
          <p:nvPr/>
        </p:nvSpPr>
        <p:spPr>
          <a:xfrm>
            <a:off x="914400" y="4791456"/>
            <a:ext cx="237744" cy="237744"/>
          </a:xfrm>
          <a:prstGeom prst="ellipse">
            <a:avLst/>
          </a:prstGeom>
          <a:solidFill>
            <a:srgbClr val="00A1C9"/>
          </a:solidFill>
          <a:ln/>
        </p:spPr>
      </p:sp>
      <p:sp>
        <p:nvSpPr>
          <p:cNvPr id="27" name="Text 25"/>
          <p:cNvSpPr/>
          <p:nvPr/>
        </p:nvSpPr>
        <p:spPr>
          <a:xfrm>
            <a:off x="914400" y="4754880"/>
            <a:ext cx="237744" cy="274320"/>
          </a:xfrm>
          <a:prstGeom prst="rect">
            <a:avLst/>
          </a:prstGeom>
          <a:noFill/>
          <a:ln/>
        </p:spPr>
        <p:txBody>
          <a:bodyPr wrap="square" lIns="0" tIns="0" rIns="0" bIns="0" rtlCol="0" anchor="ctr"/>
          <a:lstStyle/>
          <a:p>
            <a:pPr algn="ctr" indent="0" marL="0">
              <a:buNone/>
            </a:pPr>
            <a:r>
              <a:rPr lang="en-US" sz="1300" b="1" dirty="0">
                <a:solidFill>
                  <a:srgbClr val="232F3E"/>
                </a:solidFill>
              </a:rPr>
              <a:t>&gt;</a:t>
            </a:r>
            <a:endParaRPr lang="en-US" sz="1300" dirty="0"/>
          </a:p>
        </p:txBody>
      </p:sp>
      <p:sp>
        <p:nvSpPr>
          <p:cNvPr id="28" name="Text 26"/>
          <p:cNvSpPr/>
          <p:nvPr/>
        </p:nvSpPr>
        <p:spPr>
          <a:xfrm>
            <a:off x="1261872" y="4773168"/>
            <a:ext cx="4663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Async booking — 202 Accepted</a:t>
            </a:r>
            <a:endParaRPr lang="en-US" sz="1200" dirty="0"/>
          </a:p>
        </p:txBody>
      </p:sp>
      <p:sp>
        <p:nvSpPr>
          <p:cNvPr id="29" name="Text 27"/>
          <p:cNvSpPr/>
          <p:nvPr/>
        </p:nvSpPr>
        <p:spPr>
          <a:xfrm>
            <a:off x="1261872" y="5047488"/>
            <a:ext cx="4709160" cy="365760"/>
          </a:xfrm>
          <a:prstGeom prst="rect">
            <a:avLst/>
          </a:prstGeom>
          <a:noFill/>
          <a:ln/>
        </p:spPr>
        <p:txBody>
          <a:bodyPr wrap="square" lIns="0" tIns="0" rIns="0" bIns="0" rtlCol="0" anchor="ctr"/>
          <a:lstStyle/>
          <a:p>
            <a:pPr indent="0" marL="0">
              <a:lnSpc>
                <a:spcPct val="95000"/>
              </a:lnSpc>
              <a:buNone/>
            </a:pPr>
            <a:r>
              <a:rPr lang="en-US" sz="1000" dirty="0">
                <a:solidFill>
                  <a:srgbClr val="9FB0C0"/>
                </a:solidFill>
                <a:latin typeface="Arial" pitchFamily="34" charset="0"/>
                <a:ea typeface="Arial" pitchFamily="34" charset="-122"/>
                <a:cs typeface="Arial" pitchFamily="34" charset="-120"/>
              </a:rPr>
              <a:t>Booking returns 202; work continues as a saga, client polls status</a:t>
            </a:r>
            <a:endParaRPr lang="en-US" sz="1000" dirty="0"/>
          </a:p>
        </p:txBody>
      </p:sp>
      <p:sp>
        <p:nvSpPr>
          <p:cNvPr id="30" name="Shape 28"/>
          <p:cNvSpPr/>
          <p:nvPr/>
        </p:nvSpPr>
        <p:spPr>
          <a:xfrm>
            <a:off x="914400" y="5440680"/>
            <a:ext cx="237744" cy="237744"/>
          </a:xfrm>
          <a:prstGeom prst="ellipse">
            <a:avLst/>
          </a:prstGeom>
          <a:solidFill>
            <a:srgbClr val="00A1C9"/>
          </a:solidFill>
          <a:ln/>
        </p:spPr>
      </p:sp>
      <p:sp>
        <p:nvSpPr>
          <p:cNvPr id="31" name="Text 29"/>
          <p:cNvSpPr/>
          <p:nvPr/>
        </p:nvSpPr>
        <p:spPr>
          <a:xfrm>
            <a:off x="914400" y="5404104"/>
            <a:ext cx="237744" cy="274320"/>
          </a:xfrm>
          <a:prstGeom prst="rect">
            <a:avLst/>
          </a:prstGeom>
          <a:noFill/>
          <a:ln/>
        </p:spPr>
        <p:txBody>
          <a:bodyPr wrap="square" lIns="0" tIns="0" rIns="0" bIns="0" rtlCol="0" anchor="ctr"/>
          <a:lstStyle/>
          <a:p>
            <a:pPr algn="ctr" indent="0" marL="0">
              <a:buNone/>
            </a:pPr>
            <a:r>
              <a:rPr lang="en-US" sz="1300" b="1" dirty="0">
                <a:solidFill>
                  <a:srgbClr val="232F3E"/>
                </a:solidFill>
              </a:rPr>
              <a:t>&gt;</a:t>
            </a:r>
            <a:endParaRPr lang="en-US" sz="1300" dirty="0"/>
          </a:p>
        </p:txBody>
      </p:sp>
      <p:sp>
        <p:nvSpPr>
          <p:cNvPr id="32" name="Text 30"/>
          <p:cNvSpPr/>
          <p:nvPr/>
        </p:nvSpPr>
        <p:spPr>
          <a:xfrm>
            <a:off x="1261872" y="5422392"/>
            <a:ext cx="4663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Swagger / OpenAPI</a:t>
            </a:r>
            <a:endParaRPr lang="en-US" sz="1200" dirty="0"/>
          </a:p>
        </p:txBody>
      </p:sp>
      <p:sp>
        <p:nvSpPr>
          <p:cNvPr id="33" name="Text 31"/>
          <p:cNvSpPr/>
          <p:nvPr/>
        </p:nvSpPr>
        <p:spPr>
          <a:xfrm>
            <a:off x="1261872" y="5696712"/>
            <a:ext cx="4709160" cy="365760"/>
          </a:xfrm>
          <a:prstGeom prst="rect">
            <a:avLst/>
          </a:prstGeom>
          <a:noFill/>
          <a:ln/>
        </p:spPr>
        <p:txBody>
          <a:bodyPr wrap="square" lIns="0" tIns="0" rIns="0" bIns="0" rtlCol="0" anchor="ctr"/>
          <a:lstStyle/>
          <a:p>
            <a:pPr indent="0" marL="0">
              <a:lnSpc>
                <a:spcPct val="95000"/>
              </a:lnSpc>
              <a:buNone/>
            </a:pPr>
            <a:r>
              <a:rPr lang="en-US" sz="1000" dirty="0">
                <a:solidFill>
                  <a:srgbClr val="9FB0C0"/>
                </a:solidFill>
                <a:latin typeface="Arial" pitchFamily="34" charset="0"/>
                <a:ea typeface="Arial" pitchFamily="34" charset="-122"/>
                <a:cs typeface="Arial" pitchFamily="34" charset="-120"/>
              </a:rPr>
              <a:t>Interactive docs at /docs, raw spec at /docs/json on every service</a:t>
            </a:r>
            <a:endParaRPr lang="en-US" sz="1000" dirty="0"/>
          </a:p>
        </p:txBody>
      </p:sp>
      <p:sp>
        <p:nvSpPr>
          <p:cNvPr id="34" name="Shape 32"/>
          <p:cNvSpPr/>
          <p:nvPr/>
        </p:nvSpPr>
        <p:spPr>
          <a:xfrm>
            <a:off x="6355080" y="1600200"/>
            <a:ext cx="5120640" cy="4526280"/>
          </a:xfrm>
          <a:prstGeom prst="roundRect">
            <a:avLst>
              <a:gd name="adj" fmla="val 1616"/>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35" name="Text 33"/>
          <p:cNvSpPr/>
          <p:nvPr/>
        </p:nvSpPr>
        <p:spPr>
          <a:xfrm>
            <a:off x="6565392" y="1755648"/>
            <a:ext cx="4754880" cy="320040"/>
          </a:xfrm>
          <a:prstGeom prst="rect">
            <a:avLst/>
          </a:prstGeom>
          <a:noFill/>
          <a:ln/>
        </p:spPr>
        <p:txBody>
          <a:bodyPr wrap="square" rtlCol="0" anchor="ctr"/>
          <a:lstStyle/>
          <a:p>
            <a:pPr indent="0" marL="0">
              <a:buNone/>
            </a:pPr>
            <a:r>
              <a:rPr lang="en-US" sz="1400" b="1" dirty="0">
                <a:solidFill>
                  <a:srgbClr val="00A1C9"/>
                </a:solidFill>
                <a:latin typeface="Arial" pitchFamily="34" charset="0"/>
                <a:ea typeface="Arial" pitchFamily="34" charset="-122"/>
                <a:cs typeface="Arial" pitchFamily="34" charset="-120"/>
              </a:rPr>
              <a:t>AWS API Gateway — the front door</a:t>
            </a:r>
            <a:endParaRPr lang="en-US" sz="1400" dirty="0"/>
          </a:p>
        </p:txBody>
      </p:sp>
      <p:sp>
        <p:nvSpPr>
          <p:cNvPr id="36" name="Text 34"/>
          <p:cNvSpPr/>
          <p:nvPr/>
        </p:nvSpPr>
        <p:spPr>
          <a:xfrm>
            <a:off x="6565392" y="2194560"/>
            <a:ext cx="4754880" cy="1280160"/>
          </a:xfrm>
          <a:prstGeom prst="rect">
            <a:avLst/>
          </a:prstGeom>
          <a:noFill/>
          <a:ln/>
        </p:spPr>
        <p:txBody>
          <a:bodyPr wrap="square" rtlCol="0" anchor="ctr"/>
          <a:lstStyle/>
          <a:p>
            <a:pPr marL="342900" indent="-342900">
              <a:lnSpc>
                <a:spcPct val="110000"/>
              </a:lnSpc>
              <a:buSzPct val="100000"/>
              <a:buChar char="•"/>
            </a:pPr>
            <a:r>
              <a:rPr lang="en-US" sz="1150" dirty="0">
                <a:solidFill>
                  <a:srgbClr val="E6ECF2"/>
                </a:solidFill>
                <a:latin typeface="Arial" pitchFamily="34" charset="0"/>
                <a:ea typeface="Arial" pitchFamily="34" charset="-122"/>
                <a:cs typeface="Arial" pitchFamily="34" charset="-120"/>
              </a:rPr>
              <a:t>HTTP + WebSocket APIs provisioned via Terraform</a:t>
            </a:r>
            <a:endParaRPr lang="en-US" sz="1150" dirty="0"/>
          </a:p>
          <a:p>
            <a:pPr marL="342900" indent="-342900">
              <a:lnSpc>
                <a:spcPct val="110000"/>
              </a:lnSpc>
              <a:buSzPct val="100000"/>
              <a:buChar char="•"/>
            </a:pPr>
            <a:r>
              <a:rPr lang="en-US" sz="1150" dirty="0">
                <a:solidFill>
                  <a:srgbClr val="E6ECF2"/>
                </a:solidFill>
                <a:latin typeface="Arial" pitchFamily="34" charset="0"/>
                <a:ea typeface="Arial" pitchFamily="34" charset="-122"/>
                <a:cs typeface="Arial" pitchFamily="34" charset="-120"/>
              </a:rPr>
              <a:t>Cognito JWT authorizer; VPC Link to the ALB in EKS</a:t>
            </a:r>
            <a:endParaRPr lang="en-US" sz="1150" dirty="0"/>
          </a:p>
          <a:p>
            <a:pPr marL="342900" indent="-342900">
              <a:lnSpc>
                <a:spcPct val="110000"/>
              </a:lnSpc>
              <a:buSzPct val="100000"/>
              <a:buChar char="•"/>
            </a:pPr>
            <a:r>
              <a:rPr lang="en-US" sz="1150" dirty="0">
                <a:solidFill>
                  <a:srgbClr val="E6ECF2"/>
                </a:solidFill>
                <a:latin typeface="Arial" pitchFamily="34" charset="0"/>
                <a:ea typeface="Arial" pitchFamily="34" charset="-122"/>
                <a:cs typeface="Arial" pitchFamily="34" charset="-120"/>
              </a:rPr>
              <a:t>Custom domain via Route 53, TLS via ACM</a:t>
            </a:r>
            <a:endParaRPr lang="en-US" sz="1150" dirty="0"/>
          </a:p>
        </p:txBody>
      </p:sp>
      <p:sp>
        <p:nvSpPr>
          <p:cNvPr id="37" name="Shape 35"/>
          <p:cNvSpPr/>
          <p:nvPr/>
        </p:nvSpPr>
        <p:spPr>
          <a:xfrm>
            <a:off x="6565392" y="3611880"/>
            <a:ext cx="4709160" cy="2331720"/>
          </a:xfrm>
          <a:prstGeom prst="roundRect">
            <a:avLst>
              <a:gd name="adj" fmla="val 3137"/>
            </a:avLst>
          </a:prstGeom>
          <a:solidFill>
            <a:srgbClr val="1A232E"/>
          </a:solidFill>
          <a:ln w="12700">
            <a:solidFill>
              <a:srgbClr val="FF9900"/>
            </a:solidFill>
            <a:prstDash val="solid"/>
          </a:ln>
        </p:spPr>
      </p:sp>
      <p:sp>
        <p:nvSpPr>
          <p:cNvPr id="38" name="Text 36"/>
          <p:cNvSpPr/>
          <p:nvPr/>
        </p:nvSpPr>
        <p:spPr>
          <a:xfrm>
            <a:off x="6766560" y="3767328"/>
            <a:ext cx="4389120" cy="320040"/>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Implementation status — full transparency</a:t>
            </a:r>
            <a:endParaRPr lang="en-US" sz="1200" dirty="0"/>
          </a:p>
        </p:txBody>
      </p:sp>
      <p:sp>
        <p:nvSpPr>
          <p:cNvPr id="39" name="Text 37"/>
          <p:cNvSpPr/>
          <p:nvPr/>
        </p:nvSpPr>
        <p:spPr>
          <a:xfrm>
            <a:off x="6766560" y="4114800"/>
            <a:ext cx="4434840" cy="1828800"/>
          </a:xfrm>
          <a:prstGeom prst="rect">
            <a:avLst/>
          </a:prstGeom>
          <a:noFill/>
          <a:ln/>
        </p:spPr>
        <p:txBody>
          <a:bodyPr wrap="square" rtlCol="0" anchor="ctr"/>
          <a:lstStyle/>
          <a:p>
            <a:pPr marL="342900" indent="-342900">
              <a:lnSpc>
                <a:spcPct val="105000"/>
              </a:lnSpc>
              <a:buSzPct val="100000"/>
              <a:buChar char="•"/>
            </a:pPr>
            <a:r>
              <a:rPr lang="en-US" sz="1050" dirty="0">
                <a:solidFill>
                  <a:srgbClr val="9FB0C0"/>
                </a:solidFill>
                <a:latin typeface="Arial" pitchFamily="34" charset="0"/>
                <a:ea typeface="Arial" pitchFamily="34" charset="-122"/>
                <a:cs typeface="Arial" pitchFamily="34" charset="-120"/>
              </a:rPr>
              <a:t>Gateway + Cognito authorizer are fully provisioned as infrastructure.</a:t>
            </a:r>
            <a:endParaRPr lang="en-US" sz="1050" dirty="0"/>
          </a:p>
          <a:p>
            <a:pPr marL="342900" indent="-342900">
              <a:lnSpc>
                <a:spcPct val="105000"/>
              </a:lnSpc>
              <a:buSzPct val="100000"/>
              <a:buChar char="•"/>
            </a:pPr>
            <a:r>
              <a:rPr lang="en-US" sz="1050" dirty="0">
                <a:solidFill>
                  <a:srgbClr val="9FB0C0"/>
                </a:solidFill>
                <a:latin typeface="Arial" pitchFamily="34" charset="0"/>
                <a:ea typeface="Arial" pitchFamily="34" charset="-122"/>
                <a:cs typeface="Arial" pitchFamily="34" charset="-120"/>
              </a:rPr>
              <a:t>Running app currently authenticates with tokens issued by the identity service (identity forwarded via headers).</a:t>
            </a:r>
            <a:endParaRPr lang="en-US" sz="1050" dirty="0"/>
          </a:p>
          <a:p>
            <a:pPr marL="342900" indent="-342900">
              <a:lnSpc>
                <a:spcPct val="105000"/>
              </a:lnSpc>
              <a:buSzPct val="100000"/>
              <a:buChar char="•"/>
            </a:pPr>
            <a:r>
              <a:rPr lang="en-US" sz="1050" dirty="0">
                <a:solidFill>
                  <a:srgbClr val="9FB0C0"/>
                </a:solidFill>
                <a:latin typeface="Arial" pitchFamily="34" charset="0"/>
                <a:ea typeface="Arial" pitchFamily="34" charset="-122"/>
                <a:cs typeface="Arial" pitchFamily="34" charset="-120"/>
              </a:rPr>
              <a:t>Edge Cognito auth + WebSocket routes are provisioned but not yet wired to app logic — tracked as roadmap.</a:t>
            </a:r>
            <a:endParaRPr lang="en-US" sz="1050" dirty="0"/>
          </a:p>
        </p:txBody>
      </p:sp>
      <p:sp>
        <p:nvSpPr>
          <p:cNvPr id="40" name="Text 38"/>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41" name="Text 39"/>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02 — EVENT-DRIVEN ARCHITECTURE</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Kafka Choreography &amp; the Booking Saga</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Impl 40%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Shape 6"/>
          <p:cNvSpPr/>
          <p:nvPr/>
        </p:nvSpPr>
        <p:spPr>
          <a:xfrm>
            <a:off x="713232" y="1600200"/>
            <a:ext cx="3840480" cy="4526280"/>
          </a:xfrm>
          <a:prstGeom prst="roundRect">
            <a:avLst>
              <a:gd name="adj" fmla="val 1905"/>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914400" y="1755648"/>
            <a:ext cx="3566160" cy="320040"/>
          </a:xfrm>
          <a:prstGeom prst="rect">
            <a:avLst/>
          </a:prstGeom>
          <a:noFill/>
          <a:ln/>
        </p:spPr>
        <p:txBody>
          <a:bodyPr wrap="square" rtlCol="0" anchor="ctr"/>
          <a:lstStyle/>
          <a:p>
            <a:pPr indent="0" marL="0">
              <a:buNone/>
            </a:pPr>
            <a:r>
              <a:rPr lang="en-US" sz="1350" b="1" dirty="0">
                <a:solidFill>
                  <a:srgbClr val="FF9900"/>
                </a:solidFill>
                <a:latin typeface="Arial" pitchFamily="34" charset="0"/>
                <a:ea typeface="Arial" pitchFamily="34" charset="-122"/>
                <a:cs typeface="Arial" pitchFamily="34" charset="-120"/>
              </a:rPr>
              <a:t>Choreography, not orchestration</a:t>
            </a:r>
            <a:endParaRPr lang="en-US" sz="1350" dirty="0"/>
          </a:p>
        </p:txBody>
      </p:sp>
      <p:sp>
        <p:nvSpPr>
          <p:cNvPr id="10" name="Text 8"/>
          <p:cNvSpPr/>
          <p:nvPr/>
        </p:nvSpPr>
        <p:spPr>
          <a:xfrm>
            <a:off x="914400" y="2194560"/>
            <a:ext cx="3520440" cy="3749040"/>
          </a:xfrm>
          <a:prstGeom prst="rect">
            <a:avLst/>
          </a:prstGeom>
          <a:noFill/>
          <a:ln/>
        </p:spPr>
        <p:txBody>
          <a:bodyPr wrap="square" rtlCol="0" anchor="ctr"/>
          <a:lstStyle/>
          <a:p>
            <a:pPr marL="342900" indent="-342900">
              <a:lnSpc>
                <a:spcPct val="112000"/>
              </a:lnSpc>
              <a:buSzPct val="100000"/>
              <a:buChar char="•"/>
            </a:pPr>
            <a:r>
              <a:rPr lang="en-US" sz="1100" dirty="0">
                <a:solidFill>
                  <a:srgbClr val="E6ECF2"/>
                </a:solidFill>
                <a:latin typeface="Arial" pitchFamily="34" charset="0"/>
                <a:ea typeface="Arial" pitchFamily="34" charset="-122"/>
                <a:cs typeface="Arial" pitchFamily="34" charset="-120"/>
              </a:rPr>
              <a:t>Each service publishes facts and subscribes to those it cares about</a:t>
            </a:r>
            <a:endParaRPr lang="en-US" sz="1100" dirty="0"/>
          </a:p>
          <a:p>
            <a:pPr marL="342900" indent="-342900">
              <a:lnSpc>
                <a:spcPct val="112000"/>
              </a:lnSpc>
              <a:buSzPct val="100000"/>
              <a:buChar char="•"/>
            </a:pPr>
            <a:r>
              <a:rPr lang="en-US" sz="1100" dirty="0">
                <a:solidFill>
                  <a:srgbClr val="E6ECF2"/>
                </a:solidFill>
                <a:latin typeface="Arial" pitchFamily="34" charset="0"/>
                <a:ea typeface="Arial" pitchFamily="34" charset="-122"/>
                <a:cs typeface="Arial" pitchFamily="34" charset="-120"/>
              </a:rPr>
              <a:t>No central orchestrator -&gt; no single point of failure</a:t>
            </a:r>
            <a:endParaRPr lang="en-US" sz="1100" dirty="0"/>
          </a:p>
          <a:p>
            <a:pPr marL="342900" indent="-342900">
              <a:lnSpc>
                <a:spcPct val="112000"/>
              </a:lnSpc>
              <a:buSzPct val="100000"/>
              <a:buChar char="•"/>
            </a:pPr>
            <a:r>
              <a:rPr lang="en-US" sz="1100" dirty="0">
                <a:solidFill>
                  <a:srgbClr val="E6ECF2"/>
                </a:solidFill>
                <a:latin typeface="Arial" pitchFamily="34" charset="0"/>
                <a:ea typeface="Arial" pitchFamily="34" charset="-122"/>
                <a:cs typeface="Arial" pitchFamily="34" charset="-120"/>
              </a:rPr>
              <a:t>16 domain topics + a dead-letter queue</a:t>
            </a:r>
            <a:endParaRPr lang="en-US" sz="1100" dirty="0"/>
          </a:p>
          <a:p>
            <a:pPr marL="342900" indent="-342900">
              <a:lnSpc>
                <a:spcPct val="112000"/>
              </a:lnSpc>
              <a:buSzPct val="100000"/>
              <a:buChar char="•"/>
            </a:pPr>
            <a:r>
              <a:rPr lang="en-US" sz="1100" dirty="0">
                <a:solidFill>
                  <a:srgbClr val="E6ECF2"/>
                </a:solidFill>
                <a:latin typeface="Arial" pitchFamily="34" charset="0"/>
                <a:ea typeface="Arial" pitchFamily="34" charset="-122"/>
                <a:cs typeface="Arial" pitchFamily="34" charset="-120"/>
              </a:rPr>
              <a:t>Shared envelope validated with Zod — contract agreed at compile time, malformed messages rejected at runtime</a:t>
            </a:r>
            <a:endParaRPr lang="en-US" sz="1100" dirty="0"/>
          </a:p>
          <a:p>
            <a:pPr marL="342900" indent="-342900">
              <a:lnSpc>
                <a:spcPct val="112000"/>
              </a:lnSpc>
              <a:buSzPct val="100000"/>
              <a:buChar char="•"/>
            </a:pPr>
            <a:r>
              <a:rPr lang="en-US" sz="1100" dirty="0">
                <a:solidFill>
                  <a:srgbClr val="E6ECF2"/>
                </a:solidFill>
                <a:latin typeface="Arial" pitchFamily="34" charset="0"/>
                <a:ea typeface="Arial" pitchFamily="34" charset="-122"/>
                <a:cs typeface="Arial" pitchFamily="34" charset="-120"/>
              </a:rPr>
              <a:t>Topics created idempotently at start-up (MSK auto-create disabled)</a:t>
            </a:r>
            <a:endParaRPr lang="en-US" sz="1100" dirty="0"/>
          </a:p>
        </p:txBody>
      </p:sp>
      <p:sp>
        <p:nvSpPr>
          <p:cNvPr id="11" name="Text 9"/>
          <p:cNvSpPr/>
          <p:nvPr/>
        </p:nvSpPr>
        <p:spPr>
          <a:xfrm>
            <a:off x="4754880" y="1737360"/>
            <a:ext cx="6583680" cy="320040"/>
          </a:xfrm>
          <a:prstGeom prst="rect">
            <a:avLst/>
          </a:prstGeom>
          <a:noFill/>
          <a:ln/>
        </p:spPr>
        <p:txBody>
          <a:bodyPr wrap="square" rtlCol="0" anchor="ctr"/>
          <a:lstStyle/>
          <a:p>
            <a:pPr indent="0" marL="0">
              <a:buNone/>
            </a:pPr>
            <a:r>
              <a:rPr lang="en-US" sz="1350" b="1" dirty="0">
                <a:solidFill>
                  <a:srgbClr val="00A1C9"/>
                </a:solidFill>
                <a:latin typeface="Arial" pitchFamily="34" charset="0"/>
                <a:ea typeface="Arial" pitchFamily="34" charset="-122"/>
                <a:cs typeface="Arial" pitchFamily="34" charset="-120"/>
              </a:rPr>
              <a:t>Booking saga — Kafka event flow</a:t>
            </a:r>
            <a:endParaRPr lang="en-US" sz="1350" dirty="0"/>
          </a:p>
        </p:txBody>
      </p:sp>
      <p:sp>
        <p:nvSpPr>
          <p:cNvPr id="12" name="Shape 10"/>
          <p:cNvSpPr/>
          <p:nvPr/>
        </p:nvSpPr>
        <p:spPr>
          <a:xfrm>
            <a:off x="4754880" y="2194560"/>
            <a:ext cx="6720840" cy="512064"/>
          </a:xfrm>
          <a:prstGeom prst="roundRect">
            <a:avLst>
              <a:gd name="adj" fmla="val 14286"/>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3" name="Shape 11"/>
          <p:cNvSpPr/>
          <p:nvPr/>
        </p:nvSpPr>
        <p:spPr>
          <a:xfrm>
            <a:off x="4882896" y="2295144"/>
            <a:ext cx="310896" cy="310896"/>
          </a:xfrm>
          <a:prstGeom prst="ellipse">
            <a:avLst/>
          </a:prstGeom>
          <a:solidFill>
            <a:srgbClr val="4DA6FF"/>
          </a:solidFill>
          <a:ln/>
        </p:spPr>
      </p:sp>
      <p:sp>
        <p:nvSpPr>
          <p:cNvPr id="14" name="Text 12"/>
          <p:cNvSpPr/>
          <p:nvPr/>
        </p:nvSpPr>
        <p:spPr>
          <a:xfrm>
            <a:off x="4882896" y="2295144"/>
            <a:ext cx="310896" cy="310896"/>
          </a:xfrm>
          <a:prstGeom prst="rect">
            <a:avLst/>
          </a:prstGeom>
          <a:noFill/>
          <a:ln/>
        </p:spPr>
        <p:txBody>
          <a:bodyPr wrap="square" lIns="0" tIns="0" rIns="0" bIns="0" rtlCol="0" anchor="ctr"/>
          <a:lstStyle/>
          <a:p>
            <a:pPr algn="ctr" indent="0" marL="0">
              <a:buNone/>
            </a:pPr>
            <a:r>
              <a:rPr lang="en-US" sz="1100" b="1" dirty="0">
                <a:solidFill>
                  <a:srgbClr val="232F3E"/>
                </a:solidFill>
              </a:rPr>
              <a:t>1</a:t>
            </a:r>
            <a:endParaRPr lang="en-US" sz="1100" dirty="0"/>
          </a:p>
        </p:txBody>
      </p:sp>
      <p:sp>
        <p:nvSpPr>
          <p:cNvPr id="15" name="Text 13"/>
          <p:cNvSpPr/>
          <p:nvPr/>
        </p:nvSpPr>
        <p:spPr>
          <a:xfrm>
            <a:off x="5349240" y="2194560"/>
            <a:ext cx="4114800" cy="51206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POST /bookings -&gt; 202</a:t>
            </a:r>
            <a:endParaRPr lang="en-US" sz="1200" dirty="0"/>
          </a:p>
        </p:txBody>
      </p:sp>
      <p:sp>
        <p:nvSpPr>
          <p:cNvPr id="16" name="Text 14"/>
          <p:cNvSpPr/>
          <p:nvPr/>
        </p:nvSpPr>
        <p:spPr>
          <a:xfrm>
            <a:off x="9418320" y="2194560"/>
            <a:ext cx="2011680" cy="512064"/>
          </a:xfrm>
          <a:prstGeom prst="rect">
            <a:avLst/>
          </a:prstGeom>
          <a:noFill/>
          <a:ln/>
        </p:spPr>
        <p:txBody>
          <a:bodyPr wrap="square" lIns="0" tIns="0" rIns="0" bIns="0" rtlCol="0" anchor="ctr"/>
          <a:lstStyle/>
          <a:p>
            <a:pPr algn="r" indent="0" marL="0">
              <a:buNone/>
            </a:pPr>
            <a:r>
              <a:rPr lang="en-US" sz="950" dirty="0">
                <a:solidFill>
                  <a:srgbClr val="9FB0C0"/>
                </a:solidFill>
                <a:latin typeface="Arial" pitchFamily="34" charset="0"/>
                <a:ea typeface="Arial" pitchFamily="34" charset="-122"/>
                <a:cs typeface="Arial" pitchFamily="34" charset="-120"/>
              </a:rPr>
              <a:t>booking</a:t>
            </a:r>
            <a:endParaRPr lang="en-US" sz="950" dirty="0"/>
          </a:p>
        </p:txBody>
      </p:sp>
      <p:sp>
        <p:nvSpPr>
          <p:cNvPr id="17" name="Shape 15"/>
          <p:cNvSpPr/>
          <p:nvPr/>
        </p:nvSpPr>
        <p:spPr>
          <a:xfrm>
            <a:off x="4754880" y="2798064"/>
            <a:ext cx="6720840" cy="512064"/>
          </a:xfrm>
          <a:prstGeom prst="roundRect">
            <a:avLst>
              <a:gd name="adj" fmla="val 14286"/>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8" name="Shape 16"/>
          <p:cNvSpPr/>
          <p:nvPr/>
        </p:nvSpPr>
        <p:spPr>
          <a:xfrm>
            <a:off x="4882896" y="2898648"/>
            <a:ext cx="310896" cy="310896"/>
          </a:xfrm>
          <a:prstGeom prst="ellipse">
            <a:avLst/>
          </a:prstGeom>
          <a:solidFill>
            <a:srgbClr val="00A1C9"/>
          </a:solidFill>
          <a:ln/>
        </p:spPr>
      </p:sp>
      <p:sp>
        <p:nvSpPr>
          <p:cNvPr id="19" name="Text 17"/>
          <p:cNvSpPr/>
          <p:nvPr/>
        </p:nvSpPr>
        <p:spPr>
          <a:xfrm>
            <a:off x="4882896" y="2898648"/>
            <a:ext cx="310896" cy="310896"/>
          </a:xfrm>
          <a:prstGeom prst="rect">
            <a:avLst/>
          </a:prstGeom>
          <a:noFill/>
          <a:ln/>
        </p:spPr>
        <p:txBody>
          <a:bodyPr wrap="square" lIns="0" tIns="0" rIns="0" bIns="0" rtlCol="0" anchor="ctr"/>
          <a:lstStyle/>
          <a:p>
            <a:pPr algn="ctr" indent="0" marL="0">
              <a:buNone/>
            </a:pPr>
            <a:r>
              <a:rPr lang="en-US" sz="1100" b="1" dirty="0">
                <a:solidFill>
                  <a:srgbClr val="232F3E"/>
                </a:solidFill>
              </a:rPr>
              <a:t>2</a:t>
            </a:r>
            <a:endParaRPr lang="en-US" sz="1100" dirty="0"/>
          </a:p>
        </p:txBody>
      </p:sp>
      <p:sp>
        <p:nvSpPr>
          <p:cNvPr id="20" name="Text 18"/>
          <p:cNvSpPr/>
          <p:nvPr/>
        </p:nvSpPr>
        <p:spPr>
          <a:xfrm>
            <a:off x="5349240" y="2798064"/>
            <a:ext cx="4114800" cy="51206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booking.created -&gt; lock seat</a:t>
            </a:r>
            <a:endParaRPr lang="en-US" sz="1200" dirty="0"/>
          </a:p>
        </p:txBody>
      </p:sp>
      <p:sp>
        <p:nvSpPr>
          <p:cNvPr id="21" name="Text 19"/>
          <p:cNvSpPr/>
          <p:nvPr/>
        </p:nvSpPr>
        <p:spPr>
          <a:xfrm>
            <a:off x="9418320" y="2798064"/>
            <a:ext cx="2011680" cy="512064"/>
          </a:xfrm>
          <a:prstGeom prst="rect">
            <a:avLst/>
          </a:prstGeom>
          <a:noFill/>
          <a:ln/>
        </p:spPr>
        <p:txBody>
          <a:bodyPr wrap="square" lIns="0" tIns="0" rIns="0" bIns="0" rtlCol="0" anchor="ctr"/>
          <a:lstStyle/>
          <a:p>
            <a:pPr algn="r" indent="0" marL="0">
              <a:buNone/>
            </a:pPr>
            <a:r>
              <a:rPr lang="en-US" sz="950" dirty="0">
                <a:solidFill>
                  <a:srgbClr val="9FB0C0"/>
                </a:solidFill>
                <a:latin typeface="Arial" pitchFamily="34" charset="0"/>
                <a:ea typeface="Arial" pitchFamily="34" charset="-122"/>
                <a:cs typeface="Arial" pitchFamily="34" charset="-120"/>
              </a:rPr>
              <a:t>flight</a:t>
            </a:r>
            <a:endParaRPr lang="en-US" sz="950" dirty="0"/>
          </a:p>
        </p:txBody>
      </p:sp>
      <p:sp>
        <p:nvSpPr>
          <p:cNvPr id="22" name="Shape 20"/>
          <p:cNvSpPr/>
          <p:nvPr/>
        </p:nvSpPr>
        <p:spPr>
          <a:xfrm>
            <a:off x="4754880" y="3401568"/>
            <a:ext cx="6720840" cy="512064"/>
          </a:xfrm>
          <a:prstGeom prst="roundRect">
            <a:avLst>
              <a:gd name="adj" fmla="val 14286"/>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3" name="Shape 21"/>
          <p:cNvSpPr/>
          <p:nvPr/>
        </p:nvSpPr>
        <p:spPr>
          <a:xfrm>
            <a:off x="4882896" y="3502152"/>
            <a:ext cx="310896" cy="310896"/>
          </a:xfrm>
          <a:prstGeom prst="ellipse">
            <a:avLst/>
          </a:prstGeom>
          <a:solidFill>
            <a:srgbClr val="00A1C9"/>
          </a:solidFill>
          <a:ln/>
        </p:spPr>
      </p:sp>
      <p:sp>
        <p:nvSpPr>
          <p:cNvPr id="24" name="Text 22"/>
          <p:cNvSpPr/>
          <p:nvPr/>
        </p:nvSpPr>
        <p:spPr>
          <a:xfrm>
            <a:off x="4882896" y="3502152"/>
            <a:ext cx="310896" cy="310896"/>
          </a:xfrm>
          <a:prstGeom prst="rect">
            <a:avLst/>
          </a:prstGeom>
          <a:noFill/>
          <a:ln/>
        </p:spPr>
        <p:txBody>
          <a:bodyPr wrap="square" lIns="0" tIns="0" rIns="0" bIns="0" rtlCol="0" anchor="ctr"/>
          <a:lstStyle/>
          <a:p>
            <a:pPr algn="ctr" indent="0" marL="0">
              <a:buNone/>
            </a:pPr>
            <a:r>
              <a:rPr lang="en-US" sz="1100" b="1" dirty="0">
                <a:solidFill>
                  <a:srgbClr val="232F3E"/>
                </a:solidFill>
              </a:rPr>
              <a:t>3</a:t>
            </a:r>
            <a:endParaRPr lang="en-US" sz="1100" dirty="0"/>
          </a:p>
        </p:txBody>
      </p:sp>
      <p:sp>
        <p:nvSpPr>
          <p:cNvPr id="25" name="Text 23"/>
          <p:cNvSpPr/>
          <p:nvPr/>
        </p:nvSpPr>
        <p:spPr>
          <a:xfrm>
            <a:off x="5349240" y="3401568"/>
            <a:ext cx="4114800" cy="51206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seat-lock.confirmed</a:t>
            </a:r>
            <a:endParaRPr lang="en-US" sz="1200" dirty="0"/>
          </a:p>
        </p:txBody>
      </p:sp>
      <p:sp>
        <p:nvSpPr>
          <p:cNvPr id="26" name="Text 24"/>
          <p:cNvSpPr/>
          <p:nvPr/>
        </p:nvSpPr>
        <p:spPr>
          <a:xfrm>
            <a:off x="9418320" y="3401568"/>
            <a:ext cx="2011680" cy="512064"/>
          </a:xfrm>
          <a:prstGeom prst="rect">
            <a:avLst/>
          </a:prstGeom>
          <a:noFill/>
          <a:ln/>
        </p:spPr>
        <p:txBody>
          <a:bodyPr wrap="square" lIns="0" tIns="0" rIns="0" bIns="0" rtlCol="0" anchor="ctr"/>
          <a:lstStyle/>
          <a:p>
            <a:pPr algn="r" indent="0" marL="0">
              <a:buNone/>
            </a:pPr>
            <a:r>
              <a:rPr lang="en-US" sz="950" dirty="0">
                <a:solidFill>
                  <a:srgbClr val="9FB0C0"/>
                </a:solidFill>
                <a:latin typeface="Arial" pitchFamily="34" charset="0"/>
                <a:ea typeface="Arial" pitchFamily="34" charset="-122"/>
                <a:cs typeface="Arial" pitchFamily="34" charset="-120"/>
              </a:rPr>
              <a:t>flight -&gt; booking</a:t>
            </a:r>
            <a:endParaRPr lang="en-US" sz="950" dirty="0"/>
          </a:p>
        </p:txBody>
      </p:sp>
      <p:sp>
        <p:nvSpPr>
          <p:cNvPr id="27" name="Shape 25"/>
          <p:cNvSpPr/>
          <p:nvPr/>
        </p:nvSpPr>
        <p:spPr>
          <a:xfrm>
            <a:off x="4754880" y="4005072"/>
            <a:ext cx="6720840" cy="512064"/>
          </a:xfrm>
          <a:prstGeom prst="roundRect">
            <a:avLst>
              <a:gd name="adj" fmla="val 14286"/>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8" name="Shape 26"/>
          <p:cNvSpPr/>
          <p:nvPr/>
        </p:nvSpPr>
        <p:spPr>
          <a:xfrm>
            <a:off x="4882896" y="4105656"/>
            <a:ext cx="310896" cy="310896"/>
          </a:xfrm>
          <a:prstGeom prst="ellipse">
            <a:avLst/>
          </a:prstGeom>
          <a:solidFill>
            <a:srgbClr val="FF9900"/>
          </a:solidFill>
          <a:ln/>
        </p:spPr>
      </p:sp>
      <p:sp>
        <p:nvSpPr>
          <p:cNvPr id="29" name="Text 27"/>
          <p:cNvSpPr/>
          <p:nvPr/>
        </p:nvSpPr>
        <p:spPr>
          <a:xfrm>
            <a:off x="4882896" y="4105656"/>
            <a:ext cx="310896" cy="310896"/>
          </a:xfrm>
          <a:prstGeom prst="rect">
            <a:avLst/>
          </a:prstGeom>
          <a:noFill/>
          <a:ln/>
        </p:spPr>
        <p:txBody>
          <a:bodyPr wrap="square" lIns="0" tIns="0" rIns="0" bIns="0" rtlCol="0" anchor="ctr"/>
          <a:lstStyle/>
          <a:p>
            <a:pPr algn="ctr" indent="0" marL="0">
              <a:buNone/>
            </a:pPr>
            <a:r>
              <a:rPr lang="en-US" sz="1100" b="1" dirty="0">
                <a:solidFill>
                  <a:srgbClr val="232F3E"/>
                </a:solidFill>
              </a:rPr>
              <a:t>4</a:t>
            </a:r>
            <a:endParaRPr lang="en-US" sz="1100" dirty="0"/>
          </a:p>
        </p:txBody>
      </p:sp>
      <p:sp>
        <p:nvSpPr>
          <p:cNvPr id="30" name="Text 28"/>
          <p:cNvSpPr/>
          <p:nvPr/>
        </p:nvSpPr>
        <p:spPr>
          <a:xfrm>
            <a:off x="5349240" y="4005072"/>
            <a:ext cx="4114800" cy="51206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booking.payment-initiated</a:t>
            </a:r>
            <a:endParaRPr lang="en-US" sz="1200" dirty="0"/>
          </a:p>
        </p:txBody>
      </p:sp>
      <p:sp>
        <p:nvSpPr>
          <p:cNvPr id="31" name="Text 29"/>
          <p:cNvSpPr/>
          <p:nvPr/>
        </p:nvSpPr>
        <p:spPr>
          <a:xfrm>
            <a:off x="9418320" y="4005072"/>
            <a:ext cx="2011680" cy="512064"/>
          </a:xfrm>
          <a:prstGeom prst="rect">
            <a:avLst/>
          </a:prstGeom>
          <a:noFill/>
          <a:ln/>
        </p:spPr>
        <p:txBody>
          <a:bodyPr wrap="square" lIns="0" tIns="0" rIns="0" bIns="0" rtlCol="0" anchor="ctr"/>
          <a:lstStyle/>
          <a:p>
            <a:pPr algn="r" indent="0" marL="0">
              <a:buNone/>
            </a:pPr>
            <a:r>
              <a:rPr lang="en-US" sz="950" dirty="0">
                <a:solidFill>
                  <a:srgbClr val="9FB0C0"/>
                </a:solidFill>
                <a:latin typeface="Arial" pitchFamily="34" charset="0"/>
                <a:ea typeface="Arial" pitchFamily="34" charset="-122"/>
                <a:cs typeface="Arial" pitchFamily="34" charset="-120"/>
              </a:rPr>
              <a:t>payment</a:t>
            </a:r>
            <a:endParaRPr lang="en-US" sz="950" dirty="0"/>
          </a:p>
        </p:txBody>
      </p:sp>
      <p:sp>
        <p:nvSpPr>
          <p:cNvPr id="32" name="Shape 30"/>
          <p:cNvSpPr/>
          <p:nvPr/>
        </p:nvSpPr>
        <p:spPr>
          <a:xfrm>
            <a:off x="4754880" y="4608576"/>
            <a:ext cx="6720840" cy="512064"/>
          </a:xfrm>
          <a:prstGeom prst="roundRect">
            <a:avLst>
              <a:gd name="adj" fmla="val 14286"/>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33" name="Shape 31"/>
          <p:cNvSpPr/>
          <p:nvPr/>
        </p:nvSpPr>
        <p:spPr>
          <a:xfrm>
            <a:off x="4882896" y="4709160"/>
            <a:ext cx="310896" cy="310896"/>
          </a:xfrm>
          <a:prstGeom prst="ellipse">
            <a:avLst/>
          </a:prstGeom>
          <a:solidFill>
            <a:srgbClr val="FF9900"/>
          </a:solidFill>
          <a:ln/>
        </p:spPr>
      </p:sp>
      <p:sp>
        <p:nvSpPr>
          <p:cNvPr id="34" name="Text 32"/>
          <p:cNvSpPr/>
          <p:nvPr/>
        </p:nvSpPr>
        <p:spPr>
          <a:xfrm>
            <a:off x="4882896" y="4709160"/>
            <a:ext cx="310896" cy="310896"/>
          </a:xfrm>
          <a:prstGeom prst="rect">
            <a:avLst/>
          </a:prstGeom>
          <a:noFill/>
          <a:ln/>
        </p:spPr>
        <p:txBody>
          <a:bodyPr wrap="square" lIns="0" tIns="0" rIns="0" bIns="0" rtlCol="0" anchor="ctr"/>
          <a:lstStyle/>
          <a:p>
            <a:pPr algn="ctr" indent="0" marL="0">
              <a:buNone/>
            </a:pPr>
            <a:r>
              <a:rPr lang="en-US" sz="1100" b="1" dirty="0">
                <a:solidFill>
                  <a:srgbClr val="232F3E"/>
                </a:solidFill>
              </a:rPr>
              <a:t>5</a:t>
            </a:r>
            <a:endParaRPr lang="en-US" sz="1100" dirty="0"/>
          </a:p>
        </p:txBody>
      </p:sp>
      <p:sp>
        <p:nvSpPr>
          <p:cNvPr id="35" name="Text 33"/>
          <p:cNvSpPr/>
          <p:nvPr/>
        </p:nvSpPr>
        <p:spPr>
          <a:xfrm>
            <a:off x="5349240" y="4608576"/>
            <a:ext cx="4114800" cy="51206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payment.completed</a:t>
            </a:r>
            <a:endParaRPr lang="en-US" sz="1200" dirty="0"/>
          </a:p>
        </p:txBody>
      </p:sp>
      <p:sp>
        <p:nvSpPr>
          <p:cNvPr id="36" name="Text 34"/>
          <p:cNvSpPr/>
          <p:nvPr/>
        </p:nvSpPr>
        <p:spPr>
          <a:xfrm>
            <a:off x="9418320" y="4608576"/>
            <a:ext cx="2011680" cy="512064"/>
          </a:xfrm>
          <a:prstGeom prst="rect">
            <a:avLst/>
          </a:prstGeom>
          <a:noFill/>
          <a:ln/>
        </p:spPr>
        <p:txBody>
          <a:bodyPr wrap="square" lIns="0" tIns="0" rIns="0" bIns="0" rtlCol="0" anchor="ctr"/>
          <a:lstStyle/>
          <a:p>
            <a:pPr algn="r" indent="0" marL="0">
              <a:buNone/>
            </a:pPr>
            <a:r>
              <a:rPr lang="en-US" sz="950" dirty="0">
                <a:solidFill>
                  <a:srgbClr val="9FB0C0"/>
                </a:solidFill>
                <a:latin typeface="Arial" pitchFamily="34" charset="0"/>
                <a:ea typeface="Arial" pitchFamily="34" charset="-122"/>
                <a:cs typeface="Arial" pitchFamily="34" charset="-120"/>
              </a:rPr>
              <a:t>payment -&gt; booking</a:t>
            </a:r>
            <a:endParaRPr lang="en-US" sz="950" dirty="0"/>
          </a:p>
        </p:txBody>
      </p:sp>
      <p:sp>
        <p:nvSpPr>
          <p:cNvPr id="37" name="Shape 35"/>
          <p:cNvSpPr/>
          <p:nvPr/>
        </p:nvSpPr>
        <p:spPr>
          <a:xfrm>
            <a:off x="4754880" y="5212080"/>
            <a:ext cx="6720840" cy="512064"/>
          </a:xfrm>
          <a:prstGeom prst="roundRect">
            <a:avLst>
              <a:gd name="adj" fmla="val 14286"/>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38" name="Shape 36"/>
          <p:cNvSpPr/>
          <p:nvPr/>
        </p:nvSpPr>
        <p:spPr>
          <a:xfrm>
            <a:off x="4882896" y="5312664"/>
            <a:ext cx="310896" cy="310896"/>
          </a:xfrm>
          <a:prstGeom prst="ellipse">
            <a:avLst/>
          </a:prstGeom>
          <a:solidFill>
            <a:srgbClr val="27D196"/>
          </a:solidFill>
          <a:ln/>
        </p:spPr>
      </p:sp>
      <p:sp>
        <p:nvSpPr>
          <p:cNvPr id="39" name="Text 37"/>
          <p:cNvSpPr/>
          <p:nvPr/>
        </p:nvSpPr>
        <p:spPr>
          <a:xfrm>
            <a:off x="4882896" y="5312664"/>
            <a:ext cx="310896" cy="310896"/>
          </a:xfrm>
          <a:prstGeom prst="rect">
            <a:avLst/>
          </a:prstGeom>
          <a:noFill/>
          <a:ln/>
        </p:spPr>
        <p:txBody>
          <a:bodyPr wrap="square" lIns="0" tIns="0" rIns="0" bIns="0" rtlCol="0" anchor="ctr"/>
          <a:lstStyle/>
          <a:p>
            <a:pPr algn="ctr" indent="0" marL="0">
              <a:buNone/>
            </a:pPr>
            <a:r>
              <a:rPr lang="en-US" sz="1100" b="1" dirty="0">
                <a:solidFill>
                  <a:srgbClr val="232F3E"/>
                </a:solidFill>
              </a:rPr>
              <a:t>6</a:t>
            </a:r>
            <a:endParaRPr lang="en-US" sz="1100" dirty="0"/>
          </a:p>
        </p:txBody>
      </p:sp>
      <p:sp>
        <p:nvSpPr>
          <p:cNvPr id="40" name="Text 38"/>
          <p:cNvSpPr/>
          <p:nvPr/>
        </p:nvSpPr>
        <p:spPr>
          <a:xfrm>
            <a:off x="5349240" y="5212080"/>
            <a:ext cx="4114800" cy="51206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booking.confirmed</a:t>
            </a:r>
            <a:endParaRPr lang="en-US" sz="1200" dirty="0"/>
          </a:p>
        </p:txBody>
      </p:sp>
      <p:sp>
        <p:nvSpPr>
          <p:cNvPr id="41" name="Text 39"/>
          <p:cNvSpPr/>
          <p:nvPr/>
        </p:nvSpPr>
        <p:spPr>
          <a:xfrm>
            <a:off x="9418320" y="5212080"/>
            <a:ext cx="2011680" cy="512064"/>
          </a:xfrm>
          <a:prstGeom prst="rect">
            <a:avLst/>
          </a:prstGeom>
          <a:noFill/>
          <a:ln/>
        </p:spPr>
        <p:txBody>
          <a:bodyPr wrap="square" lIns="0" tIns="0" rIns="0" bIns="0" rtlCol="0" anchor="ctr"/>
          <a:lstStyle/>
          <a:p>
            <a:pPr algn="r" indent="0" marL="0">
              <a:buNone/>
            </a:pPr>
            <a:r>
              <a:rPr lang="en-US" sz="950" dirty="0">
                <a:solidFill>
                  <a:srgbClr val="9FB0C0"/>
                </a:solidFill>
                <a:latin typeface="Arial" pitchFamily="34" charset="0"/>
                <a:ea typeface="Arial" pitchFamily="34" charset="-122"/>
                <a:cs typeface="Arial" pitchFamily="34" charset="-120"/>
              </a:rPr>
              <a:t>check-in + notification</a:t>
            </a:r>
            <a:endParaRPr lang="en-US" sz="950" dirty="0"/>
          </a:p>
        </p:txBody>
      </p:sp>
      <p:sp>
        <p:nvSpPr>
          <p:cNvPr id="42" name="Shape 40"/>
          <p:cNvSpPr/>
          <p:nvPr/>
        </p:nvSpPr>
        <p:spPr>
          <a:xfrm>
            <a:off x="4754880" y="5897880"/>
            <a:ext cx="6720840" cy="384048"/>
          </a:xfrm>
          <a:prstGeom prst="roundRect">
            <a:avLst>
              <a:gd name="adj" fmla="val 19048"/>
            </a:avLst>
          </a:prstGeom>
          <a:solidFill>
            <a:srgbClr val="1A232E"/>
          </a:solidFill>
          <a:ln w="9525">
            <a:solidFill>
              <a:srgbClr val="FF6B6B"/>
            </a:solidFill>
            <a:prstDash val="solid"/>
          </a:ln>
        </p:spPr>
      </p:sp>
      <p:sp>
        <p:nvSpPr>
          <p:cNvPr id="43" name="Text 41"/>
          <p:cNvSpPr/>
          <p:nvPr/>
        </p:nvSpPr>
        <p:spPr>
          <a:xfrm>
            <a:off x="4754880" y="5897880"/>
            <a:ext cx="6720840" cy="384048"/>
          </a:xfrm>
          <a:prstGeom prst="rect">
            <a:avLst/>
          </a:prstGeom>
          <a:noFill/>
          <a:ln/>
        </p:spPr>
        <p:txBody>
          <a:bodyPr wrap="square" lIns="0" tIns="0" rIns="0" bIns="0" rtlCol="0" anchor="ctr"/>
          <a:lstStyle/>
          <a:p>
            <a:pPr algn="ctr" indent="0" marL="0">
              <a:buNone/>
            </a:pPr>
            <a:r>
              <a:rPr lang="en-US" sz="1050" i="1" dirty="0">
                <a:solidFill>
                  <a:srgbClr val="FF6B6B"/>
                </a:solidFill>
                <a:latin typeface="Arial" pitchFamily="34" charset="0"/>
                <a:ea typeface="Arial" pitchFamily="34" charset="-122"/>
                <a:cs typeface="Arial" pitchFamily="34" charset="-120"/>
              </a:rPr>
              <a:t>On payment / seat-lock failure -&gt; compensating events roll the saga back</a:t>
            </a:r>
            <a:endParaRPr lang="en-US" sz="1050" dirty="0"/>
          </a:p>
        </p:txBody>
      </p:sp>
      <p:sp>
        <p:nvSpPr>
          <p:cNvPr id="44" name="Text 42"/>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45" name="Text 43"/>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03 — DATA SECURITY &amp; COMPLIANCE</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Defence in Depth</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Impl 40%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Shape 6"/>
          <p:cNvSpPr/>
          <p:nvPr/>
        </p:nvSpPr>
        <p:spPr>
          <a:xfrm>
            <a:off x="713232" y="1627632"/>
            <a:ext cx="525780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9" name="Shape 7"/>
          <p:cNvSpPr/>
          <p:nvPr/>
        </p:nvSpPr>
        <p:spPr>
          <a:xfrm>
            <a:off x="713232" y="1627632"/>
            <a:ext cx="5257800" cy="91440"/>
          </a:xfrm>
          <a:prstGeom prst="rect">
            <a:avLst/>
          </a:prstGeom>
          <a:solidFill>
            <a:srgbClr val="FF9900"/>
          </a:solidFill>
          <a:ln/>
        </p:spPr>
      </p:sp>
      <p:sp>
        <p:nvSpPr>
          <p:cNvPr id="10" name="Text 8"/>
          <p:cNvSpPr/>
          <p:nvPr/>
        </p:nvSpPr>
        <p:spPr>
          <a:xfrm>
            <a:off x="941832" y="1828800"/>
            <a:ext cx="4846320" cy="365760"/>
          </a:xfrm>
          <a:prstGeom prst="rect">
            <a:avLst/>
          </a:prstGeom>
          <a:noFill/>
          <a:ln/>
        </p:spPr>
        <p:txBody>
          <a:bodyPr wrap="square" lIns="0" tIns="0" rIns="0" bIns="0" rtlCol="0" anchor="ctr"/>
          <a:lstStyle/>
          <a:p>
            <a:pPr indent="0" marL="0">
              <a:buNone/>
            </a:pPr>
            <a:r>
              <a:rPr lang="en-US" sz="1500" b="1" dirty="0">
                <a:solidFill>
                  <a:srgbClr val="FF9900"/>
                </a:solidFill>
                <a:latin typeface="Arial" pitchFamily="34" charset="0"/>
                <a:ea typeface="Arial" pitchFamily="34" charset="-122"/>
                <a:cs typeface="Arial" pitchFamily="34" charset="-120"/>
              </a:rPr>
              <a:t>Authentication</a:t>
            </a:r>
            <a:endParaRPr lang="en-US" sz="1500" dirty="0"/>
          </a:p>
        </p:txBody>
      </p:sp>
      <p:sp>
        <p:nvSpPr>
          <p:cNvPr id="11" name="Text 9"/>
          <p:cNvSpPr/>
          <p:nvPr/>
        </p:nvSpPr>
        <p:spPr>
          <a:xfrm>
            <a:off x="969264" y="2286000"/>
            <a:ext cx="4846320" cy="1371600"/>
          </a:xfrm>
          <a:prstGeom prst="rect">
            <a:avLst/>
          </a:prstGeom>
          <a:noFill/>
          <a:ln/>
        </p:spPr>
        <p:txBody>
          <a:bodyPr wrap="square" rtlCol="0" anchor="ctr"/>
          <a:lstStyle/>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bcrypt password hashing (cost 12)</a:t>
            </a:r>
            <a:endParaRPr lang="en-US" sz="1150" dirty="0"/>
          </a:p>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Short-lived JWT access (15 min) + refresh (7 days)</a:t>
            </a:r>
            <a:endParaRPr lang="en-US" sz="1150" dirty="0"/>
          </a:p>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Tokens kept in memory to limit XSS exposure</a:t>
            </a:r>
            <a:endParaRPr lang="en-US" sz="1150" dirty="0"/>
          </a:p>
        </p:txBody>
      </p:sp>
      <p:sp>
        <p:nvSpPr>
          <p:cNvPr id="12" name="Shape 10"/>
          <p:cNvSpPr/>
          <p:nvPr/>
        </p:nvSpPr>
        <p:spPr>
          <a:xfrm>
            <a:off x="6199632" y="1627632"/>
            <a:ext cx="525780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3" name="Shape 11"/>
          <p:cNvSpPr/>
          <p:nvPr/>
        </p:nvSpPr>
        <p:spPr>
          <a:xfrm>
            <a:off x="6199632" y="1627632"/>
            <a:ext cx="5257800" cy="91440"/>
          </a:xfrm>
          <a:prstGeom prst="rect">
            <a:avLst/>
          </a:prstGeom>
          <a:solidFill>
            <a:srgbClr val="00A1C9"/>
          </a:solidFill>
          <a:ln/>
        </p:spPr>
      </p:sp>
      <p:sp>
        <p:nvSpPr>
          <p:cNvPr id="14" name="Text 12"/>
          <p:cNvSpPr/>
          <p:nvPr/>
        </p:nvSpPr>
        <p:spPr>
          <a:xfrm>
            <a:off x="6428232" y="1828800"/>
            <a:ext cx="4846320" cy="365760"/>
          </a:xfrm>
          <a:prstGeom prst="rect">
            <a:avLst/>
          </a:prstGeom>
          <a:noFill/>
          <a:ln/>
        </p:spPr>
        <p:txBody>
          <a:bodyPr wrap="square" lIns="0" tIns="0" rIns="0" bIns="0" rtlCol="0" anchor="ctr"/>
          <a:lstStyle/>
          <a:p>
            <a:pPr indent="0" marL="0">
              <a:buNone/>
            </a:pPr>
            <a:r>
              <a:rPr lang="en-US" sz="1500" b="1" dirty="0">
                <a:solidFill>
                  <a:srgbClr val="00A1C9"/>
                </a:solidFill>
                <a:latin typeface="Arial" pitchFamily="34" charset="0"/>
                <a:ea typeface="Arial" pitchFamily="34" charset="-122"/>
                <a:cs typeface="Arial" pitchFamily="34" charset="-120"/>
              </a:rPr>
              <a:t>Authorisation — RBAC</a:t>
            </a:r>
            <a:endParaRPr lang="en-US" sz="1500" dirty="0"/>
          </a:p>
        </p:txBody>
      </p:sp>
      <p:sp>
        <p:nvSpPr>
          <p:cNvPr id="15" name="Text 13"/>
          <p:cNvSpPr/>
          <p:nvPr/>
        </p:nvSpPr>
        <p:spPr>
          <a:xfrm>
            <a:off x="6455664" y="2286000"/>
            <a:ext cx="4846320" cy="1371600"/>
          </a:xfrm>
          <a:prstGeom prst="rect">
            <a:avLst/>
          </a:prstGeom>
          <a:noFill/>
          <a:ln/>
        </p:spPr>
        <p:txBody>
          <a:bodyPr wrap="square" rtlCol="0" anchor="ctr"/>
          <a:lstStyle/>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9 roles: PASSENGER, GATE_AGENT, ADMIN…</a:t>
            </a:r>
            <a:endParaRPr lang="en-US" sz="1150" dirty="0"/>
          </a:p>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Guard checks role on protected handlers</a:t>
            </a:r>
            <a:endParaRPr lang="en-US" sz="1150" dirty="0"/>
          </a:p>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Resource ownership: can't read another user's booking</a:t>
            </a:r>
            <a:endParaRPr lang="en-US" sz="1150" dirty="0"/>
          </a:p>
        </p:txBody>
      </p:sp>
      <p:sp>
        <p:nvSpPr>
          <p:cNvPr id="16" name="Shape 14"/>
          <p:cNvSpPr/>
          <p:nvPr/>
        </p:nvSpPr>
        <p:spPr>
          <a:xfrm>
            <a:off x="713232" y="3913632"/>
            <a:ext cx="525780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7" name="Shape 15"/>
          <p:cNvSpPr/>
          <p:nvPr/>
        </p:nvSpPr>
        <p:spPr>
          <a:xfrm>
            <a:off x="713232" y="3913632"/>
            <a:ext cx="5257800" cy="91440"/>
          </a:xfrm>
          <a:prstGeom prst="rect">
            <a:avLst/>
          </a:prstGeom>
          <a:solidFill>
            <a:srgbClr val="27D196"/>
          </a:solidFill>
          <a:ln/>
        </p:spPr>
      </p:sp>
      <p:sp>
        <p:nvSpPr>
          <p:cNvPr id="18" name="Text 16"/>
          <p:cNvSpPr/>
          <p:nvPr/>
        </p:nvSpPr>
        <p:spPr>
          <a:xfrm>
            <a:off x="941832" y="4114800"/>
            <a:ext cx="4846320" cy="365760"/>
          </a:xfrm>
          <a:prstGeom prst="rect">
            <a:avLst/>
          </a:prstGeom>
          <a:noFill/>
          <a:ln/>
        </p:spPr>
        <p:txBody>
          <a:bodyPr wrap="square" lIns="0" tIns="0" rIns="0" bIns="0" rtlCol="0" anchor="ctr"/>
          <a:lstStyle/>
          <a:p>
            <a:pPr indent="0" marL="0">
              <a:buNone/>
            </a:pPr>
            <a:r>
              <a:rPr lang="en-US" sz="1500" b="1" dirty="0">
                <a:solidFill>
                  <a:srgbClr val="27D196"/>
                </a:solidFill>
                <a:latin typeface="Arial" pitchFamily="34" charset="0"/>
                <a:ea typeface="Arial" pitchFamily="34" charset="-122"/>
                <a:cs typeface="Arial" pitchFamily="34" charset="-120"/>
              </a:rPr>
              <a:t>Encryption</a:t>
            </a:r>
            <a:endParaRPr lang="en-US" sz="1500" dirty="0"/>
          </a:p>
        </p:txBody>
      </p:sp>
      <p:sp>
        <p:nvSpPr>
          <p:cNvPr id="19" name="Text 17"/>
          <p:cNvSpPr/>
          <p:nvPr/>
        </p:nvSpPr>
        <p:spPr>
          <a:xfrm>
            <a:off x="969264" y="4572000"/>
            <a:ext cx="4846320" cy="1371600"/>
          </a:xfrm>
          <a:prstGeom prst="rect">
            <a:avLst/>
          </a:prstGeom>
          <a:noFill/>
          <a:ln/>
        </p:spPr>
        <p:txBody>
          <a:bodyPr wrap="square" rtlCol="0" anchor="ctr"/>
          <a:lstStyle/>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3 customer-managed KMS keys (PCI / PII / infra)</a:t>
            </a:r>
            <a:endParaRPr lang="en-US" sz="1150" dirty="0"/>
          </a:p>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Annual key rotation enabled</a:t>
            </a:r>
            <a:endParaRPr lang="en-US" sz="1150" dirty="0"/>
          </a:p>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TLS in transit; secrets via Secrets Manager + IRSA</a:t>
            </a:r>
            <a:endParaRPr lang="en-US" sz="1150" dirty="0"/>
          </a:p>
        </p:txBody>
      </p:sp>
      <p:sp>
        <p:nvSpPr>
          <p:cNvPr id="20" name="Shape 18"/>
          <p:cNvSpPr/>
          <p:nvPr/>
        </p:nvSpPr>
        <p:spPr>
          <a:xfrm>
            <a:off x="6199632" y="3913632"/>
            <a:ext cx="525780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1" name="Shape 19"/>
          <p:cNvSpPr/>
          <p:nvPr/>
        </p:nvSpPr>
        <p:spPr>
          <a:xfrm>
            <a:off x="6199632" y="3913632"/>
            <a:ext cx="5257800" cy="91440"/>
          </a:xfrm>
          <a:prstGeom prst="rect">
            <a:avLst/>
          </a:prstGeom>
          <a:solidFill>
            <a:srgbClr val="4DA6FF"/>
          </a:solidFill>
          <a:ln/>
        </p:spPr>
      </p:sp>
      <p:sp>
        <p:nvSpPr>
          <p:cNvPr id="22" name="Text 20"/>
          <p:cNvSpPr/>
          <p:nvPr/>
        </p:nvSpPr>
        <p:spPr>
          <a:xfrm>
            <a:off x="6428232" y="4114800"/>
            <a:ext cx="4846320" cy="365760"/>
          </a:xfrm>
          <a:prstGeom prst="rect">
            <a:avLst/>
          </a:prstGeom>
          <a:noFill/>
          <a:ln/>
        </p:spPr>
        <p:txBody>
          <a:bodyPr wrap="square" lIns="0" tIns="0" rIns="0" bIns="0" rtlCol="0" anchor="ctr"/>
          <a:lstStyle/>
          <a:p>
            <a:pPr indent="0" marL="0">
              <a:buNone/>
            </a:pPr>
            <a:r>
              <a:rPr lang="en-US" sz="1500" b="1" dirty="0">
                <a:solidFill>
                  <a:srgbClr val="4DA6FF"/>
                </a:solidFill>
                <a:latin typeface="Arial" pitchFamily="34" charset="0"/>
                <a:ea typeface="Arial" pitchFamily="34" charset="-122"/>
                <a:cs typeface="Arial" pitchFamily="34" charset="-120"/>
              </a:rPr>
              <a:t>Compliance</a:t>
            </a:r>
            <a:endParaRPr lang="en-US" sz="1500" dirty="0"/>
          </a:p>
        </p:txBody>
      </p:sp>
      <p:sp>
        <p:nvSpPr>
          <p:cNvPr id="23" name="Text 21"/>
          <p:cNvSpPr/>
          <p:nvPr/>
        </p:nvSpPr>
        <p:spPr>
          <a:xfrm>
            <a:off x="6455664" y="4572000"/>
            <a:ext cx="4846320" cy="1371600"/>
          </a:xfrm>
          <a:prstGeom prst="rect">
            <a:avLst/>
          </a:prstGeom>
          <a:noFill/>
          <a:ln/>
        </p:spPr>
        <p:txBody>
          <a:bodyPr wrap="square" rtlCol="0" anchor="ctr"/>
          <a:lstStyle/>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PCI-DSS: Stripe tokenises cards; store last-4 only</a:t>
            </a:r>
            <a:endParaRPr lang="en-US" sz="1150" dirty="0"/>
          </a:p>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GDPR: access, portability, crypto-shredding erasure</a:t>
            </a:r>
            <a:endParaRPr lang="en-US" sz="1150" dirty="0"/>
          </a:p>
          <a:p>
            <a:pPr marL="342900" indent="-342900">
              <a:lnSpc>
                <a:spcPct val="112000"/>
              </a:lnSpc>
              <a:buSzPct val="100000"/>
              <a:buChar char="•"/>
            </a:pPr>
            <a:r>
              <a:rPr lang="en-US" sz="1150" dirty="0">
                <a:solidFill>
                  <a:srgbClr val="E6ECF2"/>
                </a:solidFill>
                <a:latin typeface="Arial" pitchFamily="34" charset="0"/>
                <a:ea typeface="Arial" pitchFamily="34" charset="-122"/>
                <a:cs typeface="Arial" pitchFamily="34" charset="-120"/>
              </a:rPr>
              <a:t>WAF + GuardDuty + CloudTrail audit trail</a:t>
            </a:r>
            <a:endParaRPr lang="en-US" sz="1150" dirty="0"/>
          </a:p>
        </p:txBody>
      </p:sp>
      <p:sp>
        <p:nvSpPr>
          <p:cNvPr id="24" name="Text 22"/>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25" name="Text 23"/>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03 — DISTRIBUTED DATA CONSISTENCY</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Eventual Consistency, with Strong Guarantees Where It Counts</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Impl 40%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Shape 6"/>
          <p:cNvSpPr/>
          <p:nvPr/>
        </p:nvSpPr>
        <p:spPr>
          <a:xfrm>
            <a:off x="713232" y="1627632"/>
            <a:ext cx="10762488" cy="1051560"/>
          </a:xfrm>
          <a:prstGeom prst="roundRect">
            <a:avLst>
              <a:gd name="adj" fmla="val 6957"/>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960120" y="1627632"/>
            <a:ext cx="10241280" cy="1051560"/>
          </a:xfrm>
          <a:prstGeom prst="rect">
            <a:avLst/>
          </a:prstGeom>
          <a:noFill/>
          <a:ln/>
        </p:spPr>
        <p:txBody>
          <a:bodyPr wrap="square" lIns="0" tIns="0" rIns="0" bIns="0" rtlCol="0" anchor="ctr"/>
          <a:lstStyle/>
          <a:p>
            <a:pPr indent="0" marL="0">
              <a:buNone/>
            </a:pPr>
            <a:r>
              <a:rPr lang="en-US" sz="1350" i="1" dirty="0">
                <a:solidFill>
                  <a:srgbClr val="E6ECF2"/>
                </a:solidFill>
                <a:latin typeface="Arial" pitchFamily="34" charset="0"/>
                <a:ea typeface="Arial" pitchFamily="34" charset="-122"/>
                <a:cs typeface="Arial" pitchFamily="34" charset="-120"/>
              </a:rPr>
              <a:t>No single ACID transaction can span service boundaries — so AeroLink uses eventual consistency, adding strong guarantees exactly where a stale read would cause incorrect behaviour.</a:t>
            </a:r>
            <a:endParaRPr lang="en-US" sz="1350" dirty="0"/>
          </a:p>
        </p:txBody>
      </p:sp>
      <p:sp>
        <p:nvSpPr>
          <p:cNvPr id="10" name="Shape 8"/>
          <p:cNvSpPr/>
          <p:nvPr/>
        </p:nvSpPr>
        <p:spPr>
          <a:xfrm>
            <a:off x="713232" y="2926080"/>
            <a:ext cx="2606040" cy="3200400"/>
          </a:xfrm>
          <a:prstGeom prst="roundRect">
            <a:avLst>
              <a:gd name="adj" fmla="val 2807"/>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1" name="Shape 9"/>
          <p:cNvSpPr/>
          <p:nvPr/>
        </p:nvSpPr>
        <p:spPr>
          <a:xfrm>
            <a:off x="713232" y="2926080"/>
            <a:ext cx="2606040" cy="91440"/>
          </a:xfrm>
          <a:prstGeom prst="rect">
            <a:avLst/>
          </a:prstGeom>
          <a:solidFill>
            <a:srgbClr val="FF9900"/>
          </a:solidFill>
          <a:ln/>
        </p:spPr>
      </p:sp>
      <p:sp>
        <p:nvSpPr>
          <p:cNvPr id="12" name="Shape 10"/>
          <p:cNvSpPr/>
          <p:nvPr/>
        </p:nvSpPr>
        <p:spPr>
          <a:xfrm>
            <a:off x="1792224" y="3200400"/>
            <a:ext cx="457200" cy="457200"/>
          </a:xfrm>
          <a:prstGeom prst="ellipse">
            <a:avLst/>
          </a:prstGeom>
          <a:solidFill>
            <a:srgbClr val="FF9900">
              <a:alpha val="25000"/>
            </a:srgbClr>
          </a:solidFill>
          <a:ln w="15875">
            <a:solidFill>
              <a:srgbClr val="FF9900"/>
            </a:solidFill>
            <a:prstDash val="solid"/>
          </a:ln>
        </p:spPr>
      </p:sp>
      <p:sp>
        <p:nvSpPr>
          <p:cNvPr id="13" name="Text 11"/>
          <p:cNvSpPr/>
          <p:nvPr/>
        </p:nvSpPr>
        <p:spPr>
          <a:xfrm>
            <a:off x="1792224" y="3200400"/>
            <a:ext cx="457200" cy="457200"/>
          </a:xfrm>
          <a:prstGeom prst="rect">
            <a:avLst/>
          </a:prstGeom>
          <a:noFill/>
          <a:ln/>
        </p:spPr>
        <p:txBody>
          <a:bodyPr wrap="square" lIns="0" tIns="0" rIns="0" bIns="0" rtlCol="0" anchor="ctr"/>
          <a:lstStyle/>
          <a:p>
            <a:pPr algn="ctr" indent="0" marL="0">
              <a:buNone/>
            </a:pPr>
            <a:r>
              <a:rPr lang="en-US" sz="1600" b="1" dirty="0">
                <a:solidFill>
                  <a:srgbClr val="FF9900"/>
                </a:solidFill>
              </a:rPr>
              <a:t>1</a:t>
            </a:r>
            <a:endParaRPr lang="en-US" sz="1600" dirty="0"/>
          </a:p>
        </p:txBody>
      </p:sp>
      <p:sp>
        <p:nvSpPr>
          <p:cNvPr id="14" name="Text 12"/>
          <p:cNvSpPr/>
          <p:nvPr/>
        </p:nvSpPr>
        <p:spPr>
          <a:xfrm>
            <a:off x="877824" y="3794760"/>
            <a:ext cx="22860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Saga + compensation</a:t>
            </a:r>
            <a:endParaRPr lang="en-US" sz="1400" dirty="0"/>
          </a:p>
        </p:txBody>
      </p:sp>
      <p:sp>
        <p:nvSpPr>
          <p:cNvPr id="15" name="Text 13"/>
          <p:cNvSpPr/>
          <p:nvPr/>
        </p:nvSpPr>
        <p:spPr>
          <a:xfrm>
            <a:off x="896112" y="4434840"/>
            <a:ext cx="2249424" cy="1600200"/>
          </a:xfrm>
          <a:prstGeom prst="rect">
            <a:avLst/>
          </a:prstGeom>
          <a:noFill/>
          <a:ln/>
        </p:spPr>
        <p:txBody>
          <a:bodyPr wrap="square" rtlCol="0" anchor="ctr"/>
          <a:lstStyle/>
          <a:p>
            <a:pPr algn="ctr" indent="0" marL="0">
              <a:lnSpc>
                <a:spcPct val="108000"/>
              </a:lnSpc>
              <a:buNone/>
            </a:pPr>
            <a:r>
              <a:rPr lang="en-US" sz="1080" dirty="0">
                <a:solidFill>
                  <a:srgbClr val="9FB0C0"/>
                </a:solidFill>
                <a:latin typeface="Arial" pitchFamily="34" charset="0"/>
                <a:ea typeface="Arial" pitchFamily="34" charset="-122"/>
                <a:cs typeface="Arial" pitchFamily="34" charset="-120"/>
              </a:rPr>
              <a:t>Each step commits locally &amp; emits an event; failures trigger compensating actions, not a global rollback.</a:t>
            </a:r>
            <a:endParaRPr lang="en-US" sz="1080" dirty="0"/>
          </a:p>
        </p:txBody>
      </p:sp>
      <p:sp>
        <p:nvSpPr>
          <p:cNvPr id="16" name="Shape 14"/>
          <p:cNvSpPr/>
          <p:nvPr/>
        </p:nvSpPr>
        <p:spPr>
          <a:xfrm>
            <a:off x="3474720" y="2926080"/>
            <a:ext cx="2606040" cy="3200400"/>
          </a:xfrm>
          <a:prstGeom prst="roundRect">
            <a:avLst>
              <a:gd name="adj" fmla="val 2807"/>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7" name="Shape 15"/>
          <p:cNvSpPr/>
          <p:nvPr/>
        </p:nvSpPr>
        <p:spPr>
          <a:xfrm>
            <a:off x="3474720" y="2926080"/>
            <a:ext cx="2606040" cy="91440"/>
          </a:xfrm>
          <a:prstGeom prst="rect">
            <a:avLst/>
          </a:prstGeom>
          <a:solidFill>
            <a:srgbClr val="00A1C9"/>
          </a:solidFill>
          <a:ln/>
        </p:spPr>
      </p:sp>
      <p:sp>
        <p:nvSpPr>
          <p:cNvPr id="18" name="Shape 16"/>
          <p:cNvSpPr/>
          <p:nvPr/>
        </p:nvSpPr>
        <p:spPr>
          <a:xfrm>
            <a:off x="4553712" y="3200400"/>
            <a:ext cx="457200" cy="457200"/>
          </a:xfrm>
          <a:prstGeom prst="ellipse">
            <a:avLst/>
          </a:prstGeom>
          <a:solidFill>
            <a:srgbClr val="00A1C9">
              <a:alpha val="25000"/>
            </a:srgbClr>
          </a:solidFill>
          <a:ln w="15875">
            <a:solidFill>
              <a:srgbClr val="00A1C9"/>
            </a:solidFill>
            <a:prstDash val="solid"/>
          </a:ln>
        </p:spPr>
      </p:sp>
      <p:sp>
        <p:nvSpPr>
          <p:cNvPr id="19" name="Text 17"/>
          <p:cNvSpPr/>
          <p:nvPr/>
        </p:nvSpPr>
        <p:spPr>
          <a:xfrm>
            <a:off x="4553712" y="3200400"/>
            <a:ext cx="457200" cy="457200"/>
          </a:xfrm>
          <a:prstGeom prst="rect">
            <a:avLst/>
          </a:prstGeom>
          <a:noFill/>
          <a:ln/>
        </p:spPr>
        <p:txBody>
          <a:bodyPr wrap="square" lIns="0" tIns="0" rIns="0" bIns="0" rtlCol="0" anchor="ctr"/>
          <a:lstStyle/>
          <a:p>
            <a:pPr algn="ctr" indent="0" marL="0">
              <a:buNone/>
            </a:pPr>
            <a:r>
              <a:rPr lang="en-US" sz="1600" b="1" dirty="0">
                <a:solidFill>
                  <a:srgbClr val="00A1C9"/>
                </a:solidFill>
              </a:rPr>
              <a:t>2</a:t>
            </a:r>
            <a:endParaRPr lang="en-US" sz="1600" dirty="0"/>
          </a:p>
        </p:txBody>
      </p:sp>
      <p:sp>
        <p:nvSpPr>
          <p:cNvPr id="20" name="Text 18"/>
          <p:cNvSpPr/>
          <p:nvPr/>
        </p:nvSpPr>
        <p:spPr>
          <a:xfrm>
            <a:off x="3639312" y="3794760"/>
            <a:ext cx="22860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Redis SET NX seat lock</a:t>
            </a:r>
            <a:endParaRPr lang="en-US" sz="1400" dirty="0"/>
          </a:p>
        </p:txBody>
      </p:sp>
      <p:sp>
        <p:nvSpPr>
          <p:cNvPr id="21" name="Text 19"/>
          <p:cNvSpPr/>
          <p:nvPr/>
        </p:nvSpPr>
        <p:spPr>
          <a:xfrm>
            <a:off x="3657600" y="4434840"/>
            <a:ext cx="2249424" cy="1600200"/>
          </a:xfrm>
          <a:prstGeom prst="rect">
            <a:avLst/>
          </a:prstGeom>
          <a:noFill/>
          <a:ln/>
        </p:spPr>
        <p:txBody>
          <a:bodyPr wrap="square" rtlCol="0" anchor="ctr"/>
          <a:lstStyle/>
          <a:p>
            <a:pPr algn="ctr" indent="0" marL="0">
              <a:lnSpc>
                <a:spcPct val="108000"/>
              </a:lnSpc>
              <a:buNone/>
            </a:pPr>
            <a:r>
              <a:rPr lang="en-US" sz="1080" dirty="0">
                <a:solidFill>
                  <a:srgbClr val="9FB0C0"/>
                </a:solidFill>
                <a:latin typeface="Arial" pitchFamily="34" charset="0"/>
                <a:ea typeface="Arial" pitchFamily="34" charset="-122"/>
                <a:cs typeface="Arial" pitchFamily="34" charset="-120"/>
              </a:rPr>
              <a:t>Atomic compare-and-swap is the authoritative arbiter — only one booking can hold a seat, preventing double-booking.</a:t>
            </a:r>
            <a:endParaRPr lang="en-US" sz="1080" dirty="0"/>
          </a:p>
        </p:txBody>
      </p:sp>
      <p:sp>
        <p:nvSpPr>
          <p:cNvPr id="22" name="Shape 20"/>
          <p:cNvSpPr/>
          <p:nvPr/>
        </p:nvSpPr>
        <p:spPr>
          <a:xfrm>
            <a:off x="6236208" y="2926080"/>
            <a:ext cx="2606040" cy="3200400"/>
          </a:xfrm>
          <a:prstGeom prst="roundRect">
            <a:avLst>
              <a:gd name="adj" fmla="val 2807"/>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3" name="Shape 21"/>
          <p:cNvSpPr/>
          <p:nvPr/>
        </p:nvSpPr>
        <p:spPr>
          <a:xfrm>
            <a:off x="6236208" y="2926080"/>
            <a:ext cx="2606040" cy="91440"/>
          </a:xfrm>
          <a:prstGeom prst="rect">
            <a:avLst/>
          </a:prstGeom>
          <a:solidFill>
            <a:srgbClr val="27D196"/>
          </a:solidFill>
          <a:ln/>
        </p:spPr>
      </p:sp>
      <p:sp>
        <p:nvSpPr>
          <p:cNvPr id="24" name="Shape 22"/>
          <p:cNvSpPr/>
          <p:nvPr/>
        </p:nvSpPr>
        <p:spPr>
          <a:xfrm>
            <a:off x="7315200" y="3200400"/>
            <a:ext cx="457200" cy="457200"/>
          </a:xfrm>
          <a:prstGeom prst="ellipse">
            <a:avLst/>
          </a:prstGeom>
          <a:solidFill>
            <a:srgbClr val="27D196">
              <a:alpha val="25000"/>
            </a:srgbClr>
          </a:solidFill>
          <a:ln w="15875">
            <a:solidFill>
              <a:srgbClr val="27D196"/>
            </a:solidFill>
            <a:prstDash val="solid"/>
          </a:ln>
        </p:spPr>
      </p:sp>
      <p:sp>
        <p:nvSpPr>
          <p:cNvPr id="25" name="Text 23"/>
          <p:cNvSpPr/>
          <p:nvPr/>
        </p:nvSpPr>
        <p:spPr>
          <a:xfrm>
            <a:off x="7315200" y="3200400"/>
            <a:ext cx="457200" cy="457200"/>
          </a:xfrm>
          <a:prstGeom prst="rect">
            <a:avLst/>
          </a:prstGeom>
          <a:noFill/>
          <a:ln/>
        </p:spPr>
        <p:txBody>
          <a:bodyPr wrap="square" lIns="0" tIns="0" rIns="0" bIns="0" rtlCol="0" anchor="ctr"/>
          <a:lstStyle/>
          <a:p>
            <a:pPr algn="ctr" indent="0" marL="0">
              <a:buNone/>
            </a:pPr>
            <a:r>
              <a:rPr lang="en-US" sz="1600" b="1" dirty="0">
                <a:solidFill>
                  <a:srgbClr val="27D196"/>
                </a:solidFill>
              </a:rPr>
              <a:t>3</a:t>
            </a:r>
            <a:endParaRPr lang="en-US" sz="1600" dirty="0"/>
          </a:p>
        </p:txBody>
      </p:sp>
      <p:sp>
        <p:nvSpPr>
          <p:cNvPr id="26" name="Text 24"/>
          <p:cNvSpPr/>
          <p:nvPr/>
        </p:nvSpPr>
        <p:spPr>
          <a:xfrm>
            <a:off x="6400800" y="3794760"/>
            <a:ext cx="22860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CQRS read model</a:t>
            </a:r>
            <a:endParaRPr lang="en-US" sz="1400" dirty="0"/>
          </a:p>
        </p:txBody>
      </p:sp>
      <p:sp>
        <p:nvSpPr>
          <p:cNvPr id="27" name="Text 25"/>
          <p:cNvSpPr/>
          <p:nvPr/>
        </p:nvSpPr>
        <p:spPr>
          <a:xfrm>
            <a:off x="6419088" y="4434840"/>
            <a:ext cx="2249424" cy="1600200"/>
          </a:xfrm>
          <a:prstGeom prst="rect">
            <a:avLst/>
          </a:prstGeom>
          <a:noFill/>
          <a:ln/>
        </p:spPr>
        <p:txBody>
          <a:bodyPr wrap="square" rtlCol="0" anchor="ctr"/>
          <a:lstStyle/>
          <a:p>
            <a:pPr algn="ctr" indent="0" marL="0">
              <a:lnSpc>
                <a:spcPct val="108000"/>
              </a:lnSpc>
              <a:buNone/>
            </a:pPr>
            <a:r>
              <a:rPr lang="en-US" sz="1080" dirty="0">
                <a:solidFill>
                  <a:srgbClr val="9FB0C0"/>
                </a:solidFill>
                <a:latin typeface="Arial" pitchFamily="34" charset="0"/>
                <a:ea typeface="Arial" pitchFamily="34" charset="-122"/>
                <a:cs typeface="Arial" pitchFamily="34" charset="-120"/>
              </a:rPr>
              <a:t>Redis projection rebuilt from the write model on each event — fast reads, short bounded convergence window.</a:t>
            </a:r>
            <a:endParaRPr lang="en-US" sz="1080" dirty="0"/>
          </a:p>
        </p:txBody>
      </p:sp>
      <p:sp>
        <p:nvSpPr>
          <p:cNvPr id="28" name="Shape 26"/>
          <p:cNvSpPr/>
          <p:nvPr/>
        </p:nvSpPr>
        <p:spPr>
          <a:xfrm>
            <a:off x="8997696" y="2926080"/>
            <a:ext cx="2606040" cy="3200400"/>
          </a:xfrm>
          <a:prstGeom prst="roundRect">
            <a:avLst>
              <a:gd name="adj" fmla="val 2807"/>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9" name="Shape 27"/>
          <p:cNvSpPr/>
          <p:nvPr/>
        </p:nvSpPr>
        <p:spPr>
          <a:xfrm>
            <a:off x="8997696" y="2926080"/>
            <a:ext cx="2606040" cy="91440"/>
          </a:xfrm>
          <a:prstGeom prst="rect">
            <a:avLst/>
          </a:prstGeom>
          <a:solidFill>
            <a:srgbClr val="4DA6FF"/>
          </a:solidFill>
          <a:ln/>
        </p:spPr>
      </p:sp>
      <p:sp>
        <p:nvSpPr>
          <p:cNvPr id="30" name="Shape 28"/>
          <p:cNvSpPr/>
          <p:nvPr/>
        </p:nvSpPr>
        <p:spPr>
          <a:xfrm>
            <a:off x="10076688" y="3200400"/>
            <a:ext cx="457200" cy="457200"/>
          </a:xfrm>
          <a:prstGeom prst="ellipse">
            <a:avLst/>
          </a:prstGeom>
          <a:solidFill>
            <a:srgbClr val="4DA6FF">
              <a:alpha val="25000"/>
            </a:srgbClr>
          </a:solidFill>
          <a:ln w="15875">
            <a:solidFill>
              <a:srgbClr val="4DA6FF"/>
            </a:solidFill>
            <a:prstDash val="solid"/>
          </a:ln>
        </p:spPr>
      </p:sp>
      <p:sp>
        <p:nvSpPr>
          <p:cNvPr id="31" name="Text 29"/>
          <p:cNvSpPr/>
          <p:nvPr/>
        </p:nvSpPr>
        <p:spPr>
          <a:xfrm>
            <a:off x="10076688" y="3200400"/>
            <a:ext cx="457200" cy="457200"/>
          </a:xfrm>
          <a:prstGeom prst="rect">
            <a:avLst/>
          </a:prstGeom>
          <a:noFill/>
          <a:ln/>
        </p:spPr>
        <p:txBody>
          <a:bodyPr wrap="square" lIns="0" tIns="0" rIns="0" bIns="0" rtlCol="0" anchor="ctr"/>
          <a:lstStyle/>
          <a:p>
            <a:pPr algn="ctr" indent="0" marL="0">
              <a:buNone/>
            </a:pPr>
            <a:r>
              <a:rPr lang="en-US" sz="1600" b="1" dirty="0">
                <a:solidFill>
                  <a:srgbClr val="4DA6FF"/>
                </a:solidFill>
              </a:rPr>
              <a:t>4</a:t>
            </a:r>
            <a:endParaRPr lang="en-US" sz="1600" dirty="0"/>
          </a:p>
        </p:txBody>
      </p:sp>
      <p:sp>
        <p:nvSpPr>
          <p:cNvPr id="32" name="Text 30"/>
          <p:cNvSpPr/>
          <p:nvPr/>
        </p:nvSpPr>
        <p:spPr>
          <a:xfrm>
            <a:off x="9162288" y="3794760"/>
            <a:ext cx="22860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Idempotency keys</a:t>
            </a:r>
            <a:endParaRPr lang="en-US" sz="1400" dirty="0"/>
          </a:p>
        </p:txBody>
      </p:sp>
      <p:sp>
        <p:nvSpPr>
          <p:cNvPr id="33" name="Text 31"/>
          <p:cNvSpPr/>
          <p:nvPr/>
        </p:nvSpPr>
        <p:spPr>
          <a:xfrm>
            <a:off x="9180576" y="4434840"/>
            <a:ext cx="2249424" cy="1600200"/>
          </a:xfrm>
          <a:prstGeom prst="rect">
            <a:avLst/>
          </a:prstGeom>
          <a:noFill/>
          <a:ln/>
        </p:spPr>
        <p:txBody>
          <a:bodyPr wrap="square" rtlCol="0" anchor="ctr"/>
          <a:lstStyle/>
          <a:p>
            <a:pPr algn="ctr" indent="0" marL="0">
              <a:lnSpc>
                <a:spcPct val="108000"/>
              </a:lnSpc>
              <a:buNone/>
            </a:pPr>
            <a:r>
              <a:rPr lang="en-US" sz="1080" dirty="0">
                <a:solidFill>
                  <a:srgbClr val="9FB0C0"/>
                </a:solidFill>
                <a:latin typeface="Arial" pitchFamily="34" charset="0"/>
                <a:ea typeface="Arial" pitchFamily="34" charset="-122"/>
                <a:cs typeface="Arial" pitchFamily="34" charset="-120"/>
              </a:rPr>
              <a:t>Booking &amp; payment retries are safe and never duplicate.</a:t>
            </a:r>
            <a:endParaRPr lang="en-US" sz="1080" dirty="0"/>
          </a:p>
        </p:txBody>
      </p:sp>
      <p:sp>
        <p:nvSpPr>
          <p:cNvPr id="34" name="Text 32"/>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35" name="Text 33"/>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04 — REAL-TIME DATA SYNCHRONISATION</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Live Updates Driven by Events, Not Polling</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Impl 40%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Shape 6"/>
          <p:cNvSpPr/>
          <p:nvPr/>
        </p:nvSpPr>
        <p:spPr>
          <a:xfrm>
            <a:off x="713232" y="1627632"/>
            <a:ext cx="3520440" cy="4480560"/>
          </a:xfrm>
          <a:prstGeom prst="roundRect">
            <a:avLst>
              <a:gd name="adj" fmla="val 20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914400" y="1783080"/>
            <a:ext cx="3200400" cy="320040"/>
          </a:xfrm>
          <a:prstGeom prst="rect">
            <a:avLst/>
          </a:prstGeom>
          <a:noFill/>
          <a:ln/>
        </p:spPr>
        <p:txBody>
          <a:bodyPr wrap="square" rtlCol="0" anchor="ctr"/>
          <a:lstStyle/>
          <a:p>
            <a:pPr indent="0" marL="0">
              <a:buNone/>
            </a:pPr>
            <a:r>
              <a:rPr lang="en-US" sz="1400" b="1" dirty="0">
                <a:solidFill>
                  <a:srgbClr val="FF9900"/>
                </a:solidFill>
                <a:latin typeface="Arial" pitchFamily="34" charset="0"/>
                <a:ea typeface="Arial" pitchFamily="34" charset="-122"/>
                <a:cs typeface="Arial" pitchFamily="34" charset="-120"/>
              </a:rPr>
              <a:t>WebSocket push</a:t>
            </a:r>
            <a:endParaRPr lang="en-US" sz="1400" dirty="0"/>
          </a:p>
        </p:txBody>
      </p:sp>
      <p:sp>
        <p:nvSpPr>
          <p:cNvPr id="10" name="Text 8"/>
          <p:cNvSpPr/>
          <p:nvPr/>
        </p:nvSpPr>
        <p:spPr>
          <a:xfrm>
            <a:off x="914400" y="2194560"/>
            <a:ext cx="3246120" cy="2011680"/>
          </a:xfrm>
          <a:prstGeom prst="rect">
            <a:avLst/>
          </a:prstGeom>
          <a:noFill/>
          <a:ln/>
        </p:spPr>
        <p:txBody>
          <a:bodyPr wrap="square" rtlCol="0" anchor="ctr"/>
          <a:lstStyle/>
          <a:p>
            <a:pPr marL="342900" indent="-342900">
              <a:lnSpc>
                <a:spcPct val="115000"/>
              </a:lnSpc>
              <a:buSzPct val="100000"/>
              <a:buChar char="•"/>
            </a:pPr>
            <a:r>
              <a:rPr lang="en-US" sz="1100" dirty="0">
                <a:solidFill>
                  <a:srgbClr val="E6ECF2"/>
                </a:solidFill>
                <a:latin typeface="Arial" pitchFamily="34" charset="0"/>
                <a:ea typeface="Arial" pitchFamily="34" charset="-122"/>
                <a:cs typeface="Arial" pitchFamily="34" charset="-120"/>
              </a:rPr>
              <a:t>API Gateway WebSocket API</a:t>
            </a:r>
            <a:endParaRPr lang="en-US" sz="1100" dirty="0"/>
          </a:p>
          <a:p>
            <a:pPr marL="342900" indent="-342900">
              <a:lnSpc>
                <a:spcPct val="115000"/>
              </a:lnSpc>
              <a:buSzPct val="100000"/>
              <a:buChar char="•"/>
            </a:pPr>
            <a:r>
              <a:rPr lang="en-US" sz="1100" dirty="0">
                <a:solidFill>
                  <a:srgbClr val="E6ECF2"/>
                </a:solidFill>
                <a:latin typeface="Arial" pitchFamily="34" charset="0"/>
                <a:ea typeface="Arial" pitchFamily="34" charset="-122"/>
                <a:cs typeface="Arial" pitchFamily="34" charset="-120"/>
              </a:rPr>
              <a:t>JWT validated on $connect</a:t>
            </a:r>
            <a:endParaRPr lang="en-US" sz="1100" dirty="0"/>
          </a:p>
          <a:p>
            <a:pPr marL="342900" indent="-342900">
              <a:lnSpc>
                <a:spcPct val="115000"/>
              </a:lnSpc>
              <a:buSzPct val="100000"/>
              <a:buChar char="•"/>
            </a:pPr>
            <a:r>
              <a:rPr lang="en-US" sz="1100" dirty="0">
                <a:solidFill>
                  <a:srgbClr val="E6ECF2"/>
                </a:solidFill>
                <a:latin typeface="Arial" pitchFamily="34" charset="0"/>
                <a:ea typeface="Arial" pitchFamily="34" charset="-122"/>
                <a:cs typeface="Arial" pitchFamily="34" charset="-120"/>
              </a:rPr>
              <a:t>Connection ID mapped to user</a:t>
            </a:r>
            <a:endParaRPr lang="en-US" sz="1100" dirty="0"/>
          </a:p>
          <a:p>
            <a:pPr marL="342900" indent="-342900">
              <a:lnSpc>
                <a:spcPct val="115000"/>
              </a:lnSpc>
              <a:buSzPct val="100000"/>
              <a:buChar char="•"/>
            </a:pPr>
            <a:r>
              <a:rPr lang="en-US" sz="1100" dirty="0">
                <a:solidFill>
                  <a:srgbClr val="E6ECF2"/>
                </a:solidFill>
                <a:latin typeface="Arial" pitchFamily="34" charset="0"/>
                <a:ea typeface="Arial" pitchFamily="34" charset="-122"/>
                <a:cs typeface="Arial" pitchFamily="34" charset="-120"/>
              </a:rPr>
              <a:t>Events pushed as they occur</a:t>
            </a:r>
            <a:endParaRPr lang="en-US" sz="1100" dirty="0"/>
          </a:p>
          <a:p>
            <a:pPr marL="342900" indent="-342900">
              <a:lnSpc>
                <a:spcPct val="115000"/>
              </a:lnSpc>
              <a:buSzPct val="100000"/>
              <a:buChar char="•"/>
            </a:pPr>
            <a:r>
              <a:rPr lang="en-US" sz="1100" dirty="0">
                <a:solidFill>
                  <a:srgbClr val="E6ECF2"/>
                </a:solidFill>
                <a:latin typeface="Arial" pitchFamily="34" charset="0"/>
                <a:ea typeface="Arial" pitchFamily="34" charset="-122"/>
                <a:cs typeface="Arial" pitchFamily="34" charset="-120"/>
              </a:rPr>
              <a:t>Auto-reconnect w/ exponential backoff</a:t>
            </a:r>
            <a:endParaRPr lang="en-US" sz="1100" dirty="0"/>
          </a:p>
        </p:txBody>
      </p:sp>
      <p:sp>
        <p:nvSpPr>
          <p:cNvPr id="11" name="Shape 9"/>
          <p:cNvSpPr/>
          <p:nvPr/>
        </p:nvSpPr>
        <p:spPr>
          <a:xfrm>
            <a:off x="914400" y="4343400"/>
            <a:ext cx="3154680" cy="1554480"/>
          </a:xfrm>
          <a:prstGeom prst="roundRect">
            <a:avLst>
              <a:gd name="adj" fmla="val 4706"/>
            </a:avLst>
          </a:prstGeom>
          <a:solidFill>
            <a:srgbClr val="1A232E"/>
          </a:solidFill>
          <a:ln w="12700">
            <a:solidFill>
              <a:srgbClr val="00A1C9"/>
            </a:solidFill>
            <a:prstDash val="solid"/>
          </a:ln>
        </p:spPr>
      </p:sp>
      <p:sp>
        <p:nvSpPr>
          <p:cNvPr id="12" name="Text 10"/>
          <p:cNvSpPr/>
          <p:nvPr/>
        </p:nvSpPr>
        <p:spPr>
          <a:xfrm>
            <a:off x="1097280" y="4480560"/>
            <a:ext cx="2834640" cy="1280160"/>
          </a:xfrm>
          <a:prstGeom prst="rect">
            <a:avLst/>
          </a:prstGeom>
          <a:noFill/>
          <a:ln/>
        </p:spPr>
        <p:txBody>
          <a:bodyPr wrap="square" lIns="0" tIns="0" rIns="0" bIns="0" rtlCol="0" anchor="ctr"/>
          <a:lstStyle/>
          <a:p>
            <a:pPr indent="0" marL="0">
              <a:buNone/>
            </a:pPr>
            <a:r>
              <a:rPr lang="en-US" sz="1200" i="1" dirty="0">
                <a:solidFill>
                  <a:srgbClr val="00A1C9"/>
                </a:solidFill>
                <a:latin typeface="Arial" pitchFamily="34" charset="0"/>
                <a:ea typeface="Arial" pitchFamily="34" charset="-122"/>
                <a:cs typeface="Arial" pitchFamily="34" charset="-120"/>
              </a:rPr>
              <a:t>Same event updates DB and notifies the user — no stale-UI risk.</a:t>
            </a:r>
            <a:endParaRPr lang="en-US" sz="1200" dirty="0"/>
          </a:p>
        </p:txBody>
      </p:sp>
      <p:sp>
        <p:nvSpPr>
          <p:cNvPr id="13" name="Shape 11"/>
          <p:cNvSpPr/>
          <p:nvPr/>
        </p:nvSpPr>
        <p:spPr>
          <a:xfrm>
            <a:off x="4389120" y="1627632"/>
            <a:ext cx="3520440" cy="4480560"/>
          </a:xfrm>
          <a:prstGeom prst="roundRect">
            <a:avLst>
              <a:gd name="adj" fmla="val 2078"/>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4" name="Text 12"/>
          <p:cNvSpPr/>
          <p:nvPr/>
        </p:nvSpPr>
        <p:spPr>
          <a:xfrm>
            <a:off x="4590288" y="1783080"/>
            <a:ext cx="3200400" cy="320040"/>
          </a:xfrm>
          <a:prstGeom prst="rect">
            <a:avLst/>
          </a:prstGeom>
          <a:noFill/>
          <a:ln/>
        </p:spPr>
        <p:txBody>
          <a:bodyPr wrap="square" rtlCol="0" anchor="ctr"/>
          <a:lstStyle/>
          <a:p>
            <a:pPr indent="0" marL="0">
              <a:buNone/>
            </a:pPr>
            <a:r>
              <a:rPr lang="en-US" sz="1400" b="1" dirty="0">
                <a:solidFill>
                  <a:srgbClr val="00A1C9"/>
                </a:solidFill>
                <a:latin typeface="Arial" pitchFamily="34" charset="0"/>
                <a:ea typeface="Arial" pitchFamily="34" charset="-122"/>
                <a:cs typeface="Arial" pitchFamily="34" charset="-120"/>
              </a:rPr>
              <a:t>Live seat availability (CQRS)</a:t>
            </a:r>
            <a:endParaRPr lang="en-US" sz="1400" dirty="0"/>
          </a:p>
        </p:txBody>
      </p:sp>
      <p:sp>
        <p:nvSpPr>
          <p:cNvPr id="15" name="Shape 13"/>
          <p:cNvSpPr/>
          <p:nvPr/>
        </p:nvSpPr>
        <p:spPr>
          <a:xfrm>
            <a:off x="4590288" y="2212848"/>
            <a:ext cx="274320" cy="274320"/>
          </a:xfrm>
          <a:prstGeom prst="ellipse">
            <a:avLst/>
          </a:prstGeom>
          <a:solidFill>
            <a:srgbClr val="00A1C9"/>
          </a:solidFill>
          <a:ln/>
        </p:spPr>
      </p:sp>
      <p:sp>
        <p:nvSpPr>
          <p:cNvPr id="16" name="Text 14"/>
          <p:cNvSpPr/>
          <p:nvPr/>
        </p:nvSpPr>
        <p:spPr>
          <a:xfrm>
            <a:off x="4590288" y="2212848"/>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1</a:t>
            </a:r>
            <a:endParaRPr lang="en-US" sz="1000" dirty="0"/>
          </a:p>
        </p:txBody>
      </p:sp>
      <p:sp>
        <p:nvSpPr>
          <p:cNvPr id="17" name="Text 15"/>
          <p:cNvSpPr/>
          <p:nvPr/>
        </p:nvSpPr>
        <p:spPr>
          <a:xfrm>
            <a:off x="4956048" y="2167128"/>
            <a:ext cx="2880360" cy="384048"/>
          </a:xfrm>
          <a:prstGeom prst="rect">
            <a:avLst/>
          </a:prstGeom>
          <a:noFill/>
          <a:ln/>
        </p:spPr>
        <p:txBody>
          <a:bodyPr wrap="square" lIns="0" tIns="0" rIns="0" bIns="0" rtlCol="0" anchor="ctr"/>
          <a:lstStyle/>
          <a:p>
            <a:pPr indent="0" marL="0">
              <a:buNone/>
            </a:pPr>
            <a:r>
              <a:rPr lang="en-US" sz="1100" dirty="0">
                <a:solidFill>
                  <a:srgbClr val="E6ECF2"/>
                </a:solidFill>
                <a:latin typeface="Arial" pitchFamily="34" charset="0"/>
                <a:ea typeface="Arial" pitchFamily="34" charset="-122"/>
                <a:cs typeface="Arial" pitchFamily="34" charset="-120"/>
              </a:rPr>
              <a:t>flight-service writes to PostgreSQL</a:t>
            </a:r>
            <a:endParaRPr lang="en-US" sz="1100" dirty="0"/>
          </a:p>
        </p:txBody>
      </p:sp>
      <p:sp>
        <p:nvSpPr>
          <p:cNvPr id="18" name="Shape 16"/>
          <p:cNvSpPr/>
          <p:nvPr/>
        </p:nvSpPr>
        <p:spPr>
          <a:xfrm>
            <a:off x="4727448" y="2487168"/>
            <a:ext cx="0" cy="329184"/>
          </a:xfrm>
          <a:prstGeom prst="line">
            <a:avLst/>
          </a:prstGeom>
          <a:noFill/>
          <a:ln w="12700">
            <a:solidFill>
              <a:srgbClr val="44586B"/>
            </a:solidFill>
            <a:prstDash val="solid"/>
          </a:ln>
        </p:spPr>
      </p:sp>
      <p:sp>
        <p:nvSpPr>
          <p:cNvPr id="19" name="Shape 17"/>
          <p:cNvSpPr/>
          <p:nvPr/>
        </p:nvSpPr>
        <p:spPr>
          <a:xfrm>
            <a:off x="4590288" y="2816352"/>
            <a:ext cx="274320" cy="274320"/>
          </a:xfrm>
          <a:prstGeom prst="ellipse">
            <a:avLst/>
          </a:prstGeom>
          <a:solidFill>
            <a:srgbClr val="00A1C9"/>
          </a:solidFill>
          <a:ln/>
        </p:spPr>
      </p:sp>
      <p:sp>
        <p:nvSpPr>
          <p:cNvPr id="20" name="Text 18"/>
          <p:cNvSpPr/>
          <p:nvPr/>
        </p:nvSpPr>
        <p:spPr>
          <a:xfrm>
            <a:off x="4590288" y="2816352"/>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2</a:t>
            </a:r>
            <a:endParaRPr lang="en-US" sz="1000" dirty="0"/>
          </a:p>
        </p:txBody>
      </p:sp>
      <p:sp>
        <p:nvSpPr>
          <p:cNvPr id="21" name="Text 19"/>
          <p:cNvSpPr/>
          <p:nvPr/>
        </p:nvSpPr>
        <p:spPr>
          <a:xfrm>
            <a:off x="4956048" y="2770632"/>
            <a:ext cx="2880360" cy="384048"/>
          </a:xfrm>
          <a:prstGeom prst="rect">
            <a:avLst/>
          </a:prstGeom>
          <a:noFill/>
          <a:ln/>
        </p:spPr>
        <p:txBody>
          <a:bodyPr wrap="square" lIns="0" tIns="0" rIns="0" bIns="0" rtlCol="0" anchor="ctr"/>
          <a:lstStyle/>
          <a:p>
            <a:pPr indent="0" marL="0">
              <a:buNone/>
            </a:pPr>
            <a:r>
              <a:rPr lang="en-US" sz="1100" dirty="0">
                <a:solidFill>
                  <a:srgbClr val="E6ECF2"/>
                </a:solidFill>
                <a:latin typeface="Arial" pitchFamily="34" charset="0"/>
                <a:ea typeface="Arial" pitchFamily="34" charset="-122"/>
                <a:cs typeface="Arial" pitchFamily="34" charset="-120"/>
              </a:rPr>
              <a:t>Publishes seat.availability-updated</a:t>
            </a:r>
            <a:endParaRPr lang="en-US" sz="1100" dirty="0"/>
          </a:p>
        </p:txBody>
      </p:sp>
      <p:sp>
        <p:nvSpPr>
          <p:cNvPr id="22" name="Shape 20"/>
          <p:cNvSpPr/>
          <p:nvPr/>
        </p:nvSpPr>
        <p:spPr>
          <a:xfrm>
            <a:off x="4727448" y="3090672"/>
            <a:ext cx="0" cy="329184"/>
          </a:xfrm>
          <a:prstGeom prst="line">
            <a:avLst/>
          </a:prstGeom>
          <a:noFill/>
          <a:ln w="12700">
            <a:solidFill>
              <a:srgbClr val="44586B"/>
            </a:solidFill>
            <a:prstDash val="solid"/>
          </a:ln>
        </p:spPr>
      </p:sp>
      <p:sp>
        <p:nvSpPr>
          <p:cNvPr id="23" name="Shape 21"/>
          <p:cNvSpPr/>
          <p:nvPr/>
        </p:nvSpPr>
        <p:spPr>
          <a:xfrm>
            <a:off x="4590288" y="3419856"/>
            <a:ext cx="274320" cy="274320"/>
          </a:xfrm>
          <a:prstGeom prst="ellipse">
            <a:avLst/>
          </a:prstGeom>
          <a:solidFill>
            <a:srgbClr val="00A1C9"/>
          </a:solidFill>
          <a:ln/>
        </p:spPr>
      </p:sp>
      <p:sp>
        <p:nvSpPr>
          <p:cNvPr id="24" name="Text 22"/>
          <p:cNvSpPr/>
          <p:nvPr/>
        </p:nvSpPr>
        <p:spPr>
          <a:xfrm>
            <a:off x="4590288" y="3419856"/>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3</a:t>
            </a:r>
            <a:endParaRPr lang="en-US" sz="1000" dirty="0"/>
          </a:p>
        </p:txBody>
      </p:sp>
      <p:sp>
        <p:nvSpPr>
          <p:cNvPr id="25" name="Text 23"/>
          <p:cNvSpPr/>
          <p:nvPr/>
        </p:nvSpPr>
        <p:spPr>
          <a:xfrm>
            <a:off x="4956048" y="3374136"/>
            <a:ext cx="2880360" cy="384048"/>
          </a:xfrm>
          <a:prstGeom prst="rect">
            <a:avLst/>
          </a:prstGeom>
          <a:noFill/>
          <a:ln/>
        </p:spPr>
        <p:txBody>
          <a:bodyPr wrap="square" lIns="0" tIns="0" rIns="0" bIns="0" rtlCol="0" anchor="ctr"/>
          <a:lstStyle/>
          <a:p>
            <a:pPr indent="0" marL="0">
              <a:buNone/>
            </a:pPr>
            <a:r>
              <a:rPr lang="en-US" sz="1100" dirty="0">
                <a:solidFill>
                  <a:srgbClr val="E6ECF2"/>
                </a:solidFill>
                <a:latin typeface="Arial" pitchFamily="34" charset="0"/>
                <a:ea typeface="Arial" pitchFamily="34" charset="-122"/>
                <a:cs typeface="Arial" pitchFamily="34" charset="-120"/>
              </a:rPr>
              <a:t>Kafka consumer updates Redis projection</a:t>
            </a:r>
            <a:endParaRPr lang="en-US" sz="1100" dirty="0"/>
          </a:p>
        </p:txBody>
      </p:sp>
      <p:sp>
        <p:nvSpPr>
          <p:cNvPr id="26" name="Shape 24"/>
          <p:cNvSpPr/>
          <p:nvPr/>
        </p:nvSpPr>
        <p:spPr>
          <a:xfrm>
            <a:off x="4727448" y="3694176"/>
            <a:ext cx="0" cy="329184"/>
          </a:xfrm>
          <a:prstGeom prst="line">
            <a:avLst/>
          </a:prstGeom>
          <a:noFill/>
          <a:ln w="12700">
            <a:solidFill>
              <a:srgbClr val="44586B"/>
            </a:solidFill>
            <a:prstDash val="solid"/>
          </a:ln>
        </p:spPr>
      </p:sp>
      <p:sp>
        <p:nvSpPr>
          <p:cNvPr id="27" name="Shape 25"/>
          <p:cNvSpPr/>
          <p:nvPr/>
        </p:nvSpPr>
        <p:spPr>
          <a:xfrm>
            <a:off x="4590288" y="4023360"/>
            <a:ext cx="274320" cy="274320"/>
          </a:xfrm>
          <a:prstGeom prst="ellipse">
            <a:avLst/>
          </a:prstGeom>
          <a:solidFill>
            <a:srgbClr val="00A1C9"/>
          </a:solidFill>
          <a:ln/>
        </p:spPr>
      </p:sp>
      <p:sp>
        <p:nvSpPr>
          <p:cNvPr id="28" name="Text 26"/>
          <p:cNvSpPr/>
          <p:nvPr/>
        </p:nvSpPr>
        <p:spPr>
          <a:xfrm>
            <a:off x="4590288" y="4023360"/>
            <a:ext cx="274320" cy="274320"/>
          </a:xfrm>
          <a:prstGeom prst="rect">
            <a:avLst/>
          </a:prstGeom>
          <a:noFill/>
          <a:ln/>
        </p:spPr>
        <p:txBody>
          <a:bodyPr wrap="square" lIns="0" tIns="0" rIns="0" bIns="0" rtlCol="0" anchor="ctr"/>
          <a:lstStyle/>
          <a:p>
            <a:pPr algn="ctr" indent="0" marL="0">
              <a:buNone/>
            </a:pPr>
            <a:r>
              <a:rPr lang="en-US" sz="1000" b="1" dirty="0">
                <a:solidFill>
                  <a:srgbClr val="232F3E"/>
                </a:solidFill>
              </a:rPr>
              <a:t>4</a:t>
            </a:r>
            <a:endParaRPr lang="en-US" sz="1000" dirty="0"/>
          </a:p>
        </p:txBody>
      </p:sp>
      <p:sp>
        <p:nvSpPr>
          <p:cNvPr id="29" name="Text 27"/>
          <p:cNvSpPr/>
          <p:nvPr/>
        </p:nvSpPr>
        <p:spPr>
          <a:xfrm>
            <a:off x="4956048" y="3977640"/>
            <a:ext cx="2880360" cy="384048"/>
          </a:xfrm>
          <a:prstGeom prst="rect">
            <a:avLst/>
          </a:prstGeom>
          <a:noFill/>
          <a:ln/>
        </p:spPr>
        <p:txBody>
          <a:bodyPr wrap="square" lIns="0" tIns="0" rIns="0" bIns="0" rtlCol="0" anchor="ctr"/>
          <a:lstStyle/>
          <a:p>
            <a:pPr indent="0" marL="0">
              <a:buNone/>
            </a:pPr>
            <a:r>
              <a:rPr lang="en-US" sz="1100" dirty="0">
                <a:solidFill>
                  <a:srgbClr val="E6ECF2"/>
                </a:solidFill>
                <a:latin typeface="Arial" pitchFamily="34" charset="0"/>
                <a:ea typeface="Arial" pitchFamily="34" charset="-122"/>
                <a:cs typeface="Arial" pitchFamily="34" charset="-120"/>
              </a:rPr>
              <a:t>WebSocket pushes to all viewers</a:t>
            </a:r>
            <a:endParaRPr lang="en-US" sz="1100" dirty="0"/>
          </a:p>
        </p:txBody>
      </p:sp>
      <p:sp>
        <p:nvSpPr>
          <p:cNvPr id="30" name="Shape 28"/>
          <p:cNvSpPr/>
          <p:nvPr/>
        </p:nvSpPr>
        <p:spPr>
          <a:xfrm>
            <a:off x="4590288" y="4892040"/>
            <a:ext cx="3154680" cy="1005840"/>
          </a:xfrm>
          <a:prstGeom prst="roundRect">
            <a:avLst>
              <a:gd name="adj" fmla="val 7273"/>
            </a:avLst>
          </a:prstGeom>
          <a:solidFill>
            <a:srgbClr val="1A232E"/>
          </a:solidFill>
          <a:ln w="12700">
            <a:solidFill>
              <a:srgbClr val="27D196"/>
            </a:solidFill>
            <a:prstDash val="solid"/>
          </a:ln>
        </p:spPr>
      </p:sp>
      <p:sp>
        <p:nvSpPr>
          <p:cNvPr id="31" name="Text 29"/>
          <p:cNvSpPr/>
          <p:nvPr/>
        </p:nvSpPr>
        <p:spPr>
          <a:xfrm>
            <a:off x="4590288" y="4983480"/>
            <a:ext cx="3154680" cy="868680"/>
          </a:xfrm>
          <a:prstGeom prst="rect">
            <a:avLst/>
          </a:prstGeom>
          <a:noFill/>
          <a:ln/>
        </p:spPr>
        <p:txBody>
          <a:bodyPr wrap="square" lIns="0" tIns="0" rIns="0" bIns="0" rtlCol="0" anchor="ctr"/>
          <a:lstStyle/>
          <a:p>
            <a:pPr algn="ctr" indent="0" marL="0">
              <a:buNone/>
            </a:pPr>
            <a:r>
              <a:rPr lang="en-US" sz="2000" b="1" dirty="0">
                <a:solidFill>
                  <a:srgbClr val="27D196"/>
                </a:solidFill>
                <a:latin typeface="Arial" pitchFamily="34" charset="0"/>
                <a:ea typeface="Arial" pitchFamily="34" charset="-122"/>
                <a:cs typeface="Arial" pitchFamily="34" charset="-120"/>
              </a:rPr>
              <a:t>~100–200 ms</a:t>
            </a:r>
            <a:endParaRPr lang="en-US" sz="2000" dirty="0"/>
          </a:p>
          <a:p>
            <a:pPr algn="ctr" indent="0" marL="0">
              <a:buNone/>
            </a:pPr>
            <a:r>
              <a:rPr lang="en-US" sz="1050" dirty="0">
                <a:solidFill>
                  <a:srgbClr val="9FB0C0"/>
                </a:solidFill>
                <a:latin typeface="Arial" pitchFamily="34" charset="0"/>
                <a:ea typeface="Arial" pitchFamily="34" charset="-122"/>
                <a:cs typeface="Arial" pitchFamily="34" charset="-120"/>
              </a:rPr>
              <a:t>write -&gt; Redis projection window</a:t>
            </a:r>
            <a:endParaRPr lang="en-US" sz="2000" dirty="0"/>
          </a:p>
        </p:txBody>
      </p:sp>
      <p:sp>
        <p:nvSpPr>
          <p:cNvPr id="32" name="Shape 30"/>
          <p:cNvSpPr/>
          <p:nvPr/>
        </p:nvSpPr>
        <p:spPr>
          <a:xfrm>
            <a:off x="8046720" y="1627632"/>
            <a:ext cx="3429000" cy="4480560"/>
          </a:xfrm>
          <a:prstGeom prst="roundRect">
            <a:avLst>
              <a:gd name="adj" fmla="val 2133"/>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33" name="Text 31"/>
          <p:cNvSpPr/>
          <p:nvPr/>
        </p:nvSpPr>
        <p:spPr>
          <a:xfrm>
            <a:off x="8247888" y="1783080"/>
            <a:ext cx="3108960" cy="320040"/>
          </a:xfrm>
          <a:prstGeom prst="rect">
            <a:avLst/>
          </a:prstGeom>
          <a:noFill/>
          <a:ln/>
        </p:spPr>
        <p:txBody>
          <a:bodyPr wrap="square" rtlCol="0" anchor="ctr"/>
          <a:lstStyle/>
          <a:p>
            <a:pPr indent="0" marL="0">
              <a:buNone/>
            </a:pPr>
            <a:r>
              <a:rPr lang="en-US" sz="1400" b="1" dirty="0">
                <a:solidFill>
                  <a:srgbClr val="27D196"/>
                </a:solidFill>
                <a:latin typeface="Arial" pitchFamily="34" charset="0"/>
                <a:ea typeface="Arial" pitchFamily="34" charset="-122"/>
                <a:cs typeface="Arial" pitchFamily="34" charset="-120"/>
              </a:rPr>
              <a:t>Live baggage tracking</a:t>
            </a:r>
            <a:endParaRPr lang="en-US" sz="1400" dirty="0"/>
          </a:p>
        </p:txBody>
      </p:sp>
      <p:sp>
        <p:nvSpPr>
          <p:cNvPr id="34" name="Text 32"/>
          <p:cNvSpPr/>
          <p:nvPr/>
        </p:nvSpPr>
        <p:spPr>
          <a:xfrm>
            <a:off x="8247888" y="2121408"/>
            <a:ext cx="3108960" cy="274320"/>
          </a:xfrm>
          <a:prstGeom prst="rect">
            <a:avLst/>
          </a:prstGeom>
          <a:noFill/>
          <a:ln/>
        </p:spPr>
        <p:txBody>
          <a:bodyPr wrap="square" rtlCol="0" anchor="ctr"/>
          <a:lstStyle/>
          <a:p>
            <a:pPr indent="0" marL="0">
              <a:buNone/>
            </a:pPr>
            <a:r>
              <a:rPr lang="en-US" sz="1100" i="1" dirty="0">
                <a:solidFill>
                  <a:srgbClr val="9FB0C0"/>
                </a:solidFill>
                <a:latin typeface="Arial" pitchFamily="34" charset="0"/>
                <a:ea typeface="Arial" pitchFamily="34" charset="-122"/>
                <a:cs typeface="Arial" pitchFamily="34" charset="-120"/>
              </a:rPr>
              <a:t>7-state finite-state machine</a:t>
            </a:r>
            <a:endParaRPr lang="en-US" sz="1100" dirty="0"/>
          </a:p>
        </p:txBody>
      </p:sp>
      <p:sp>
        <p:nvSpPr>
          <p:cNvPr id="35" name="Shape 33"/>
          <p:cNvSpPr/>
          <p:nvPr/>
        </p:nvSpPr>
        <p:spPr>
          <a:xfrm>
            <a:off x="8247888" y="2487168"/>
            <a:ext cx="3017520" cy="438912"/>
          </a:xfrm>
          <a:prstGeom prst="roundRect">
            <a:avLst>
              <a:gd name="adj" fmla="val 14583"/>
            </a:avLst>
          </a:prstGeom>
          <a:solidFill>
            <a:srgbClr val="37495C"/>
          </a:solidFill>
          <a:ln w="9525">
            <a:solidFill>
              <a:srgbClr val="44586B"/>
            </a:solidFill>
            <a:prstDash val="solid"/>
          </a:ln>
        </p:spPr>
      </p:sp>
      <p:sp>
        <p:nvSpPr>
          <p:cNvPr id="36" name="Text 34"/>
          <p:cNvSpPr/>
          <p:nvPr/>
        </p:nvSpPr>
        <p:spPr>
          <a:xfrm>
            <a:off x="8430768" y="2487168"/>
            <a:ext cx="2743200" cy="438912"/>
          </a:xfrm>
          <a:prstGeom prst="rect">
            <a:avLst/>
          </a:prstGeom>
          <a:noFill/>
          <a:ln/>
        </p:spPr>
        <p:txBody>
          <a:bodyPr wrap="square" lIns="0" tIns="0" rIns="0" bIns="0" rtlCol="0" anchor="ctr"/>
          <a:lstStyle/>
          <a:p>
            <a:pPr indent="0" marL="0">
              <a:buNone/>
            </a:pPr>
            <a:r>
              <a:rPr lang="en-US" sz="1100" b="1" dirty="0">
                <a:solidFill>
                  <a:srgbClr val="E6ECF2"/>
                </a:solidFill>
                <a:latin typeface="Arial" pitchFamily="34" charset="0"/>
                <a:ea typeface="Arial" pitchFamily="34" charset="-122"/>
                <a:cs typeface="Arial" pitchFamily="34" charset="-120"/>
              </a:rPr>
              <a:t>1.  TAGGED</a:t>
            </a:r>
            <a:endParaRPr lang="en-US" sz="1100" dirty="0"/>
          </a:p>
        </p:txBody>
      </p:sp>
      <p:sp>
        <p:nvSpPr>
          <p:cNvPr id="37" name="Shape 35"/>
          <p:cNvSpPr/>
          <p:nvPr/>
        </p:nvSpPr>
        <p:spPr>
          <a:xfrm>
            <a:off x="8247888" y="3054096"/>
            <a:ext cx="3017520" cy="438912"/>
          </a:xfrm>
          <a:prstGeom prst="roundRect">
            <a:avLst>
              <a:gd name="adj" fmla="val 14583"/>
            </a:avLst>
          </a:prstGeom>
          <a:solidFill>
            <a:srgbClr val="37495C"/>
          </a:solidFill>
          <a:ln w="9525">
            <a:solidFill>
              <a:srgbClr val="44586B"/>
            </a:solidFill>
            <a:prstDash val="solid"/>
          </a:ln>
        </p:spPr>
      </p:sp>
      <p:sp>
        <p:nvSpPr>
          <p:cNvPr id="38" name="Text 36"/>
          <p:cNvSpPr/>
          <p:nvPr/>
        </p:nvSpPr>
        <p:spPr>
          <a:xfrm>
            <a:off x="8430768" y="3054096"/>
            <a:ext cx="2743200" cy="438912"/>
          </a:xfrm>
          <a:prstGeom prst="rect">
            <a:avLst/>
          </a:prstGeom>
          <a:noFill/>
          <a:ln/>
        </p:spPr>
        <p:txBody>
          <a:bodyPr wrap="square" lIns="0" tIns="0" rIns="0" bIns="0" rtlCol="0" anchor="ctr"/>
          <a:lstStyle/>
          <a:p>
            <a:pPr indent="0" marL="0">
              <a:buNone/>
            </a:pPr>
            <a:r>
              <a:rPr lang="en-US" sz="1100" b="1" dirty="0">
                <a:solidFill>
                  <a:srgbClr val="E6ECF2"/>
                </a:solidFill>
                <a:latin typeface="Arial" pitchFamily="34" charset="0"/>
                <a:ea typeface="Arial" pitchFamily="34" charset="-122"/>
                <a:cs typeface="Arial" pitchFamily="34" charset="-120"/>
              </a:rPr>
              <a:t>2.  CHECKED-IN</a:t>
            </a:r>
            <a:endParaRPr lang="en-US" sz="1100" dirty="0"/>
          </a:p>
        </p:txBody>
      </p:sp>
      <p:sp>
        <p:nvSpPr>
          <p:cNvPr id="39" name="Shape 37"/>
          <p:cNvSpPr/>
          <p:nvPr/>
        </p:nvSpPr>
        <p:spPr>
          <a:xfrm>
            <a:off x="8247888" y="3621024"/>
            <a:ext cx="3017520" cy="438912"/>
          </a:xfrm>
          <a:prstGeom prst="roundRect">
            <a:avLst>
              <a:gd name="adj" fmla="val 14583"/>
            </a:avLst>
          </a:prstGeom>
          <a:solidFill>
            <a:srgbClr val="37495C"/>
          </a:solidFill>
          <a:ln w="9525">
            <a:solidFill>
              <a:srgbClr val="44586B"/>
            </a:solidFill>
            <a:prstDash val="solid"/>
          </a:ln>
        </p:spPr>
      </p:sp>
      <p:sp>
        <p:nvSpPr>
          <p:cNvPr id="40" name="Text 38"/>
          <p:cNvSpPr/>
          <p:nvPr/>
        </p:nvSpPr>
        <p:spPr>
          <a:xfrm>
            <a:off x="8430768" y="3621024"/>
            <a:ext cx="2743200" cy="438912"/>
          </a:xfrm>
          <a:prstGeom prst="rect">
            <a:avLst/>
          </a:prstGeom>
          <a:noFill/>
          <a:ln/>
        </p:spPr>
        <p:txBody>
          <a:bodyPr wrap="square" lIns="0" tIns="0" rIns="0" bIns="0" rtlCol="0" anchor="ctr"/>
          <a:lstStyle/>
          <a:p>
            <a:pPr indent="0" marL="0">
              <a:buNone/>
            </a:pPr>
            <a:r>
              <a:rPr lang="en-US" sz="1100" b="1" dirty="0">
                <a:solidFill>
                  <a:srgbClr val="E6ECF2"/>
                </a:solidFill>
                <a:latin typeface="Arial" pitchFamily="34" charset="0"/>
                <a:ea typeface="Arial" pitchFamily="34" charset="-122"/>
                <a:cs typeface="Arial" pitchFamily="34" charset="-120"/>
              </a:rPr>
              <a:t>3.  LOADED</a:t>
            </a:r>
            <a:endParaRPr lang="en-US" sz="1100" dirty="0"/>
          </a:p>
        </p:txBody>
      </p:sp>
      <p:sp>
        <p:nvSpPr>
          <p:cNvPr id="41" name="Shape 39"/>
          <p:cNvSpPr/>
          <p:nvPr/>
        </p:nvSpPr>
        <p:spPr>
          <a:xfrm>
            <a:off x="8247888" y="4187952"/>
            <a:ext cx="3017520" cy="438912"/>
          </a:xfrm>
          <a:prstGeom prst="roundRect">
            <a:avLst>
              <a:gd name="adj" fmla="val 14583"/>
            </a:avLst>
          </a:prstGeom>
          <a:solidFill>
            <a:srgbClr val="37495C"/>
          </a:solidFill>
          <a:ln w="9525">
            <a:solidFill>
              <a:srgbClr val="44586B"/>
            </a:solidFill>
            <a:prstDash val="solid"/>
          </a:ln>
        </p:spPr>
      </p:sp>
      <p:sp>
        <p:nvSpPr>
          <p:cNvPr id="42" name="Text 40"/>
          <p:cNvSpPr/>
          <p:nvPr/>
        </p:nvSpPr>
        <p:spPr>
          <a:xfrm>
            <a:off x="8430768" y="4187952"/>
            <a:ext cx="2743200" cy="438912"/>
          </a:xfrm>
          <a:prstGeom prst="rect">
            <a:avLst/>
          </a:prstGeom>
          <a:noFill/>
          <a:ln/>
        </p:spPr>
        <p:txBody>
          <a:bodyPr wrap="square" lIns="0" tIns="0" rIns="0" bIns="0" rtlCol="0" anchor="ctr"/>
          <a:lstStyle/>
          <a:p>
            <a:pPr indent="0" marL="0">
              <a:buNone/>
            </a:pPr>
            <a:r>
              <a:rPr lang="en-US" sz="1100" b="1" dirty="0">
                <a:solidFill>
                  <a:srgbClr val="E6ECF2"/>
                </a:solidFill>
                <a:latin typeface="Arial" pitchFamily="34" charset="0"/>
                <a:ea typeface="Arial" pitchFamily="34" charset="-122"/>
                <a:cs typeface="Arial" pitchFamily="34" charset="-120"/>
              </a:rPr>
              <a:t>4.  IN-TRANSIT</a:t>
            </a:r>
            <a:endParaRPr lang="en-US" sz="1100" dirty="0"/>
          </a:p>
        </p:txBody>
      </p:sp>
      <p:sp>
        <p:nvSpPr>
          <p:cNvPr id="43" name="Shape 41"/>
          <p:cNvSpPr/>
          <p:nvPr/>
        </p:nvSpPr>
        <p:spPr>
          <a:xfrm>
            <a:off x="8247888" y="4754880"/>
            <a:ext cx="3017520" cy="438912"/>
          </a:xfrm>
          <a:prstGeom prst="roundRect">
            <a:avLst>
              <a:gd name="adj" fmla="val 14583"/>
            </a:avLst>
          </a:prstGeom>
          <a:solidFill>
            <a:srgbClr val="37495C"/>
          </a:solidFill>
          <a:ln w="9525">
            <a:solidFill>
              <a:srgbClr val="44586B"/>
            </a:solidFill>
            <a:prstDash val="solid"/>
          </a:ln>
        </p:spPr>
      </p:sp>
      <p:sp>
        <p:nvSpPr>
          <p:cNvPr id="44" name="Text 42"/>
          <p:cNvSpPr/>
          <p:nvPr/>
        </p:nvSpPr>
        <p:spPr>
          <a:xfrm>
            <a:off x="8430768" y="4754880"/>
            <a:ext cx="2743200" cy="438912"/>
          </a:xfrm>
          <a:prstGeom prst="rect">
            <a:avLst/>
          </a:prstGeom>
          <a:noFill/>
          <a:ln/>
        </p:spPr>
        <p:txBody>
          <a:bodyPr wrap="square" lIns="0" tIns="0" rIns="0" bIns="0" rtlCol="0" anchor="ctr"/>
          <a:lstStyle/>
          <a:p>
            <a:pPr indent="0" marL="0">
              <a:buNone/>
            </a:pPr>
            <a:r>
              <a:rPr lang="en-US" sz="1100" b="1" dirty="0">
                <a:solidFill>
                  <a:srgbClr val="E6ECF2"/>
                </a:solidFill>
                <a:latin typeface="Arial" pitchFamily="34" charset="0"/>
                <a:ea typeface="Arial" pitchFamily="34" charset="-122"/>
                <a:cs typeface="Arial" pitchFamily="34" charset="-120"/>
              </a:rPr>
              <a:t>5.  ARRIVED</a:t>
            </a:r>
            <a:endParaRPr lang="en-US" sz="1100" dirty="0"/>
          </a:p>
        </p:txBody>
      </p:sp>
      <p:sp>
        <p:nvSpPr>
          <p:cNvPr id="45" name="Shape 43"/>
          <p:cNvSpPr/>
          <p:nvPr/>
        </p:nvSpPr>
        <p:spPr>
          <a:xfrm>
            <a:off x="8247888" y="5321808"/>
            <a:ext cx="3017520" cy="438912"/>
          </a:xfrm>
          <a:prstGeom prst="roundRect">
            <a:avLst>
              <a:gd name="adj" fmla="val 14583"/>
            </a:avLst>
          </a:prstGeom>
          <a:solidFill>
            <a:srgbClr val="1A232E"/>
          </a:solidFill>
          <a:ln w="9525">
            <a:solidFill>
              <a:srgbClr val="27D196"/>
            </a:solidFill>
            <a:prstDash val="solid"/>
          </a:ln>
        </p:spPr>
      </p:sp>
      <p:sp>
        <p:nvSpPr>
          <p:cNvPr id="46" name="Text 44"/>
          <p:cNvSpPr/>
          <p:nvPr/>
        </p:nvSpPr>
        <p:spPr>
          <a:xfrm>
            <a:off x="8430768" y="5321808"/>
            <a:ext cx="2743200" cy="438912"/>
          </a:xfrm>
          <a:prstGeom prst="rect">
            <a:avLst/>
          </a:prstGeom>
          <a:noFill/>
          <a:ln/>
        </p:spPr>
        <p:txBody>
          <a:bodyPr wrap="square" lIns="0" tIns="0" rIns="0" bIns="0" rtlCol="0" anchor="ctr"/>
          <a:lstStyle/>
          <a:p>
            <a:pPr indent="0" marL="0">
              <a:buNone/>
            </a:pPr>
            <a:r>
              <a:rPr lang="en-US" sz="1100" b="1" dirty="0">
                <a:solidFill>
                  <a:srgbClr val="E6ECF2"/>
                </a:solidFill>
                <a:latin typeface="Arial" pitchFamily="34" charset="0"/>
                <a:ea typeface="Arial" pitchFamily="34" charset="-122"/>
                <a:cs typeface="Arial" pitchFamily="34" charset="-120"/>
              </a:rPr>
              <a:t>6.  COLLECTED / LOST</a:t>
            </a:r>
            <a:endParaRPr lang="en-US" sz="1100" dirty="0"/>
          </a:p>
        </p:txBody>
      </p:sp>
      <p:sp>
        <p:nvSpPr>
          <p:cNvPr id="47" name="Text 45"/>
          <p:cNvSpPr/>
          <p:nvPr/>
        </p:nvSpPr>
        <p:spPr>
          <a:xfrm>
            <a:off x="8247888" y="5897880"/>
            <a:ext cx="3108960" cy="457200"/>
          </a:xfrm>
          <a:prstGeom prst="rect">
            <a:avLst/>
          </a:prstGeom>
          <a:noFill/>
          <a:ln/>
        </p:spPr>
        <p:txBody>
          <a:bodyPr wrap="square" lIns="0" tIns="0" rIns="0" bIns="0" rtlCol="0" anchor="ctr"/>
          <a:lstStyle/>
          <a:p>
            <a:pPr indent="0" marL="0">
              <a:lnSpc>
                <a:spcPct val="95000"/>
              </a:lnSpc>
              <a:buNone/>
            </a:pPr>
            <a:r>
              <a:rPr lang="en-US" sz="880" dirty="0">
                <a:solidFill>
                  <a:srgbClr val="9FB0C0"/>
                </a:solidFill>
                <a:latin typeface="Arial" pitchFamily="34" charset="0"/>
                <a:ea typeface="Arial" pitchFamily="34" charset="-122"/>
                <a:cs typeface="Arial" pitchFamily="34" charset="-120"/>
              </a:rPr>
              <a:t>Each transition validated, written to DynamoDB (conditional), published to Kafka -&gt; SMS / email.</a:t>
            </a:r>
            <a:endParaRPr lang="en-US" sz="880" dirty="0"/>
          </a:p>
        </p:txBody>
      </p:sp>
      <p:sp>
        <p:nvSpPr>
          <p:cNvPr id="48" name="Text 46"/>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49" name="Text 47"/>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05 — FAULT TOLERANCE &amp; RESILIENCE</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Failures Are Contained, Not Cascaded</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Impl 40%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Shape 6"/>
          <p:cNvSpPr/>
          <p:nvPr/>
        </p:nvSpPr>
        <p:spPr>
          <a:xfrm>
            <a:off x="713232" y="1627632"/>
            <a:ext cx="5577840" cy="2697480"/>
          </a:xfrm>
          <a:prstGeom prst="roundRect">
            <a:avLst>
              <a:gd name="adj" fmla="val 2712"/>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914400" y="1773936"/>
            <a:ext cx="5212080" cy="320040"/>
          </a:xfrm>
          <a:prstGeom prst="rect">
            <a:avLst/>
          </a:prstGeom>
          <a:noFill/>
          <a:ln/>
        </p:spPr>
        <p:txBody>
          <a:bodyPr wrap="square" rtlCol="0" anchor="ctr"/>
          <a:lstStyle/>
          <a:p>
            <a:pPr indent="0" marL="0">
              <a:buNone/>
            </a:pPr>
            <a:r>
              <a:rPr lang="en-US" sz="1400" b="1" dirty="0">
                <a:solidFill>
                  <a:srgbClr val="FF9900"/>
                </a:solidFill>
                <a:latin typeface="Arial" pitchFamily="34" charset="0"/>
                <a:ea typeface="Arial" pitchFamily="34" charset="-122"/>
                <a:cs typeface="Arial" pitchFamily="34" charset="-120"/>
              </a:rPr>
              <a:t>Circuit breaker — 3-state automaton</a:t>
            </a:r>
            <a:endParaRPr lang="en-US" sz="1400" dirty="0"/>
          </a:p>
        </p:txBody>
      </p:sp>
      <p:sp>
        <p:nvSpPr>
          <p:cNvPr id="10" name="Shape 8"/>
          <p:cNvSpPr/>
          <p:nvPr/>
        </p:nvSpPr>
        <p:spPr>
          <a:xfrm>
            <a:off x="914400" y="2212848"/>
            <a:ext cx="1627632" cy="868680"/>
          </a:xfrm>
          <a:prstGeom prst="roundRect">
            <a:avLst>
              <a:gd name="adj" fmla="val 8421"/>
            </a:avLst>
          </a:prstGeom>
          <a:solidFill>
            <a:srgbClr val="37495C"/>
          </a:solidFill>
          <a:ln w="15875">
            <a:solidFill>
              <a:srgbClr val="27D196"/>
            </a:solidFill>
            <a:prstDash val="solid"/>
          </a:ln>
        </p:spPr>
      </p:sp>
      <p:sp>
        <p:nvSpPr>
          <p:cNvPr id="11" name="Text 9"/>
          <p:cNvSpPr/>
          <p:nvPr/>
        </p:nvSpPr>
        <p:spPr>
          <a:xfrm>
            <a:off x="914400" y="2304288"/>
            <a:ext cx="1627632" cy="320040"/>
          </a:xfrm>
          <a:prstGeom prst="rect">
            <a:avLst/>
          </a:prstGeom>
          <a:noFill/>
          <a:ln/>
        </p:spPr>
        <p:txBody>
          <a:bodyPr wrap="square" lIns="0" tIns="0" rIns="0" bIns="0" rtlCol="0" anchor="ctr"/>
          <a:lstStyle/>
          <a:p>
            <a:pPr algn="ctr" indent="0" marL="0">
              <a:buNone/>
            </a:pPr>
            <a:r>
              <a:rPr lang="en-US" sz="1200" b="1" dirty="0">
                <a:solidFill>
                  <a:srgbClr val="27D196"/>
                </a:solidFill>
                <a:latin typeface="Arial" pitchFamily="34" charset="0"/>
                <a:ea typeface="Arial" pitchFamily="34" charset="-122"/>
                <a:cs typeface="Arial" pitchFamily="34" charset="-120"/>
              </a:rPr>
              <a:t>CLOSED</a:t>
            </a:r>
            <a:endParaRPr lang="en-US" sz="1200" dirty="0"/>
          </a:p>
        </p:txBody>
      </p:sp>
      <p:sp>
        <p:nvSpPr>
          <p:cNvPr id="12" name="Text 10"/>
          <p:cNvSpPr/>
          <p:nvPr/>
        </p:nvSpPr>
        <p:spPr>
          <a:xfrm>
            <a:off x="1005840" y="2606040"/>
            <a:ext cx="1444752" cy="438912"/>
          </a:xfrm>
          <a:prstGeom prst="rect">
            <a:avLst/>
          </a:prstGeom>
          <a:noFill/>
          <a:ln/>
        </p:spPr>
        <p:txBody>
          <a:bodyPr wrap="square" lIns="0" tIns="0" rIns="0" bIns="0" rtlCol="0" anchor="ctr"/>
          <a:lstStyle/>
          <a:p>
            <a:pPr algn="ctr" indent="0" marL="0">
              <a:lnSpc>
                <a:spcPct val="90000"/>
              </a:lnSpc>
              <a:buNone/>
            </a:pPr>
            <a:r>
              <a:rPr lang="en-US" sz="880" dirty="0">
                <a:solidFill>
                  <a:srgbClr val="9FB0C0"/>
                </a:solidFill>
                <a:latin typeface="Arial" pitchFamily="34" charset="0"/>
                <a:ea typeface="Arial" pitchFamily="34" charset="-122"/>
                <a:cs typeface="Arial" pitchFamily="34" charset="-120"/>
              </a:rPr>
              <a:t>Requests pass; failures counted</a:t>
            </a:r>
            <a:endParaRPr lang="en-US" sz="880" dirty="0"/>
          </a:p>
        </p:txBody>
      </p:sp>
      <p:sp>
        <p:nvSpPr>
          <p:cNvPr id="13" name="Text 11"/>
          <p:cNvSpPr/>
          <p:nvPr/>
        </p:nvSpPr>
        <p:spPr>
          <a:xfrm>
            <a:off x="2542032" y="2212848"/>
            <a:ext cx="155448" cy="868680"/>
          </a:xfrm>
          <a:prstGeom prst="rect">
            <a:avLst/>
          </a:prstGeom>
          <a:noFill/>
          <a:ln/>
        </p:spPr>
        <p:txBody>
          <a:bodyPr wrap="square" lIns="0" tIns="0" rIns="0" bIns="0" rtlCol="0" anchor="ctr"/>
          <a:lstStyle/>
          <a:p>
            <a:pPr algn="ctr" indent="0" marL="0">
              <a:buNone/>
            </a:pPr>
            <a:r>
              <a:rPr lang="en-US" sz="1300" dirty="0">
                <a:solidFill>
                  <a:srgbClr val="9FB0C0"/>
                </a:solidFill>
              </a:rPr>
              <a:t>-&gt;</a:t>
            </a:r>
            <a:endParaRPr lang="en-US" sz="1300" dirty="0"/>
          </a:p>
        </p:txBody>
      </p:sp>
      <p:sp>
        <p:nvSpPr>
          <p:cNvPr id="14" name="Shape 12"/>
          <p:cNvSpPr/>
          <p:nvPr/>
        </p:nvSpPr>
        <p:spPr>
          <a:xfrm>
            <a:off x="2697480" y="2212848"/>
            <a:ext cx="1627632" cy="868680"/>
          </a:xfrm>
          <a:prstGeom prst="roundRect">
            <a:avLst>
              <a:gd name="adj" fmla="val 8421"/>
            </a:avLst>
          </a:prstGeom>
          <a:solidFill>
            <a:srgbClr val="37495C"/>
          </a:solidFill>
          <a:ln w="15875">
            <a:solidFill>
              <a:srgbClr val="FF6B6B"/>
            </a:solidFill>
            <a:prstDash val="solid"/>
          </a:ln>
        </p:spPr>
      </p:sp>
      <p:sp>
        <p:nvSpPr>
          <p:cNvPr id="15" name="Text 13"/>
          <p:cNvSpPr/>
          <p:nvPr/>
        </p:nvSpPr>
        <p:spPr>
          <a:xfrm>
            <a:off x="2697480" y="2304288"/>
            <a:ext cx="1627632" cy="320040"/>
          </a:xfrm>
          <a:prstGeom prst="rect">
            <a:avLst/>
          </a:prstGeom>
          <a:noFill/>
          <a:ln/>
        </p:spPr>
        <p:txBody>
          <a:bodyPr wrap="square" lIns="0" tIns="0" rIns="0" bIns="0" rtlCol="0" anchor="ctr"/>
          <a:lstStyle/>
          <a:p>
            <a:pPr algn="ctr" indent="0" marL="0">
              <a:buNone/>
            </a:pPr>
            <a:r>
              <a:rPr lang="en-US" sz="1200" b="1" dirty="0">
                <a:solidFill>
                  <a:srgbClr val="FF6B6B"/>
                </a:solidFill>
                <a:latin typeface="Arial" pitchFamily="34" charset="0"/>
                <a:ea typeface="Arial" pitchFamily="34" charset="-122"/>
                <a:cs typeface="Arial" pitchFamily="34" charset="-120"/>
              </a:rPr>
              <a:t>OPEN</a:t>
            </a:r>
            <a:endParaRPr lang="en-US" sz="1200" dirty="0"/>
          </a:p>
        </p:txBody>
      </p:sp>
      <p:sp>
        <p:nvSpPr>
          <p:cNvPr id="16" name="Text 14"/>
          <p:cNvSpPr/>
          <p:nvPr/>
        </p:nvSpPr>
        <p:spPr>
          <a:xfrm>
            <a:off x="2788920" y="2606040"/>
            <a:ext cx="1444752" cy="438912"/>
          </a:xfrm>
          <a:prstGeom prst="rect">
            <a:avLst/>
          </a:prstGeom>
          <a:noFill/>
          <a:ln/>
        </p:spPr>
        <p:txBody>
          <a:bodyPr wrap="square" lIns="0" tIns="0" rIns="0" bIns="0" rtlCol="0" anchor="ctr"/>
          <a:lstStyle/>
          <a:p>
            <a:pPr algn="ctr" indent="0" marL="0">
              <a:lnSpc>
                <a:spcPct val="90000"/>
              </a:lnSpc>
              <a:buNone/>
            </a:pPr>
            <a:r>
              <a:rPr lang="en-US" sz="880" dirty="0">
                <a:solidFill>
                  <a:srgbClr val="9FB0C0"/>
                </a:solidFill>
                <a:latin typeface="Arial" pitchFamily="34" charset="0"/>
                <a:ea typeface="Arial" pitchFamily="34" charset="-122"/>
                <a:cs typeface="Arial" pitchFamily="34" charset="-120"/>
              </a:rPr>
              <a:t>Fail fast — no downstream call</a:t>
            </a:r>
            <a:endParaRPr lang="en-US" sz="880" dirty="0"/>
          </a:p>
        </p:txBody>
      </p:sp>
      <p:sp>
        <p:nvSpPr>
          <p:cNvPr id="17" name="Text 15"/>
          <p:cNvSpPr/>
          <p:nvPr/>
        </p:nvSpPr>
        <p:spPr>
          <a:xfrm>
            <a:off x="4325112" y="2212848"/>
            <a:ext cx="155448" cy="868680"/>
          </a:xfrm>
          <a:prstGeom prst="rect">
            <a:avLst/>
          </a:prstGeom>
          <a:noFill/>
          <a:ln/>
        </p:spPr>
        <p:txBody>
          <a:bodyPr wrap="square" lIns="0" tIns="0" rIns="0" bIns="0" rtlCol="0" anchor="ctr"/>
          <a:lstStyle/>
          <a:p>
            <a:pPr algn="ctr" indent="0" marL="0">
              <a:buNone/>
            </a:pPr>
            <a:r>
              <a:rPr lang="en-US" sz="1300" dirty="0">
                <a:solidFill>
                  <a:srgbClr val="9FB0C0"/>
                </a:solidFill>
              </a:rPr>
              <a:t>-&gt;</a:t>
            </a:r>
            <a:endParaRPr lang="en-US" sz="1300" dirty="0"/>
          </a:p>
        </p:txBody>
      </p:sp>
      <p:sp>
        <p:nvSpPr>
          <p:cNvPr id="18" name="Shape 16"/>
          <p:cNvSpPr/>
          <p:nvPr/>
        </p:nvSpPr>
        <p:spPr>
          <a:xfrm>
            <a:off x="4480560" y="2212848"/>
            <a:ext cx="1627632" cy="868680"/>
          </a:xfrm>
          <a:prstGeom prst="roundRect">
            <a:avLst>
              <a:gd name="adj" fmla="val 8421"/>
            </a:avLst>
          </a:prstGeom>
          <a:solidFill>
            <a:srgbClr val="37495C"/>
          </a:solidFill>
          <a:ln w="15875">
            <a:solidFill>
              <a:srgbClr val="FF9900"/>
            </a:solidFill>
            <a:prstDash val="solid"/>
          </a:ln>
        </p:spPr>
      </p:sp>
      <p:sp>
        <p:nvSpPr>
          <p:cNvPr id="19" name="Text 17"/>
          <p:cNvSpPr/>
          <p:nvPr/>
        </p:nvSpPr>
        <p:spPr>
          <a:xfrm>
            <a:off x="4480560" y="2304288"/>
            <a:ext cx="1627632" cy="320040"/>
          </a:xfrm>
          <a:prstGeom prst="rect">
            <a:avLst/>
          </a:prstGeom>
          <a:noFill/>
          <a:ln/>
        </p:spPr>
        <p:txBody>
          <a:bodyPr wrap="square" lIns="0" tIns="0" rIns="0" bIns="0" rtlCol="0" anchor="ctr"/>
          <a:lstStyle/>
          <a:p>
            <a:pPr algn="ctr" indent="0" marL="0">
              <a:buNone/>
            </a:pPr>
            <a:r>
              <a:rPr lang="en-US" sz="1200" b="1" dirty="0">
                <a:solidFill>
                  <a:srgbClr val="FF9900"/>
                </a:solidFill>
                <a:latin typeface="Arial" pitchFamily="34" charset="0"/>
                <a:ea typeface="Arial" pitchFamily="34" charset="-122"/>
                <a:cs typeface="Arial" pitchFamily="34" charset="-120"/>
              </a:rPr>
              <a:t>HALF-OPEN</a:t>
            </a:r>
            <a:endParaRPr lang="en-US" sz="1200" dirty="0"/>
          </a:p>
        </p:txBody>
      </p:sp>
      <p:sp>
        <p:nvSpPr>
          <p:cNvPr id="20" name="Text 18"/>
          <p:cNvSpPr/>
          <p:nvPr/>
        </p:nvSpPr>
        <p:spPr>
          <a:xfrm>
            <a:off x="4572000" y="2606040"/>
            <a:ext cx="1444752" cy="438912"/>
          </a:xfrm>
          <a:prstGeom prst="rect">
            <a:avLst/>
          </a:prstGeom>
          <a:noFill/>
          <a:ln/>
        </p:spPr>
        <p:txBody>
          <a:bodyPr wrap="square" lIns="0" tIns="0" rIns="0" bIns="0" rtlCol="0" anchor="ctr"/>
          <a:lstStyle/>
          <a:p>
            <a:pPr algn="ctr" indent="0" marL="0">
              <a:lnSpc>
                <a:spcPct val="90000"/>
              </a:lnSpc>
              <a:buNone/>
            </a:pPr>
            <a:r>
              <a:rPr lang="en-US" sz="880" dirty="0">
                <a:solidFill>
                  <a:srgbClr val="9FB0C0"/>
                </a:solidFill>
                <a:latin typeface="Arial" pitchFamily="34" charset="0"/>
                <a:ea typeface="Arial" pitchFamily="34" charset="-122"/>
                <a:cs typeface="Arial" pitchFamily="34" charset="-120"/>
              </a:rPr>
              <a:t>Test requests; recover if healthy</a:t>
            </a:r>
            <a:endParaRPr lang="en-US" sz="880" dirty="0"/>
          </a:p>
        </p:txBody>
      </p:sp>
      <p:sp>
        <p:nvSpPr>
          <p:cNvPr id="21" name="Text 19"/>
          <p:cNvSpPr/>
          <p:nvPr/>
        </p:nvSpPr>
        <p:spPr>
          <a:xfrm>
            <a:off x="914400" y="3200400"/>
            <a:ext cx="5212080" cy="1005840"/>
          </a:xfrm>
          <a:prstGeom prst="rect">
            <a:avLst/>
          </a:prstGeom>
          <a:noFill/>
          <a:ln/>
        </p:spPr>
        <p:txBody>
          <a:bodyPr wrap="square" lIns="0" tIns="0" rIns="0" bIns="0" rtlCol="0" anchor="ctr"/>
          <a:lstStyle/>
          <a:p>
            <a:pPr indent="0" marL="0">
              <a:lnSpc>
                <a:spcPct val="105000"/>
              </a:lnSpc>
              <a:buNone/>
            </a:pPr>
            <a:r>
              <a:rPr lang="en-US" sz="1100" i="1" dirty="0">
                <a:solidFill>
                  <a:srgbClr val="27D196"/>
                </a:solidFill>
                <a:latin typeface="Arial" pitchFamily="34" charset="0"/>
                <a:ea typeface="Arial" pitchFamily="34" charset="-122"/>
                <a:cs typeface="Arial" pitchFamily="34" charset="-120"/>
              </a:rPr>
              <a:t>Impact: a Stripe outage is detected in &lt;1 ms — user sees "try again later" in ~100 ms instead of a 30 s cascade through payment -&gt; booking -&gt; gateway.</a:t>
            </a:r>
            <a:endParaRPr lang="en-US" sz="1100" dirty="0"/>
          </a:p>
        </p:txBody>
      </p:sp>
      <p:sp>
        <p:nvSpPr>
          <p:cNvPr id="22" name="Shape 20"/>
          <p:cNvSpPr/>
          <p:nvPr/>
        </p:nvSpPr>
        <p:spPr>
          <a:xfrm>
            <a:off x="6446520" y="1627632"/>
            <a:ext cx="5029200" cy="2697480"/>
          </a:xfrm>
          <a:prstGeom prst="roundRect">
            <a:avLst>
              <a:gd name="adj" fmla="val 2712"/>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3" name="Text 21"/>
          <p:cNvSpPr/>
          <p:nvPr/>
        </p:nvSpPr>
        <p:spPr>
          <a:xfrm>
            <a:off x="6647688" y="1773936"/>
            <a:ext cx="4572000" cy="320040"/>
          </a:xfrm>
          <a:prstGeom prst="rect">
            <a:avLst/>
          </a:prstGeom>
          <a:noFill/>
          <a:ln/>
        </p:spPr>
        <p:txBody>
          <a:bodyPr wrap="square" rtlCol="0" anchor="ctr"/>
          <a:lstStyle/>
          <a:p>
            <a:pPr indent="0" marL="0">
              <a:buNone/>
            </a:pPr>
            <a:r>
              <a:rPr lang="en-US" sz="1400" b="1" dirty="0">
                <a:solidFill>
                  <a:srgbClr val="00A1C9"/>
                </a:solidFill>
                <a:latin typeface="Arial" pitchFamily="34" charset="0"/>
                <a:ea typeface="Arial" pitchFamily="34" charset="-122"/>
                <a:cs typeface="Arial" pitchFamily="34" charset="-120"/>
              </a:rPr>
              <a:t>Retry policy</a:t>
            </a:r>
            <a:endParaRPr lang="en-US" sz="1400" dirty="0"/>
          </a:p>
        </p:txBody>
      </p:sp>
      <p:sp>
        <p:nvSpPr>
          <p:cNvPr id="24" name="Text 22"/>
          <p:cNvSpPr/>
          <p:nvPr/>
        </p:nvSpPr>
        <p:spPr>
          <a:xfrm>
            <a:off x="6647688" y="2212848"/>
            <a:ext cx="4663440" cy="2011680"/>
          </a:xfrm>
          <a:prstGeom prst="rect">
            <a:avLst/>
          </a:prstGeom>
          <a:noFill/>
          <a:ln/>
        </p:spPr>
        <p:txBody>
          <a:bodyPr wrap="square" rtlCol="0" anchor="ctr"/>
          <a:lstStyle/>
          <a:p>
            <a:pPr marL="342900" indent="-342900">
              <a:lnSpc>
                <a:spcPct val="115000"/>
              </a:lnSpc>
              <a:buSzPct val="100000"/>
              <a:buChar char="•"/>
            </a:pPr>
            <a:r>
              <a:rPr lang="en-US" sz="1150" dirty="0">
                <a:solidFill>
                  <a:srgbClr val="E6ECF2"/>
                </a:solidFill>
                <a:latin typeface="Arial" pitchFamily="34" charset="0"/>
                <a:ea typeface="Arial" pitchFamily="34" charset="-122"/>
                <a:cs typeface="Arial" pitchFamily="34" charset="-120"/>
              </a:rPr>
              <a:t>Max 3 retries; exponential backoff (1s × 2^n + 20% jitter)</a:t>
            </a:r>
            <a:endParaRPr lang="en-US" sz="1150" dirty="0"/>
          </a:p>
          <a:p>
            <a:pPr marL="342900" indent="-342900">
              <a:lnSpc>
                <a:spcPct val="115000"/>
              </a:lnSpc>
              <a:buSzPct val="100000"/>
              <a:buChar char="•"/>
            </a:pPr>
            <a:r>
              <a:rPr lang="en-US" sz="1150" dirty="0">
                <a:solidFill>
                  <a:srgbClr val="E6ECF2"/>
                </a:solidFill>
                <a:latin typeface="Arial" pitchFamily="34" charset="0"/>
                <a:ea typeface="Arial" pitchFamily="34" charset="-122"/>
                <a:cs typeface="Arial" pitchFamily="34" charset="-120"/>
              </a:rPr>
              <a:t>Max delay capped at 30 s</a:t>
            </a:r>
            <a:endParaRPr lang="en-US" sz="1150" dirty="0"/>
          </a:p>
          <a:p>
            <a:pPr marL="342900" indent="-342900">
              <a:lnSpc>
                <a:spcPct val="115000"/>
              </a:lnSpc>
              <a:buSzPct val="100000"/>
              <a:buChar char="•"/>
            </a:pPr>
            <a:r>
              <a:rPr lang="en-US" sz="1150" dirty="0">
                <a:solidFill>
                  <a:srgbClr val="E6ECF2"/>
                </a:solidFill>
                <a:latin typeface="Arial" pitchFamily="34" charset="0"/>
                <a:ea typeface="Arial" pitchFamily="34" charset="-122"/>
                <a:cs typeface="Arial" pitchFamily="34" charset="-120"/>
              </a:rPr>
              <a:t>Non-retryable errors (validation, duplicates) skip retries</a:t>
            </a:r>
            <a:endParaRPr lang="en-US" sz="1150" dirty="0"/>
          </a:p>
          <a:p>
            <a:pPr marL="342900" indent="-342900">
              <a:lnSpc>
                <a:spcPct val="115000"/>
              </a:lnSpc>
              <a:buSzPct val="100000"/>
              <a:buChar char="•"/>
            </a:pPr>
            <a:r>
              <a:rPr lang="en-US" sz="1150" dirty="0">
                <a:solidFill>
                  <a:srgbClr val="E6ECF2"/>
                </a:solidFill>
                <a:latin typeface="Arial" pitchFamily="34" charset="0"/>
                <a:ea typeface="Arial" pitchFamily="34" charset="-122"/>
                <a:cs typeface="Arial" pitchFamily="34" charset="-120"/>
              </a:rPr>
              <a:t>Per-downstream config: Stripe 3/60s, Lambda 5/30s, SES &amp; SNS 5/120s</a:t>
            </a:r>
            <a:endParaRPr lang="en-US" sz="1150" dirty="0"/>
          </a:p>
        </p:txBody>
      </p:sp>
      <p:sp>
        <p:nvSpPr>
          <p:cNvPr id="25" name="Shape 23"/>
          <p:cNvSpPr/>
          <p:nvPr/>
        </p:nvSpPr>
        <p:spPr>
          <a:xfrm>
            <a:off x="713232" y="4480560"/>
            <a:ext cx="5577840" cy="1645920"/>
          </a:xfrm>
          <a:prstGeom prst="roundRect">
            <a:avLst>
              <a:gd name="adj" fmla="val 444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6" name="Text 24"/>
          <p:cNvSpPr/>
          <p:nvPr/>
        </p:nvSpPr>
        <p:spPr>
          <a:xfrm>
            <a:off x="914400" y="4608576"/>
            <a:ext cx="5212080" cy="320040"/>
          </a:xfrm>
          <a:prstGeom prst="rect">
            <a:avLst/>
          </a:prstGeom>
          <a:noFill/>
          <a:ln/>
        </p:spPr>
        <p:txBody>
          <a:bodyPr wrap="square" rtlCol="0" anchor="ctr"/>
          <a:lstStyle/>
          <a:p>
            <a:pPr indent="0" marL="0">
              <a:buNone/>
            </a:pPr>
            <a:r>
              <a:rPr lang="en-US" sz="1300" b="1" dirty="0">
                <a:solidFill>
                  <a:srgbClr val="FF9900"/>
                </a:solidFill>
                <a:latin typeface="Arial" pitchFamily="34" charset="0"/>
                <a:ea typeface="Arial" pitchFamily="34" charset="-122"/>
                <a:cs typeface="Arial" pitchFamily="34" charset="-120"/>
              </a:rPr>
              <a:t>Auto-scaling &amp; load balancing</a:t>
            </a:r>
            <a:endParaRPr lang="en-US" sz="1300" dirty="0"/>
          </a:p>
        </p:txBody>
      </p:sp>
      <p:sp>
        <p:nvSpPr>
          <p:cNvPr id="27" name="Text 25"/>
          <p:cNvSpPr/>
          <p:nvPr/>
        </p:nvSpPr>
        <p:spPr>
          <a:xfrm>
            <a:off x="914400" y="4983480"/>
            <a:ext cx="5212080" cy="1097280"/>
          </a:xfrm>
          <a:prstGeom prst="rect">
            <a:avLst/>
          </a:prstGeom>
          <a:noFill/>
          <a:ln/>
        </p:spPr>
        <p:txBody>
          <a:bodyPr wrap="square" rtlCol="0" anchor="ctr"/>
          <a:lstStyle/>
          <a:p>
            <a:pPr marL="342900" indent="-342900">
              <a:lnSpc>
                <a:spcPct val="110000"/>
              </a:lnSpc>
              <a:buSzPct val="100000"/>
              <a:buChar char="•"/>
            </a:pPr>
            <a:r>
              <a:rPr lang="en-US" sz="1100" dirty="0">
                <a:solidFill>
                  <a:srgbClr val="E6ECF2"/>
                </a:solidFill>
                <a:latin typeface="Arial" pitchFamily="34" charset="0"/>
                <a:ea typeface="Arial" pitchFamily="34" charset="-122"/>
                <a:cs typeface="Arial" pitchFamily="34" charset="-120"/>
              </a:rPr>
              <a:t>ALB across pods; ClusterIP round-robin internally</a:t>
            </a:r>
            <a:endParaRPr lang="en-US" sz="1100" dirty="0"/>
          </a:p>
          <a:p>
            <a:pPr marL="342900" indent="-342900">
              <a:lnSpc>
                <a:spcPct val="110000"/>
              </a:lnSpc>
              <a:buSzPct val="100000"/>
              <a:buChar char="•"/>
            </a:pPr>
            <a:r>
              <a:rPr lang="en-US" sz="1100" dirty="0">
                <a:solidFill>
                  <a:srgbClr val="E6ECF2"/>
                </a:solidFill>
                <a:latin typeface="Arial" pitchFamily="34" charset="0"/>
                <a:ea typeface="Arial" pitchFamily="34" charset="-122"/>
                <a:cs typeface="Arial" pitchFamily="34" charset="-120"/>
              </a:rPr>
              <a:t>HPA (pods) + Cluster Autoscaler (Spot nodes 2-&gt;6)</a:t>
            </a:r>
            <a:endParaRPr lang="en-US" sz="1100" dirty="0"/>
          </a:p>
          <a:p>
            <a:pPr marL="342900" indent="-342900">
              <a:lnSpc>
                <a:spcPct val="110000"/>
              </a:lnSpc>
              <a:buSzPct val="100000"/>
              <a:buChar char="•"/>
            </a:pPr>
            <a:r>
              <a:rPr lang="en-US" sz="1100" dirty="0">
                <a:solidFill>
                  <a:srgbClr val="E6ECF2"/>
                </a:solidFill>
                <a:latin typeface="Arial" pitchFamily="34" charset="0"/>
                <a:ea typeface="Arial" pitchFamily="34" charset="-122"/>
                <a:cs typeface="Arial" pitchFamily="34" charset="-120"/>
              </a:rPr>
              <a:t>KEDA scales consumers on Kafka lag</a:t>
            </a:r>
            <a:endParaRPr lang="en-US" sz="1100" dirty="0"/>
          </a:p>
        </p:txBody>
      </p:sp>
      <p:sp>
        <p:nvSpPr>
          <p:cNvPr id="28" name="Shape 26"/>
          <p:cNvSpPr/>
          <p:nvPr/>
        </p:nvSpPr>
        <p:spPr>
          <a:xfrm>
            <a:off x="6446520" y="4480560"/>
            <a:ext cx="5029200" cy="1645920"/>
          </a:xfrm>
          <a:prstGeom prst="roundRect">
            <a:avLst>
              <a:gd name="adj" fmla="val 4444"/>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9" name="Text 27"/>
          <p:cNvSpPr/>
          <p:nvPr/>
        </p:nvSpPr>
        <p:spPr>
          <a:xfrm>
            <a:off x="6647688" y="4608576"/>
            <a:ext cx="4572000" cy="320040"/>
          </a:xfrm>
          <a:prstGeom prst="rect">
            <a:avLst/>
          </a:prstGeom>
          <a:noFill/>
          <a:ln/>
        </p:spPr>
        <p:txBody>
          <a:bodyPr wrap="square" rtlCol="0" anchor="ctr"/>
          <a:lstStyle/>
          <a:p>
            <a:pPr indent="0" marL="0">
              <a:buNone/>
            </a:pPr>
            <a:r>
              <a:rPr lang="en-US" sz="1300" b="1" dirty="0">
                <a:solidFill>
                  <a:srgbClr val="27D196"/>
                </a:solidFill>
                <a:latin typeface="Arial" pitchFamily="34" charset="0"/>
                <a:ea typeface="Arial" pitchFamily="34" charset="-122"/>
                <a:cs typeface="Arial" pitchFamily="34" charset="-120"/>
              </a:rPr>
              <a:t>High availability &amp; disaster recovery</a:t>
            </a:r>
            <a:endParaRPr lang="en-US" sz="1300" dirty="0"/>
          </a:p>
        </p:txBody>
      </p:sp>
      <p:sp>
        <p:nvSpPr>
          <p:cNvPr id="30" name="Text 28"/>
          <p:cNvSpPr/>
          <p:nvPr/>
        </p:nvSpPr>
        <p:spPr>
          <a:xfrm>
            <a:off x="6647688" y="4983480"/>
            <a:ext cx="4663440" cy="1097280"/>
          </a:xfrm>
          <a:prstGeom prst="rect">
            <a:avLst/>
          </a:prstGeom>
          <a:noFill/>
          <a:ln/>
        </p:spPr>
        <p:txBody>
          <a:bodyPr wrap="square" rtlCol="0" anchor="ctr"/>
          <a:lstStyle/>
          <a:p>
            <a:pPr marL="342900" indent="-342900">
              <a:lnSpc>
                <a:spcPct val="110000"/>
              </a:lnSpc>
              <a:buSzPct val="100000"/>
              <a:buChar char="•"/>
            </a:pPr>
            <a:r>
              <a:rPr lang="en-US" sz="1100" dirty="0">
                <a:solidFill>
                  <a:srgbClr val="E6ECF2"/>
                </a:solidFill>
                <a:latin typeface="Arial" pitchFamily="34" charset="0"/>
                <a:ea typeface="Arial" pitchFamily="34" charset="-122"/>
                <a:cs typeface="Arial" pitchFamily="34" charset="-120"/>
              </a:rPr>
              <a:t>Single-AZ failure: auto-failover, recovery &lt; 5 min</a:t>
            </a:r>
            <a:endParaRPr lang="en-US" sz="1100" dirty="0"/>
          </a:p>
          <a:p>
            <a:pPr marL="342900" indent="-342900">
              <a:lnSpc>
                <a:spcPct val="110000"/>
              </a:lnSpc>
              <a:buSzPct val="100000"/>
              <a:buChar char="•"/>
            </a:pPr>
            <a:r>
              <a:rPr lang="en-US" sz="1100" dirty="0">
                <a:solidFill>
                  <a:srgbClr val="E6ECF2"/>
                </a:solidFill>
                <a:latin typeface="Arial" pitchFamily="34" charset="0"/>
                <a:ea typeface="Arial" pitchFamily="34" charset="-122"/>
                <a:cs typeface="Arial" pitchFamily="34" charset="-120"/>
              </a:rPr>
              <a:t>Region failure: Terraform re-deploy (~25 min) + restore from cross-region backups; Argo CD re-syncs</a:t>
            </a:r>
            <a:endParaRPr lang="en-US" sz="1100" dirty="0"/>
          </a:p>
        </p:txBody>
      </p:sp>
      <p:sp>
        <p:nvSpPr>
          <p:cNvPr id="31" name="Text 29"/>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32" name="Text 30"/>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06 / 08 / 09 — TESTING &amp; RESULTS</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A Layered Testing Strategy</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Testing 20%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Shape 6"/>
          <p:cNvSpPr/>
          <p:nvPr/>
        </p:nvSpPr>
        <p:spPr>
          <a:xfrm>
            <a:off x="713232" y="1645920"/>
            <a:ext cx="260604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9" name="Shape 7"/>
          <p:cNvSpPr/>
          <p:nvPr/>
        </p:nvSpPr>
        <p:spPr>
          <a:xfrm>
            <a:off x="713232" y="1645920"/>
            <a:ext cx="2606040" cy="91440"/>
          </a:xfrm>
          <a:prstGeom prst="rect">
            <a:avLst/>
          </a:prstGeom>
          <a:solidFill>
            <a:srgbClr val="FF9900"/>
          </a:solidFill>
          <a:ln/>
        </p:spPr>
      </p:sp>
      <p:sp>
        <p:nvSpPr>
          <p:cNvPr id="10" name="Text 8"/>
          <p:cNvSpPr/>
          <p:nvPr/>
        </p:nvSpPr>
        <p:spPr>
          <a:xfrm>
            <a:off x="877824" y="1828800"/>
            <a:ext cx="2286000" cy="411480"/>
          </a:xfrm>
          <a:prstGeom prst="rect">
            <a:avLst/>
          </a:prstGeom>
          <a:noFill/>
          <a:ln/>
        </p:spPr>
        <p:txBody>
          <a:bodyPr wrap="square" lIns="0" tIns="0" rIns="0" bIns="0" rtlCol="0" anchor="ctr"/>
          <a:lstStyle/>
          <a:p>
            <a:pPr indent="0" marL="0">
              <a:buNone/>
            </a:pPr>
            <a:r>
              <a:rPr lang="en-US" sz="1800" b="1" dirty="0">
                <a:solidFill>
                  <a:srgbClr val="FF9900"/>
                </a:solidFill>
                <a:latin typeface="Arial" pitchFamily="34" charset="0"/>
                <a:ea typeface="Arial" pitchFamily="34" charset="-122"/>
                <a:cs typeface="Arial" pitchFamily="34" charset="-120"/>
              </a:rPr>
              <a:t>Unit</a:t>
            </a:r>
            <a:endParaRPr lang="en-US" sz="1800" dirty="0"/>
          </a:p>
        </p:txBody>
      </p:sp>
      <p:sp>
        <p:nvSpPr>
          <p:cNvPr id="11" name="Text 9"/>
          <p:cNvSpPr/>
          <p:nvPr/>
        </p:nvSpPr>
        <p:spPr>
          <a:xfrm>
            <a:off x="877824" y="2286000"/>
            <a:ext cx="22860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Jest, mocked deps</a:t>
            </a:r>
            <a:endParaRPr lang="en-US" sz="1100" dirty="0"/>
          </a:p>
        </p:txBody>
      </p:sp>
      <p:sp>
        <p:nvSpPr>
          <p:cNvPr id="12" name="Text 10"/>
          <p:cNvSpPr/>
          <p:nvPr/>
        </p:nvSpPr>
        <p:spPr>
          <a:xfrm>
            <a:off x="877824" y="2606040"/>
            <a:ext cx="2286000" cy="1005840"/>
          </a:xfrm>
          <a:prstGeom prst="rect">
            <a:avLst/>
          </a:prstGeom>
          <a:noFill/>
          <a:ln/>
        </p:spPr>
        <p:txBody>
          <a:bodyPr wrap="square" lIns="0" tIns="0" rIns="0" bIns="0" rtlCol="0" anchor="ctr"/>
          <a:lstStyle/>
          <a:p>
            <a:pPr indent="0" marL="0">
              <a:lnSpc>
                <a:spcPct val="105000"/>
              </a:lnSpc>
              <a:buNone/>
            </a:pPr>
            <a:r>
              <a:rPr lang="en-US" sz="1050" dirty="0">
                <a:solidFill>
                  <a:srgbClr val="9FB0C0"/>
                </a:solidFill>
                <a:latin typeface="Arial" pitchFamily="34" charset="0"/>
                <a:ea typeface="Arial" pitchFamily="34" charset="-122"/>
                <a:cs typeface="Arial" pitchFamily="34" charset="-120"/>
              </a:rPr>
              <a:t>Core logic in all 7 services</a:t>
            </a:r>
            <a:endParaRPr lang="en-US" sz="1050" dirty="0"/>
          </a:p>
        </p:txBody>
      </p:sp>
      <p:sp>
        <p:nvSpPr>
          <p:cNvPr id="13" name="Shape 11"/>
          <p:cNvSpPr/>
          <p:nvPr/>
        </p:nvSpPr>
        <p:spPr>
          <a:xfrm>
            <a:off x="3474720" y="1645920"/>
            <a:ext cx="260604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4" name="Shape 12"/>
          <p:cNvSpPr/>
          <p:nvPr/>
        </p:nvSpPr>
        <p:spPr>
          <a:xfrm>
            <a:off x="3474720" y="1645920"/>
            <a:ext cx="2606040" cy="91440"/>
          </a:xfrm>
          <a:prstGeom prst="rect">
            <a:avLst/>
          </a:prstGeom>
          <a:solidFill>
            <a:srgbClr val="00A1C9"/>
          </a:solidFill>
          <a:ln/>
        </p:spPr>
      </p:sp>
      <p:sp>
        <p:nvSpPr>
          <p:cNvPr id="15" name="Text 13"/>
          <p:cNvSpPr/>
          <p:nvPr/>
        </p:nvSpPr>
        <p:spPr>
          <a:xfrm>
            <a:off x="3639312" y="1828800"/>
            <a:ext cx="2286000" cy="411480"/>
          </a:xfrm>
          <a:prstGeom prst="rect">
            <a:avLst/>
          </a:prstGeom>
          <a:noFill/>
          <a:ln/>
        </p:spPr>
        <p:txBody>
          <a:bodyPr wrap="square" lIns="0" tIns="0" rIns="0" bIns="0" rtlCol="0" anchor="ctr"/>
          <a:lstStyle/>
          <a:p>
            <a:pPr indent="0" marL="0">
              <a:buNone/>
            </a:pPr>
            <a:r>
              <a:rPr lang="en-US" sz="1800" b="1" dirty="0">
                <a:solidFill>
                  <a:srgbClr val="00A1C9"/>
                </a:solidFill>
                <a:latin typeface="Arial" pitchFamily="34" charset="0"/>
                <a:ea typeface="Arial" pitchFamily="34" charset="-122"/>
                <a:cs typeface="Arial" pitchFamily="34" charset="-120"/>
              </a:rPr>
              <a:t>Integration</a:t>
            </a:r>
            <a:endParaRPr lang="en-US" sz="1800" dirty="0"/>
          </a:p>
        </p:txBody>
      </p:sp>
      <p:sp>
        <p:nvSpPr>
          <p:cNvPr id="16" name="Text 14"/>
          <p:cNvSpPr/>
          <p:nvPr/>
        </p:nvSpPr>
        <p:spPr>
          <a:xfrm>
            <a:off x="3639312" y="2286000"/>
            <a:ext cx="22860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Jest + Docker Compose</a:t>
            </a:r>
            <a:endParaRPr lang="en-US" sz="1100" dirty="0"/>
          </a:p>
        </p:txBody>
      </p:sp>
      <p:sp>
        <p:nvSpPr>
          <p:cNvPr id="17" name="Text 15"/>
          <p:cNvSpPr/>
          <p:nvPr/>
        </p:nvSpPr>
        <p:spPr>
          <a:xfrm>
            <a:off x="3639312" y="2606040"/>
            <a:ext cx="2286000" cy="1005840"/>
          </a:xfrm>
          <a:prstGeom prst="rect">
            <a:avLst/>
          </a:prstGeom>
          <a:noFill/>
          <a:ln/>
        </p:spPr>
        <p:txBody>
          <a:bodyPr wrap="square" lIns="0" tIns="0" rIns="0" bIns="0" rtlCol="0" anchor="ctr"/>
          <a:lstStyle/>
          <a:p>
            <a:pPr indent="0" marL="0">
              <a:lnSpc>
                <a:spcPct val="105000"/>
              </a:lnSpc>
              <a:buNone/>
            </a:pPr>
            <a:r>
              <a:rPr lang="en-US" sz="1050" dirty="0">
                <a:solidFill>
                  <a:srgbClr val="9FB0C0"/>
                </a:solidFill>
                <a:latin typeface="Arial" pitchFamily="34" charset="0"/>
                <a:ea typeface="Arial" pitchFamily="34" charset="-122"/>
                <a:cs typeface="Arial" pitchFamily="34" charset="-120"/>
              </a:rPr>
              <a:t>Full booking saga incl. compensation path</a:t>
            </a:r>
            <a:endParaRPr lang="en-US" sz="1050" dirty="0"/>
          </a:p>
        </p:txBody>
      </p:sp>
      <p:sp>
        <p:nvSpPr>
          <p:cNvPr id="18" name="Shape 16"/>
          <p:cNvSpPr/>
          <p:nvPr/>
        </p:nvSpPr>
        <p:spPr>
          <a:xfrm>
            <a:off x="6236208" y="1645920"/>
            <a:ext cx="260604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9" name="Shape 17"/>
          <p:cNvSpPr/>
          <p:nvPr/>
        </p:nvSpPr>
        <p:spPr>
          <a:xfrm>
            <a:off x="6236208" y="1645920"/>
            <a:ext cx="2606040" cy="91440"/>
          </a:xfrm>
          <a:prstGeom prst="rect">
            <a:avLst/>
          </a:prstGeom>
          <a:solidFill>
            <a:srgbClr val="4DA6FF"/>
          </a:solidFill>
          <a:ln/>
        </p:spPr>
      </p:sp>
      <p:sp>
        <p:nvSpPr>
          <p:cNvPr id="20" name="Text 18"/>
          <p:cNvSpPr/>
          <p:nvPr/>
        </p:nvSpPr>
        <p:spPr>
          <a:xfrm>
            <a:off x="6400800" y="1828800"/>
            <a:ext cx="2286000" cy="411480"/>
          </a:xfrm>
          <a:prstGeom prst="rect">
            <a:avLst/>
          </a:prstGeom>
          <a:noFill/>
          <a:ln/>
        </p:spPr>
        <p:txBody>
          <a:bodyPr wrap="square" lIns="0" tIns="0" rIns="0" bIns="0" rtlCol="0" anchor="ctr"/>
          <a:lstStyle/>
          <a:p>
            <a:pPr indent="0" marL="0">
              <a:buNone/>
            </a:pPr>
            <a:r>
              <a:rPr lang="en-US" sz="1800" b="1" dirty="0">
                <a:solidFill>
                  <a:srgbClr val="4DA6FF"/>
                </a:solidFill>
                <a:latin typeface="Arial" pitchFamily="34" charset="0"/>
                <a:ea typeface="Arial" pitchFamily="34" charset="-122"/>
                <a:cs typeface="Arial" pitchFamily="34" charset="-120"/>
              </a:rPr>
              <a:t>API</a:t>
            </a:r>
            <a:endParaRPr lang="en-US" sz="1800" dirty="0"/>
          </a:p>
        </p:txBody>
      </p:sp>
      <p:sp>
        <p:nvSpPr>
          <p:cNvPr id="21" name="Text 19"/>
          <p:cNvSpPr/>
          <p:nvPr/>
        </p:nvSpPr>
        <p:spPr>
          <a:xfrm>
            <a:off x="6400800" y="2286000"/>
            <a:ext cx="22860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Swagger + Postman</a:t>
            </a:r>
            <a:endParaRPr lang="en-US" sz="1100" dirty="0"/>
          </a:p>
        </p:txBody>
      </p:sp>
      <p:sp>
        <p:nvSpPr>
          <p:cNvPr id="22" name="Text 20"/>
          <p:cNvSpPr/>
          <p:nvPr/>
        </p:nvSpPr>
        <p:spPr>
          <a:xfrm>
            <a:off x="6400800" y="2606040"/>
            <a:ext cx="2286000" cy="1005840"/>
          </a:xfrm>
          <a:prstGeom prst="rect">
            <a:avLst/>
          </a:prstGeom>
          <a:noFill/>
          <a:ln/>
        </p:spPr>
        <p:txBody>
          <a:bodyPr wrap="square" lIns="0" tIns="0" rIns="0" bIns="0" rtlCol="0" anchor="ctr"/>
          <a:lstStyle/>
          <a:p>
            <a:pPr indent="0" marL="0">
              <a:lnSpc>
                <a:spcPct val="105000"/>
              </a:lnSpc>
              <a:buNone/>
            </a:pPr>
            <a:r>
              <a:rPr lang="en-US" sz="1050" dirty="0">
                <a:solidFill>
                  <a:srgbClr val="9FB0C0"/>
                </a:solidFill>
                <a:latin typeface="Arial" pitchFamily="34" charset="0"/>
                <a:ea typeface="Arial" pitchFamily="34" charset="-122"/>
                <a:cs typeface="Arial" pitchFamily="34" charset="-120"/>
              </a:rPr>
              <a:t>Happy path, payment failure, seat conflict, RBAC</a:t>
            </a:r>
            <a:endParaRPr lang="en-US" sz="1050" dirty="0"/>
          </a:p>
        </p:txBody>
      </p:sp>
      <p:sp>
        <p:nvSpPr>
          <p:cNvPr id="23" name="Shape 21"/>
          <p:cNvSpPr/>
          <p:nvPr/>
        </p:nvSpPr>
        <p:spPr>
          <a:xfrm>
            <a:off x="8997696" y="1645920"/>
            <a:ext cx="260604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4" name="Shape 22"/>
          <p:cNvSpPr/>
          <p:nvPr/>
        </p:nvSpPr>
        <p:spPr>
          <a:xfrm>
            <a:off x="8997696" y="1645920"/>
            <a:ext cx="2606040" cy="91440"/>
          </a:xfrm>
          <a:prstGeom prst="rect">
            <a:avLst/>
          </a:prstGeom>
          <a:solidFill>
            <a:srgbClr val="27D196"/>
          </a:solidFill>
          <a:ln/>
        </p:spPr>
      </p:sp>
      <p:sp>
        <p:nvSpPr>
          <p:cNvPr id="25" name="Text 23"/>
          <p:cNvSpPr/>
          <p:nvPr/>
        </p:nvSpPr>
        <p:spPr>
          <a:xfrm>
            <a:off x="9162288" y="1828800"/>
            <a:ext cx="2286000" cy="411480"/>
          </a:xfrm>
          <a:prstGeom prst="rect">
            <a:avLst/>
          </a:prstGeom>
          <a:noFill/>
          <a:ln/>
        </p:spPr>
        <p:txBody>
          <a:bodyPr wrap="square" lIns="0" tIns="0" rIns="0" bIns="0" rtlCol="0" anchor="ctr"/>
          <a:lstStyle/>
          <a:p>
            <a:pPr indent="0" marL="0">
              <a:buNone/>
            </a:pPr>
            <a:r>
              <a:rPr lang="en-US" sz="1800" b="1" dirty="0">
                <a:solidFill>
                  <a:srgbClr val="27D196"/>
                </a:solidFill>
                <a:latin typeface="Arial" pitchFamily="34" charset="0"/>
                <a:ea typeface="Arial" pitchFamily="34" charset="-122"/>
                <a:cs typeface="Arial" pitchFamily="34" charset="-120"/>
              </a:rPr>
              <a:t>Performance</a:t>
            </a:r>
            <a:endParaRPr lang="en-US" sz="1800" dirty="0"/>
          </a:p>
        </p:txBody>
      </p:sp>
      <p:sp>
        <p:nvSpPr>
          <p:cNvPr id="26" name="Text 24"/>
          <p:cNvSpPr/>
          <p:nvPr/>
        </p:nvSpPr>
        <p:spPr>
          <a:xfrm>
            <a:off x="9162288" y="2286000"/>
            <a:ext cx="22860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k6</a:t>
            </a:r>
            <a:endParaRPr lang="en-US" sz="1100" dirty="0"/>
          </a:p>
        </p:txBody>
      </p:sp>
      <p:sp>
        <p:nvSpPr>
          <p:cNvPr id="27" name="Text 25"/>
          <p:cNvSpPr/>
          <p:nvPr/>
        </p:nvSpPr>
        <p:spPr>
          <a:xfrm>
            <a:off x="9162288" y="2606040"/>
            <a:ext cx="2286000" cy="1005840"/>
          </a:xfrm>
          <a:prstGeom prst="rect">
            <a:avLst/>
          </a:prstGeom>
          <a:noFill/>
          <a:ln/>
        </p:spPr>
        <p:txBody>
          <a:bodyPr wrap="square" lIns="0" tIns="0" rIns="0" bIns="0" rtlCol="0" anchor="ctr"/>
          <a:lstStyle/>
          <a:p>
            <a:pPr indent="0" marL="0">
              <a:lnSpc>
                <a:spcPct val="105000"/>
              </a:lnSpc>
              <a:buNone/>
            </a:pPr>
            <a:r>
              <a:rPr lang="en-US" sz="1050" dirty="0">
                <a:solidFill>
                  <a:srgbClr val="9FB0C0"/>
                </a:solidFill>
                <a:latin typeface="Arial" pitchFamily="34" charset="0"/>
                <a:ea typeface="Arial" pitchFamily="34" charset="-122"/>
                <a:cs typeface="Arial" pitchFamily="34" charset="-120"/>
              </a:rPr>
              <a:t>Smoke, load, stress, spike, baggage-scan</a:t>
            </a:r>
            <a:endParaRPr lang="en-US" sz="1050" dirty="0"/>
          </a:p>
        </p:txBody>
      </p:sp>
      <p:sp>
        <p:nvSpPr>
          <p:cNvPr id="28" name="Shape 26"/>
          <p:cNvSpPr/>
          <p:nvPr/>
        </p:nvSpPr>
        <p:spPr>
          <a:xfrm>
            <a:off x="713232" y="3977640"/>
            <a:ext cx="5577840" cy="2148840"/>
          </a:xfrm>
          <a:prstGeom prst="roundRect">
            <a:avLst>
              <a:gd name="adj" fmla="val 3404"/>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9" name="Text 27"/>
          <p:cNvSpPr/>
          <p:nvPr/>
        </p:nvSpPr>
        <p:spPr>
          <a:xfrm>
            <a:off x="914400" y="4096512"/>
            <a:ext cx="5212080" cy="274320"/>
          </a:xfrm>
          <a:prstGeom prst="rect">
            <a:avLst/>
          </a:prstGeom>
          <a:noFill/>
          <a:ln/>
        </p:spPr>
        <p:txBody>
          <a:bodyPr wrap="square" rtlCol="0" anchor="ctr"/>
          <a:lstStyle/>
          <a:p>
            <a:pPr indent="0" marL="0">
              <a:buNone/>
            </a:pPr>
            <a:r>
              <a:rPr lang="en-US" sz="1200" b="1" dirty="0">
                <a:solidFill>
                  <a:srgbClr val="27D196"/>
                </a:solidFill>
                <a:latin typeface="Arial" pitchFamily="34" charset="0"/>
                <a:ea typeface="Arial" pitchFamily="34" charset="-122"/>
                <a:cs typeface="Arial" pitchFamily="34" charset="-120"/>
              </a:rPr>
              <a:t>Stress test — ramping virtual users</a:t>
            </a:r>
            <a:endParaRPr lang="en-US" sz="1200" dirty="0"/>
          </a:p>
        </p:txBody>
      </p:sp>
      <p:graphicFrame>
        <p:nvGraphicFramePr>
          <p:cNvPr id="30" name="Chart 0" descr=""/>
          <p:cNvGraphicFramePr/>
          <p:nvPr/>
        </p:nvGraphicFramePr>
        <p:xfrm>
          <a:off x="822960" y="4434840"/>
          <a:ext cx="5349240" cy="1554480"/>
        </p:xfrm>
        <a:graphic xmlns:a="http://schemas.openxmlformats.org/drawingml/2006/main">
          <a:graphicData uri="http://schemas.openxmlformats.org/drawingml/2006/chart">
            <c:chart xmlns:c="http://schemas.openxmlformats.org/drawingml/2006/chart" r:id="rId1"/>
          </a:graphicData>
        </a:graphic>
      </p:graphicFrame>
      <p:sp>
        <p:nvSpPr>
          <p:cNvPr id="31" name="Shape 28"/>
          <p:cNvSpPr/>
          <p:nvPr/>
        </p:nvSpPr>
        <p:spPr>
          <a:xfrm>
            <a:off x="6446520" y="3977640"/>
            <a:ext cx="5029200" cy="2148840"/>
          </a:xfrm>
          <a:prstGeom prst="roundRect">
            <a:avLst>
              <a:gd name="adj" fmla="val 3404"/>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32" name="Text 29"/>
          <p:cNvSpPr/>
          <p:nvPr/>
        </p:nvSpPr>
        <p:spPr>
          <a:xfrm>
            <a:off x="6647688" y="4096512"/>
            <a:ext cx="4572000" cy="274320"/>
          </a:xfrm>
          <a:prstGeom prst="rect">
            <a:avLst/>
          </a:prstGeom>
          <a:noFill/>
          <a:ln/>
        </p:spPr>
        <p:txBody>
          <a:bodyPr wrap="square" rtlCol="0" anchor="ctr"/>
          <a:lstStyle/>
          <a:p>
            <a:pPr indent="0" marL="0">
              <a:buNone/>
            </a:pPr>
            <a:r>
              <a:rPr lang="en-US" sz="1200" b="1" dirty="0">
                <a:solidFill>
                  <a:srgbClr val="00A1C9"/>
                </a:solidFill>
                <a:latin typeface="Arial" pitchFamily="34" charset="0"/>
                <a:ea typeface="Arial" pitchFamily="34" charset="-122"/>
                <a:cs typeface="Arial" pitchFamily="34" charset="-120"/>
              </a:rPr>
              <a:t>Integration test — proves the contract</a:t>
            </a:r>
            <a:endParaRPr lang="en-US" sz="1200" dirty="0"/>
          </a:p>
        </p:txBody>
      </p:sp>
      <p:sp>
        <p:nvSpPr>
          <p:cNvPr id="33" name="Text 30"/>
          <p:cNvSpPr/>
          <p:nvPr/>
        </p:nvSpPr>
        <p:spPr>
          <a:xfrm>
            <a:off x="6647688" y="4434840"/>
            <a:ext cx="4663440" cy="1600200"/>
          </a:xfrm>
          <a:prstGeom prst="rect">
            <a:avLst/>
          </a:prstGeom>
          <a:noFill/>
          <a:ln/>
        </p:spPr>
        <p:txBody>
          <a:bodyPr wrap="square" rtlCol="0" anchor="ctr"/>
          <a:lstStyle/>
          <a:p>
            <a:pPr marL="342900" indent="-342900">
              <a:lnSpc>
                <a:spcPct val="108000"/>
              </a:lnSpc>
              <a:buSzPct val="100000"/>
              <a:buChar char="•"/>
            </a:pPr>
            <a:r>
              <a:rPr lang="en-US" sz="1080" dirty="0">
                <a:solidFill>
                  <a:srgbClr val="E6ECF2"/>
                </a:solidFill>
                <a:latin typeface="Arial" pitchFamily="34" charset="0"/>
                <a:ea typeface="Arial" pitchFamily="34" charset="-122"/>
                <a:cs typeface="Arial" pitchFamily="34" charset="-120"/>
              </a:rPr>
              <a:t>Drives the booking saga against real infra (Docker Compose)</a:t>
            </a:r>
            <a:endParaRPr lang="en-US" sz="1080" dirty="0"/>
          </a:p>
          <a:p>
            <a:pPr marL="342900" indent="-342900">
              <a:lnSpc>
                <a:spcPct val="108000"/>
              </a:lnSpc>
              <a:buSzPct val="100000"/>
              <a:buChar char="•"/>
            </a:pPr>
            <a:r>
              <a:rPr lang="en-US" sz="1080" dirty="0">
                <a:solidFill>
                  <a:srgbClr val="E6ECF2"/>
                </a:solidFill>
                <a:latin typeface="Arial" pitchFamily="34" charset="0"/>
                <a:ea typeface="Arial" pitchFamily="34" charset="-122"/>
                <a:cs typeface="Arial" pitchFamily="34" charset="-120"/>
              </a:rPr>
              <a:t>Creates booking over REST -&gt; asserts events fire in order</a:t>
            </a:r>
            <a:endParaRPr lang="en-US" sz="1080" dirty="0"/>
          </a:p>
          <a:p>
            <a:pPr marL="342900" indent="-342900">
              <a:lnSpc>
                <a:spcPct val="108000"/>
              </a:lnSpc>
              <a:buSzPct val="100000"/>
              <a:buChar char="•"/>
            </a:pPr>
            <a:r>
              <a:rPr lang="en-US" sz="1080" dirty="0">
                <a:solidFill>
                  <a:srgbClr val="E6ECF2"/>
                </a:solidFill>
                <a:latin typeface="Arial" pitchFamily="34" charset="0"/>
                <a:ea typeface="Arial" pitchFamily="34" charset="-122"/>
                <a:cs typeface="Arial" pitchFamily="34" charset="-120"/>
              </a:rPr>
              <a:t>Verifies status: awaiting-seat-lock -&gt; awaiting-payment -&gt; confirmed</a:t>
            </a:r>
            <a:endParaRPr lang="en-US" sz="1080" dirty="0"/>
          </a:p>
          <a:p>
            <a:pPr marL="342900" indent="-342900">
              <a:lnSpc>
                <a:spcPct val="108000"/>
              </a:lnSpc>
              <a:buSzPct val="100000"/>
              <a:buChar char="•"/>
            </a:pPr>
            <a:r>
              <a:rPr lang="en-US" sz="1080" dirty="0">
                <a:solidFill>
                  <a:srgbClr val="E6ECF2"/>
                </a:solidFill>
                <a:latin typeface="Arial" pitchFamily="34" charset="0"/>
                <a:ea typeface="Arial" pitchFamily="34" charset="-122"/>
                <a:cs typeface="Arial" pitchFamily="34" charset="-120"/>
              </a:rPr>
              <a:t>Exercises compensation: simulated payment failure releases the seat lock</a:t>
            </a:r>
            <a:endParaRPr lang="en-US" sz="1080" dirty="0"/>
          </a:p>
        </p:txBody>
      </p:sp>
      <p:sp>
        <p:nvSpPr>
          <p:cNvPr id="34" name="Text 31"/>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35" name="Text 32"/>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DELIVERY AUTOMATION</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CI/CD &amp; Infrastructure as Code</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Impl 40%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Text 6"/>
          <p:cNvSpPr/>
          <p:nvPr/>
        </p:nvSpPr>
        <p:spPr>
          <a:xfrm>
            <a:off x="713232" y="1600200"/>
            <a:ext cx="8229600" cy="365760"/>
          </a:xfrm>
          <a:prstGeom prst="rect">
            <a:avLst/>
          </a:prstGeom>
          <a:noFill/>
          <a:ln/>
        </p:spPr>
        <p:txBody>
          <a:bodyPr wrap="square" rtlCol="0" anchor="ctr"/>
          <a:lstStyle/>
          <a:p>
            <a:pPr indent="0" marL="0">
              <a:buNone/>
            </a:pPr>
            <a:r>
              <a:rPr lang="en-US" sz="1500" b="1" dirty="0">
                <a:solidFill>
                  <a:srgbClr val="FF9900"/>
                </a:solidFill>
                <a:latin typeface="Arial" pitchFamily="34" charset="0"/>
                <a:ea typeface="Arial" pitchFamily="34" charset="-122"/>
                <a:cs typeface="Arial" pitchFamily="34" charset="-120"/>
              </a:rPr>
              <a:t>Continuous Integration — GitHub Actions</a:t>
            </a:r>
            <a:endParaRPr lang="en-US" sz="1500" dirty="0"/>
          </a:p>
        </p:txBody>
      </p:sp>
      <p:sp>
        <p:nvSpPr>
          <p:cNvPr id="9" name="Shape 7"/>
          <p:cNvSpPr/>
          <p:nvPr/>
        </p:nvSpPr>
        <p:spPr>
          <a:xfrm>
            <a:off x="713232" y="2057400"/>
            <a:ext cx="2514600" cy="1051560"/>
          </a:xfrm>
          <a:prstGeom prst="roundRect">
            <a:avLst>
              <a:gd name="adj" fmla="val 6957"/>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0" name="Shape 8"/>
          <p:cNvSpPr/>
          <p:nvPr/>
        </p:nvSpPr>
        <p:spPr>
          <a:xfrm>
            <a:off x="896112" y="2240280"/>
            <a:ext cx="411480" cy="411480"/>
          </a:xfrm>
          <a:prstGeom prst="ellipse">
            <a:avLst/>
          </a:prstGeom>
          <a:solidFill>
            <a:srgbClr val="00A1C9"/>
          </a:solidFill>
          <a:ln/>
        </p:spPr>
      </p:sp>
      <p:sp>
        <p:nvSpPr>
          <p:cNvPr id="11" name="Text 9"/>
          <p:cNvSpPr/>
          <p:nvPr/>
        </p:nvSpPr>
        <p:spPr>
          <a:xfrm>
            <a:off x="896112" y="2240280"/>
            <a:ext cx="411480" cy="411480"/>
          </a:xfrm>
          <a:prstGeom prst="rect">
            <a:avLst/>
          </a:prstGeom>
          <a:noFill/>
          <a:ln/>
        </p:spPr>
        <p:txBody>
          <a:bodyPr wrap="square" lIns="0" tIns="0" rIns="0" bIns="0" rtlCol="0" anchor="ctr"/>
          <a:lstStyle/>
          <a:p>
            <a:pPr algn="ctr" indent="0" marL="0">
              <a:buNone/>
            </a:pPr>
            <a:r>
              <a:rPr lang="en-US" sz="1400" b="1" dirty="0">
                <a:solidFill>
                  <a:srgbClr val="232F3E"/>
                </a:solidFill>
              </a:rPr>
              <a:t>1</a:t>
            </a:r>
            <a:endParaRPr lang="en-US" sz="1400" dirty="0"/>
          </a:p>
        </p:txBody>
      </p:sp>
      <p:sp>
        <p:nvSpPr>
          <p:cNvPr id="12" name="Text 10"/>
          <p:cNvSpPr/>
          <p:nvPr/>
        </p:nvSpPr>
        <p:spPr>
          <a:xfrm>
            <a:off x="1426464" y="2103120"/>
            <a:ext cx="1737360" cy="960120"/>
          </a:xfrm>
          <a:prstGeom prst="rect">
            <a:avLst/>
          </a:prstGeom>
          <a:noFill/>
          <a:ln/>
        </p:spPr>
        <p:txBody>
          <a:bodyPr wrap="square" lIns="0" tIns="0" rIns="0" bIns="0" rtlCol="0" anchor="ctr"/>
          <a:lstStyle/>
          <a:p>
            <a:pPr indent="0" marL="0">
              <a:buNone/>
            </a:pPr>
            <a:r>
              <a:rPr lang="en-US" sz="1100" b="1" dirty="0">
                <a:solidFill>
                  <a:srgbClr val="E6ECF2"/>
                </a:solidFill>
                <a:latin typeface="Arial" pitchFamily="34" charset="0"/>
                <a:ea typeface="Arial" pitchFamily="34" charset="-122"/>
                <a:cs typeface="Arial" pitchFamily="34" charset="-120"/>
              </a:rPr>
              <a:t>Detect changed services</a:t>
            </a:r>
            <a:endParaRPr lang="en-US" sz="1100" dirty="0"/>
          </a:p>
        </p:txBody>
      </p:sp>
      <p:sp>
        <p:nvSpPr>
          <p:cNvPr id="13" name="Text 11"/>
          <p:cNvSpPr/>
          <p:nvPr/>
        </p:nvSpPr>
        <p:spPr>
          <a:xfrm>
            <a:off x="3255264" y="2057400"/>
            <a:ext cx="246888" cy="1051560"/>
          </a:xfrm>
          <a:prstGeom prst="rect">
            <a:avLst/>
          </a:prstGeom>
          <a:noFill/>
          <a:ln/>
        </p:spPr>
        <p:txBody>
          <a:bodyPr wrap="square" lIns="0" tIns="0" rIns="0" bIns="0" rtlCol="0" anchor="ctr"/>
          <a:lstStyle/>
          <a:p>
            <a:pPr algn="ctr" indent="0" marL="0">
              <a:buNone/>
            </a:pPr>
            <a:r>
              <a:rPr lang="en-US" sz="1600" dirty="0">
                <a:solidFill>
                  <a:srgbClr val="FF9900"/>
                </a:solidFill>
              </a:rPr>
              <a:t>-&gt;</a:t>
            </a:r>
            <a:endParaRPr lang="en-US" sz="1600" dirty="0"/>
          </a:p>
        </p:txBody>
      </p:sp>
      <p:sp>
        <p:nvSpPr>
          <p:cNvPr id="14" name="Shape 12"/>
          <p:cNvSpPr/>
          <p:nvPr/>
        </p:nvSpPr>
        <p:spPr>
          <a:xfrm>
            <a:off x="3502152" y="2057400"/>
            <a:ext cx="2514600" cy="1051560"/>
          </a:xfrm>
          <a:prstGeom prst="roundRect">
            <a:avLst>
              <a:gd name="adj" fmla="val 6957"/>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5" name="Shape 13"/>
          <p:cNvSpPr/>
          <p:nvPr/>
        </p:nvSpPr>
        <p:spPr>
          <a:xfrm>
            <a:off x="3685032" y="2240280"/>
            <a:ext cx="411480" cy="411480"/>
          </a:xfrm>
          <a:prstGeom prst="ellipse">
            <a:avLst/>
          </a:prstGeom>
          <a:solidFill>
            <a:srgbClr val="00A1C9"/>
          </a:solidFill>
          <a:ln/>
        </p:spPr>
      </p:sp>
      <p:sp>
        <p:nvSpPr>
          <p:cNvPr id="16" name="Text 14"/>
          <p:cNvSpPr/>
          <p:nvPr/>
        </p:nvSpPr>
        <p:spPr>
          <a:xfrm>
            <a:off x="3685032" y="2240280"/>
            <a:ext cx="411480" cy="411480"/>
          </a:xfrm>
          <a:prstGeom prst="rect">
            <a:avLst/>
          </a:prstGeom>
          <a:noFill/>
          <a:ln/>
        </p:spPr>
        <p:txBody>
          <a:bodyPr wrap="square" lIns="0" tIns="0" rIns="0" bIns="0" rtlCol="0" anchor="ctr"/>
          <a:lstStyle/>
          <a:p>
            <a:pPr algn="ctr" indent="0" marL="0">
              <a:buNone/>
            </a:pPr>
            <a:r>
              <a:rPr lang="en-US" sz="1400" b="1" dirty="0">
                <a:solidFill>
                  <a:srgbClr val="232F3E"/>
                </a:solidFill>
              </a:rPr>
              <a:t>2</a:t>
            </a:r>
            <a:endParaRPr lang="en-US" sz="1400" dirty="0"/>
          </a:p>
        </p:txBody>
      </p:sp>
      <p:sp>
        <p:nvSpPr>
          <p:cNvPr id="17" name="Text 15"/>
          <p:cNvSpPr/>
          <p:nvPr/>
        </p:nvSpPr>
        <p:spPr>
          <a:xfrm>
            <a:off x="4215384" y="2103120"/>
            <a:ext cx="1737360" cy="960120"/>
          </a:xfrm>
          <a:prstGeom prst="rect">
            <a:avLst/>
          </a:prstGeom>
          <a:noFill/>
          <a:ln/>
        </p:spPr>
        <p:txBody>
          <a:bodyPr wrap="square" lIns="0" tIns="0" rIns="0" bIns="0" rtlCol="0" anchor="ctr"/>
          <a:lstStyle/>
          <a:p>
            <a:pPr indent="0" marL="0">
              <a:buNone/>
            </a:pPr>
            <a:r>
              <a:rPr lang="en-US" sz="1100" b="1" dirty="0">
                <a:solidFill>
                  <a:srgbClr val="E6ECF2"/>
                </a:solidFill>
                <a:latin typeface="Arial" pitchFamily="34" charset="0"/>
                <a:ea typeface="Arial" pitchFamily="34" charset="-122"/>
                <a:cs typeface="Arial" pitchFamily="34" charset="-120"/>
              </a:rPr>
              <a:t>Lint &amp; test (changed only)</a:t>
            </a:r>
            <a:endParaRPr lang="en-US" sz="1100" dirty="0"/>
          </a:p>
        </p:txBody>
      </p:sp>
      <p:sp>
        <p:nvSpPr>
          <p:cNvPr id="18" name="Text 16"/>
          <p:cNvSpPr/>
          <p:nvPr/>
        </p:nvSpPr>
        <p:spPr>
          <a:xfrm>
            <a:off x="6044184" y="2057400"/>
            <a:ext cx="246888" cy="1051560"/>
          </a:xfrm>
          <a:prstGeom prst="rect">
            <a:avLst/>
          </a:prstGeom>
          <a:noFill/>
          <a:ln/>
        </p:spPr>
        <p:txBody>
          <a:bodyPr wrap="square" lIns="0" tIns="0" rIns="0" bIns="0" rtlCol="0" anchor="ctr"/>
          <a:lstStyle/>
          <a:p>
            <a:pPr algn="ctr" indent="0" marL="0">
              <a:buNone/>
            </a:pPr>
            <a:r>
              <a:rPr lang="en-US" sz="1600" dirty="0">
                <a:solidFill>
                  <a:srgbClr val="FF9900"/>
                </a:solidFill>
              </a:rPr>
              <a:t>-&gt;</a:t>
            </a:r>
            <a:endParaRPr lang="en-US" sz="1600" dirty="0"/>
          </a:p>
        </p:txBody>
      </p:sp>
      <p:sp>
        <p:nvSpPr>
          <p:cNvPr id="19" name="Shape 17"/>
          <p:cNvSpPr/>
          <p:nvPr/>
        </p:nvSpPr>
        <p:spPr>
          <a:xfrm>
            <a:off x="6291072" y="2057400"/>
            <a:ext cx="2514600" cy="1051560"/>
          </a:xfrm>
          <a:prstGeom prst="roundRect">
            <a:avLst>
              <a:gd name="adj" fmla="val 6957"/>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0" name="Shape 18"/>
          <p:cNvSpPr/>
          <p:nvPr/>
        </p:nvSpPr>
        <p:spPr>
          <a:xfrm>
            <a:off x="6473952" y="2240280"/>
            <a:ext cx="411480" cy="411480"/>
          </a:xfrm>
          <a:prstGeom prst="ellipse">
            <a:avLst/>
          </a:prstGeom>
          <a:solidFill>
            <a:srgbClr val="00A1C9"/>
          </a:solidFill>
          <a:ln/>
        </p:spPr>
      </p:sp>
      <p:sp>
        <p:nvSpPr>
          <p:cNvPr id="21" name="Text 19"/>
          <p:cNvSpPr/>
          <p:nvPr/>
        </p:nvSpPr>
        <p:spPr>
          <a:xfrm>
            <a:off x="6473952" y="2240280"/>
            <a:ext cx="411480" cy="411480"/>
          </a:xfrm>
          <a:prstGeom prst="rect">
            <a:avLst/>
          </a:prstGeom>
          <a:noFill/>
          <a:ln/>
        </p:spPr>
        <p:txBody>
          <a:bodyPr wrap="square" lIns="0" tIns="0" rIns="0" bIns="0" rtlCol="0" anchor="ctr"/>
          <a:lstStyle/>
          <a:p>
            <a:pPr algn="ctr" indent="0" marL="0">
              <a:buNone/>
            </a:pPr>
            <a:r>
              <a:rPr lang="en-US" sz="1400" b="1" dirty="0">
                <a:solidFill>
                  <a:srgbClr val="232F3E"/>
                </a:solidFill>
              </a:rPr>
              <a:t>3</a:t>
            </a:r>
            <a:endParaRPr lang="en-US" sz="1400" dirty="0"/>
          </a:p>
        </p:txBody>
      </p:sp>
      <p:sp>
        <p:nvSpPr>
          <p:cNvPr id="22" name="Text 20"/>
          <p:cNvSpPr/>
          <p:nvPr/>
        </p:nvSpPr>
        <p:spPr>
          <a:xfrm>
            <a:off x="7004304" y="2103120"/>
            <a:ext cx="1737360" cy="960120"/>
          </a:xfrm>
          <a:prstGeom prst="rect">
            <a:avLst/>
          </a:prstGeom>
          <a:noFill/>
          <a:ln/>
        </p:spPr>
        <p:txBody>
          <a:bodyPr wrap="square" lIns="0" tIns="0" rIns="0" bIns="0" rtlCol="0" anchor="ctr"/>
          <a:lstStyle/>
          <a:p>
            <a:pPr indent="0" marL="0">
              <a:buNone/>
            </a:pPr>
            <a:r>
              <a:rPr lang="en-US" sz="1100" b="1" dirty="0">
                <a:solidFill>
                  <a:srgbClr val="E6ECF2"/>
                </a:solidFill>
                <a:latin typeface="Arial" pitchFamily="34" charset="0"/>
                <a:ea typeface="Arial" pitchFamily="34" charset="-122"/>
                <a:cs typeface="Arial" pitchFamily="34" charset="-120"/>
              </a:rPr>
              <a:t>Build &amp; push image -&gt; ECR</a:t>
            </a:r>
            <a:endParaRPr lang="en-US" sz="1100" dirty="0"/>
          </a:p>
        </p:txBody>
      </p:sp>
      <p:sp>
        <p:nvSpPr>
          <p:cNvPr id="23" name="Text 21"/>
          <p:cNvSpPr/>
          <p:nvPr/>
        </p:nvSpPr>
        <p:spPr>
          <a:xfrm>
            <a:off x="8833104" y="2057400"/>
            <a:ext cx="246888" cy="1051560"/>
          </a:xfrm>
          <a:prstGeom prst="rect">
            <a:avLst/>
          </a:prstGeom>
          <a:noFill/>
          <a:ln/>
        </p:spPr>
        <p:txBody>
          <a:bodyPr wrap="square" lIns="0" tIns="0" rIns="0" bIns="0" rtlCol="0" anchor="ctr"/>
          <a:lstStyle/>
          <a:p>
            <a:pPr algn="ctr" indent="0" marL="0">
              <a:buNone/>
            </a:pPr>
            <a:r>
              <a:rPr lang="en-US" sz="1600" dirty="0">
                <a:solidFill>
                  <a:srgbClr val="FF9900"/>
                </a:solidFill>
              </a:rPr>
              <a:t>-&gt;</a:t>
            </a:r>
            <a:endParaRPr lang="en-US" sz="1600" dirty="0"/>
          </a:p>
        </p:txBody>
      </p:sp>
      <p:sp>
        <p:nvSpPr>
          <p:cNvPr id="24" name="Shape 22"/>
          <p:cNvSpPr/>
          <p:nvPr/>
        </p:nvSpPr>
        <p:spPr>
          <a:xfrm>
            <a:off x="9079992" y="2057400"/>
            <a:ext cx="2514600" cy="1051560"/>
          </a:xfrm>
          <a:prstGeom prst="roundRect">
            <a:avLst>
              <a:gd name="adj" fmla="val 6957"/>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5" name="Shape 23"/>
          <p:cNvSpPr/>
          <p:nvPr/>
        </p:nvSpPr>
        <p:spPr>
          <a:xfrm>
            <a:off x="9262872" y="2240280"/>
            <a:ext cx="411480" cy="411480"/>
          </a:xfrm>
          <a:prstGeom prst="ellipse">
            <a:avLst/>
          </a:prstGeom>
          <a:solidFill>
            <a:srgbClr val="00A1C9"/>
          </a:solidFill>
          <a:ln/>
        </p:spPr>
      </p:sp>
      <p:sp>
        <p:nvSpPr>
          <p:cNvPr id="26" name="Text 24"/>
          <p:cNvSpPr/>
          <p:nvPr/>
        </p:nvSpPr>
        <p:spPr>
          <a:xfrm>
            <a:off x="9262872" y="2240280"/>
            <a:ext cx="411480" cy="411480"/>
          </a:xfrm>
          <a:prstGeom prst="rect">
            <a:avLst/>
          </a:prstGeom>
          <a:noFill/>
          <a:ln/>
        </p:spPr>
        <p:txBody>
          <a:bodyPr wrap="square" lIns="0" tIns="0" rIns="0" bIns="0" rtlCol="0" anchor="ctr"/>
          <a:lstStyle/>
          <a:p>
            <a:pPr algn="ctr" indent="0" marL="0">
              <a:buNone/>
            </a:pPr>
            <a:r>
              <a:rPr lang="en-US" sz="1400" b="1" dirty="0">
                <a:solidFill>
                  <a:srgbClr val="232F3E"/>
                </a:solidFill>
              </a:rPr>
              <a:t>4</a:t>
            </a:r>
            <a:endParaRPr lang="en-US" sz="1400" dirty="0"/>
          </a:p>
        </p:txBody>
      </p:sp>
      <p:sp>
        <p:nvSpPr>
          <p:cNvPr id="27" name="Text 25"/>
          <p:cNvSpPr/>
          <p:nvPr/>
        </p:nvSpPr>
        <p:spPr>
          <a:xfrm>
            <a:off x="9793224" y="2103120"/>
            <a:ext cx="1737360" cy="960120"/>
          </a:xfrm>
          <a:prstGeom prst="rect">
            <a:avLst/>
          </a:prstGeom>
          <a:noFill/>
          <a:ln/>
        </p:spPr>
        <p:txBody>
          <a:bodyPr wrap="square" lIns="0" tIns="0" rIns="0" bIns="0" rtlCol="0" anchor="ctr"/>
          <a:lstStyle/>
          <a:p>
            <a:pPr indent="0" marL="0">
              <a:buNone/>
            </a:pPr>
            <a:r>
              <a:rPr lang="en-US" sz="1100" b="1" dirty="0">
                <a:solidFill>
                  <a:srgbClr val="E6ECF2"/>
                </a:solidFill>
                <a:latin typeface="Arial" pitchFamily="34" charset="0"/>
                <a:ea typeface="Arial" pitchFamily="34" charset="-122"/>
                <a:cs typeface="Arial" pitchFamily="34" charset="-120"/>
              </a:rPr>
              <a:t>Update Helm image tag</a:t>
            </a:r>
            <a:endParaRPr lang="en-US" sz="1100" dirty="0"/>
          </a:p>
        </p:txBody>
      </p:sp>
      <p:sp>
        <p:nvSpPr>
          <p:cNvPr id="28" name="Shape 26"/>
          <p:cNvSpPr/>
          <p:nvPr/>
        </p:nvSpPr>
        <p:spPr>
          <a:xfrm>
            <a:off x="713232" y="3383280"/>
            <a:ext cx="5349240" cy="2743200"/>
          </a:xfrm>
          <a:prstGeom prst="roundRect">
            <a:avLst>
              <a:gd name="adj" fmla="val 2667"/>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9" name="Text 27"/>
          <p:cNvSpPr/>
          <p:nvPr/>
        </p:nvSpPr>
        <p:spPr>
          <a:xfrm>
            <a:off x="914400" y="3520440"/>
            <a:ext cx="4937760" cy="320040"/>
          </a:xfrm>
          <a:prstGeom prst="rect">
            <a:avLst/>
          </a:prstGeom>
          <a:noFill/>
          <a:ln/>
        </p:spPr>
        <p:txBody>
          <a:bodyPr wrap="square" rtlCol="0" anchor="ctr"/>
          <a:lstStyle/>
          <a:p>
            <a:pPr indent="0" marL="0">
              <a:buNone/>
            </a:pPr>
            <a:r>
              <a:rPr lang="en-US" sz="1400" b="1" dirty="0">
                <a:solidFill>
                  <a:srgbClr val="27D196"/>
                </a:solidFill>
                <a:latin typeface="Arial" pitchFamily="34" charset="0"/>
                <a:ea typeface="Arial" pitchFamily="34" charset="-122"/>
                <a:cs typeface="Arial" pitchFamily="34" charset="-120"/>
              </a:rPr>
              <a:t>Continuous Deployment — GitOps</a:t>
            </a:r>
            <a:endParaRPr lang="en-US" sz="1400" dirty="0"/>
          </a:p>
        </p:txBody>
      </p:sp>
      <p:sp>
        <p:nvSpPr>
          <p:cNvPr id="30" name="Text 28"/>
          <p:cNvSpPr/>
          <p:nvPr/>
        </p:nvSpPr>
        <p:spPr>
          <a:xfrm>
            <a:off x="914400" y="3931920"/>
            <a:ext cx="5074920" cy="2103120"/>
          </a:xfrm>
          <a:prstGeom prst="rect">
            <a:avLst/>
          </a:prstGeom>
          <a:noFill/>
          <a:ln/>
        </p:spPr>
        <p:txBody>
          <a:bodyPr wrap="square" rtlCol="0" anchor="ctr"/>
          <a:lstStyle/>
          <a:p>
            <a:pPr marL="342900" indent="-342900">
              <a:lnSpc>
                <a:spcPct val="118000"/>
              </a:lnSpc>
              <a:buSzPct val="100000"/>
              <a:buChar char="•"/>
            </a:pPr>
            <a:r>
              <a:rPr lang="en-US" sz="1150" dirty="0">
                <a:solidFill>
                  <a:srgbClr val="E6ECF2"/>
                </a:solidFill>
                <a:latin typeface="Arial" pitchFamily="34" charset="0"/>
                <a:ea typeface="Arial" pitchFamily="34" charset="-122"/>
                <a:cs typeface="Arial" pitchFamily="34" charset="-120"/>
              </a:rPr>
              <a:t>Git is the single source of truth for cluster state</a:t>
            </a:r>
            <a:endParaRPr lang="en-US" sz="1150" dirty="0"/>
          </a:p>
          <a:p>
            <a:pPr marL="342900" indent="-342900">
              <a:lnSpc>
                <a:spcPct val="118000"/>
              </a:lnSpc>
              <a:buSzPct val="100000"/>
              <a:buChar char="•"/>
            </a:pPr>
            <a:r>
              <a:rPr lang="en-US" sz="1150" dirty="0">
                <a:solidFill>
                  <a:srgbClr val="E6ECF2"/>
                </a:solidFill>
                <a:latin typeface="Arial" pitchFamily="34" charset="0"/>
                <a:ea typeface="Arial" pitchFamily="34" charset="-122"/>
                <a:cs typeface="Arial" pitchFamily="34" charset="-120"/>
              </a:rPr>
              <a:t>Argo CD continuously reconciles live cluster -&gt; desired state</a:t>
            </a:r>
            <a:endParaRPr lang="en-US" sz="1150" dirty="0"/>
          </a:p>
          <a:p>
            <a:pPr marL="342900" indent="-342900">
              <a:lnSpc>
                <a:spcPct val="118000"/>
              </a:lnSpc>
              <a:buSzPct val="100000"/>
              <a:buChar char="•"/>
            </a:pPr>
            <a:r>
              <a:rPr lang="en-US" sz="1150" dirty="0">
                <a:solidFill>
                  <a:srgbClr val="E6ECF2"/>
                </a:solidFill>
                <a:latin typeface="Arial" pitchFamily="34" charset="0"/>
                <a:ea typeface="Arial" pitchFamily="34" charset="-122"/>
                <a:cs typeface="Arial" pitchFamily="34" charset="-120"/>
              </a:rPr>
              <a:t>CI commits a new image tag -&gt; Argo CD rolls it out automatically</a:t>
            </a:r>
            <a:endParaRPr lang="en-US" sz="1150" dirty="0"/>
          </a:p>
          <a:p>
            <a:pPr marL="342900" indent="-342900">
              <a:lnSpc>
                <a:spcPct val="118000"/>
              </a:lnSpc>
              <a:buSzPct val="100000"/>
              <a:buChar char="•"/>
            </a:pPr>
            <a:r>
              <a:rPr lang="en-US" sz="1150" dirty="0">
                <a:solidFill>
                  <a:srgbClr val="E6ECF2"/>
                </a:solidFill>
                <a:latin typeface="Arial" pitchFamily="34" charset="0"/>
                <a:ea typeface="Arial" pitchFamily="34" charset="-122"/>
                <a:cs typeface="Arial" pitchFamily="34" charset="-120"/>
              </a:rPr>
              <a:t>Each service is a separate Argo CD application</a:t>
            </a:r>
            <a:endParaRPr lang="en-US" sz="1150" dirty="0"/>
          </a:p>
          <a:p>
            <a:pPr marL="342900" indent="-342900">
              <a:lnSpc>
                <a:spcPct val="118000"/>
              </a:lnSpc>
              <a:buSzPct val="100000"/>
              <a:buChar char="•"/>
            </a:pPr>
            <a:r>
              <a:rPr lang="en-US" sz="1150" dirty="0">
                <a:solidFill>
                  <a:srgbClr val="E6ECF2"/>
                </a:solidFill>
                <a:latin typeface="Arial" pitchFamily="34" charset="0"/>
                <a:ea typeface="Arial" pitchFamily="34" charset="-122"/>
                <a:cs typeface="Arial" pitchFamily="34" charset="-120"/>
              </a:rPr>
              <a:t>OIDC short-lived AWS creds preferred over static keys</a:t>
            </a:r>
            <a:endParaRPr lang="en-US" sz="1150" dirty="0"/>
          </a:p>
        </p:txBody>
      </p:sp>
      <p:sp>
        <p:nvSpPr>
          <p:cNvPr id="31" name="Shape 29"/>
          <p:cNvSpPr/>
          <p:nvPr/>
        </p:nvSpPr>
        <p:spPr>
          <a:xfrm>
            <a:off x="6355080" y="3383280"/>
            <a:ext cx="5120640" cy="2743200"/>
          </a:xfrm>
          <a:prstGeom prst="roundRect">
            <a:avLst>
              <a:gd name="adj" fmla="val 2667"/>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32" name="Text 30"/>
          <p:cNvSpPr/>
          <p:nvPr/>
        </p:nvSpPr>
        <p:spPr>
          <a:xfrm>
            <a:off x="6565392" y="3520440"/>
            <a:ext cx="4754880" cy="320040"/>
          </a:xfrm>
          <a:prstGeom prst="rect">
            <a:avLst/>
          </a:prstGeom>
          <a:noFill/>
          <a:ln/>
        </p:spPr>
        <p:txBody>
          <a:bodyPr wrap="square" rtlCol="0" anchor="ctr"/>
          <a:lstStyle/>
          <a:p>
            <a:pPr indent="0" marL="0">
              <a:buNone/>
            </a:pPr>
            <a:r>
              <a:rPr lang="en-US" sz="1400" b="1" dirty="0">
                <a:solidFill>
                  <a:srgbClr val="FF9900"/>
                </a:solidFill>
                <a:latin typeface="Arial" pitchFamily="34" charset="0"/>
                <a:ea typeface="Arial" pitchFamily="34" charset="-122"/>
                <a:cs typeface="Arial" pitchFamily="34" charset="-120"/>
              </a:rPr>
              <a:t>Infrastructure as Code — Terraform</a:t>
            </a:r>
            <a:endParaRPr lang="en-US" sz="1400" dirty="0"/>
          </a:p>
        </p:txBody>
      </p:sp>
      <p:sp>
        <p:nvSpPr>
          <p:cNvPr id="33" name="Text 31"/>
          <p:cNvSpPr/>
          <p:nvPr/>
        </p:nvSpPr>
        <p:spPr>
          <a:xfrm>
            <a:off x="6565392" y="3931920"/>
            <a:ext cx="1463040" cy="822960"/>
          </a:xfrm>
          <a:prstGeom prst="rect">
            <a:avLst/>
          </a:prstGeom>
          <a:noFill/>
          <a:ln/>
        </p:spPr>
        <p:txBody>
          <a:bodyPr wrap="square" lIns="0" tIns="0" rIns="0" bIns="0" rtlCol="0" anchor="ctr"/>
          <a:lstStyle/>
          <a:p>
            <a:pPr indent="0" marL="0">
              <a:buNone/>
            </a:pPr>
            <a:r>
              <a:rPr lang="en-US" sz="4600" b="1" dirty="0">
                <a:solidFill>
                  <a:srgbClr val="FF9900"/>
                </a:solidFill>
                <a:latin typeface="Arial" pitchFamily="34" charset="0"/>
                <a:ea typeface="Arial" pitchFamily="34" charset="-122"/>
                <a:cs typeface="Arial" pitchFamily="34" charset="-120"/>
              </a:rPr>
              <a:t>19</a:t>
            </a:r>
            <a:endParaRPr lang="en-US" sz="4600" dirty="0"/>
          </a:p>
        </p:txBody>
      </p:sp>
      <p:sp>
        <p:nvSpPr>
          <p:cNvPr id="34" name="Text 32"/>
          <p:cNvSpPr/>
          <p:nvPr/>
        </p:nvSpPr>
        <p:spPr>
          <a:xfrm>
            <a:off x="8001000" y="3977640"/>
            <a:ext cx="3383280" cy="822960"/>
          </a:xfrm>
          <a:prstGeom prst="rect">
            <a:avLst/>
          </a:prstGeom>
          <a:noFill/>
          <a:ln/>
        </p:spPr>
        <p:txBody>
          <a:bodyPr wrap="square" lIns="0" tIns="0" rIns="0" bIns="0" rtlCol="0" anchor="ctr"/>
          <a:lstStyle/>
          <a:p>
            <a:pPr indent="0" marL="0">
              <a:buNone/>
            </a:pPr>
            <a:r>
              <a:rPr lang="en-US" sz="1200" dirty="0">
                <a:solidFill>
                  <a:srgbClr val="E6ECF2"/>
                </a:solidFill>
                <a:latin typeface="Arial" pitchFamily="34" charset="0"/>
                <a:ea typeface="Arial" pitchFamily="34" charset="-122"/>
                <a:cs typeface="Arial" pitchFamily="34" charset="-120"/>
              </a:rPr>
              <a:t>Terraform modules define the entire AWS environment</a:t>
            </a:r>
            <a:endParaRPr lang="en-US" sz="1200" dirty="0"/>
          </a:p>
        </p:txBody>
      </p:sp>
      <p:sp>
        <p:nvSpPr>
          <p:cNvPr id="35" name="Text 33"/>
          <p:cNvSpPr/>
          <p:nvPr/>
        </p:nvSpPr>
        <p:spPr>
          <a:xfrm>
            <a:off x="6565392" y="4892040"/>
            <a:ext cx="4754880" cy="1188720"/>
          </a:xfrm>
          <a:prstGeom prst="rect">
            <a:avLst/>
          </a:prstGeom>
          <a:noFill/>
          <a:ln/>
        </p:spPr>
        <p:txBody>
          <a:bodyPr wrap="square" rtlCol="0" anchor="ctr"/>
          <a:lstStyle/>
          <a:p>
            <a:pPr marL="342900" indent="-342900">
              <a:lnSpc>
                <a:spcPct val="112000"/>
              </a:lnSpc>
              <a:buSzPct val="100000"/>
              <a:buChar char="•"/>
            </a:pPr>
            <a:r>
              <a:rPr lang="en-US" sz="1100" dirty="0">
                <a:solidFill>
                  <a:srgbClr val="9FB0C0"/>
                </a:solidFill>
                <a:latin typeface="Arial" pitchFamily="34" charset="0"/>
                <a:ea typeface="Arial" pitchFamily="34" charset="-122"/>
                <a:cs typeface="Arial" pitchFamily="34" charset="-120"/>
              </a:rPr>
              <a:t>Declarative, reviewable, reproducible provisioning</a:t>
            </a:r>
            <a:endParaRPr lang="en-US" sz="1100" dirty="0"/>
          </a:p>
          <a:p>
            <a:pPr marL="342900" indent="-342900">
              <a:lnSpc>
                <a:spcPct val="112000"/>
              </a:lnSpc>
              <a:buSzPct val="100000"/>
              <a:buChar char="•"/>
            </a:pPr>
            <a:r>
              <a:rPr lang="en-US" sz="1100" dirty="0">
                <a:solidFill>
                  <a:srgbClr val="9FB0C0"/>
                </a:solidFill>
                <a:latin typeface="Arial" pitchFamily="34" charset="0"/>
                <a:ea typeface="Arial" pitchFamily="34" charset="-122"/>
                <a:cs typeface="Arial" pitchFamily="34" charset="-120"/>
              </a:rPr>
              <a:t>Enables region re-deployment for DR (~25 min)</a:t>
            </a:r>
            <a:endParaRPr lang="en-US" sz="1100" dirty="0"/>
          </a:p>
          <a:p>
            <a:pPr marL="342900" indent="-342900">
              <a:lnSpc>
                <a:spcPct val="112000"/>
              </a:lnSpc>
              <a:buSzPct val="100000"/>
              <a:buChar char="•"/>
            </a:pPr>
            <a:r>
              <a:rPr lang="en-US" sz="1100" dirty="0">
                <a:solidFill>
                  <a:srgbClr val="9FB0C0"/>
                </a:solidFill>
                <a:latin typeface="Arial" pitchFamily="34" charset="0"/>
                <a:ea typeface="Arial" pitchFamily="34" charset="-122"/>
                <a:cs typeface="Arial" pitchFamily="34" charset="-120"/>
              </a:rPr>
              <a:t>Alarms &amp; dashboards version-controlled as code</a:t>
            </a:r>
            <a:endParaRPr lang="en-US" sz="1100" dirty="0"/>
          </a:p>
        </p:txBody>
      </p:sp>
      <p:sp>
        <p:nvSpPr>
          <p:cNvPr id="36" name="Text 34"/>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37" name="Text 35"/>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TASK 07 — MONITORING &amp; OBSERVABILITY</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Seeing Inside a Distributed System</a:t>
            </a:r>
            <a:endParaRPr lang="en-US" sz="2700" dirty="0"/>
          </a:p>
        </p:txBody>
      </p:sp>
      <p:sp>
        <p:nvSpPr>
          <p:cNvPr id="5" name="Shape 3"/>
          <p:cNvSpPr/>
          <p:nvPr/>
        </p:nvSpPr>
        <p:spPr>
          <a:xfrm>
            <a:off x="10378440" y="566928"/>
            <a:ext cx="1371600" cy="420624"/>
          </a:xfrm>
          <a:prstGeom prst="roundRect">
            <a:avLst>
              <a:gd name="adj" fmla="val 50000"/>
            </a:avLst>
          </a:prstGeom>
          <a:solidFill>
            <a:srgbClr val="37495C"/>
          </a:solidFill>
          <a:ln w="12700">
            <a:solidFill>
              <a:srgbClr val="00A1C9"/>
            </a:solidFill>
            <a:prstDash val="solid"/>
          </a:ln>
        </p:spPr>
      </p:sp>
      <p:sp>
        <p:nvSpPr>
          <p:cNvPr id="6" name="Text 4"/>
          <p:cNvSpPr/>
          <p:nvPr/>
        </p:nvSpPr>
        <p:spPr>
          <a:xfrm>
            <a:off x="10378440" y="566928"/>
            <a:ext cx="1371600" cy="420624"/>
          </a:xfrm>
          <a:prstGeom prst="rect">
            <a:avLst/>
          </a:prstGeom>
          <a:noFill/>
          <a:ln/>
        </p:spPr>
        <p:txBody>
          <a:bodyPr wrap="square" lIns="0" tIns="0" rIns="0" bIns="0" rtlCol="0" anchor="ctr"/>
          <a:lstStyle/>
          <a:p>
            <a:pPr algn="ctr" indent="0" marL="0">
              <a:buNone/>
            </a:pPr>
            <a:r>
              <a:rPr lang="en-US" sz="1100" b="1" dirty="0">
                <a:solidFill>
                  <a:srgbClr val="00A1C9"/>
                </a:solidFill>
                <a:latin typeface="Arial" pitchFamily="34" charset="0"/>
                <a:ea typeface="Arial" pitchFamily="34" charset="-122"/>
                <a:cs typeface="Arial" pitchFamily="34" charset="-120"/>
              </a:rPr>
              <a:t>Impl 40%</a:t>
            </a:r>
            <a:endParaRPr lang="en-US" sz="1100" dirty="0"/>
          </a:p>
        </p:txBody>
      </p:sp>
      <p:sp>
        <p:nvSpPr>
          <p:cNvPr id="7" name="Shape 5"/>
          <p:cNvSpPr/>
          <p:nvPr/>
        </p:nvSpPr>
        <p:spPr>
          <a:xfrm>
            <a:off x="713232" y="1335024"/>
            <a:ext cx="11018520" cy="0"/>
          </a:xfrm>
          <a:prstGeom prst="line">
            <a:avLst/>
          </a:prstGeom>
          <a:noFill/>
          <a:ln w="12700">
            <a:solidFill>
              <a:srgbClr val="44586B"/>
            </a:solidFill>
            <a:prstDash val="solid"/>
          </a:ln>
        </p:spPr>
      </p:sp>
      <p:sp>
        <p:nvSpPr>
          <p:cNvPr id="8" name="Shape 6"/>
          <p:cNvSpPr/>
          <p:nvPr/>
        </p:nvSpPr>
        <p:spPr>
          <a:xfrm>
            <a:off x="713232" y="1645920"/>
            <a:ext cx="525780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9" name="Shape 7"/>
          <p:cNvSpPr/>
          <p:nvPr/>
        </p:nvSpPr>
        <p:spPr>
          <a:xfrm>
            <a:off x="713232" y="1645920"/>
            <a:ext cx="109728" cy="2103120"/>
          </a:xfrm>
          <a:prstGeom prst="rect">
            <a:avLst/>
          </a:prstGeom>
          <a:solidFill>
            <a:srgbClr val="FF9900"/>
          </a:solidFill>
          <a:ln/>
        </p:spPr>
      </p:sp>
      <p:sp>
        <p:nvSpPr>
          <p:cNvPr id="10" name="Text 8"/>
          <p:cNvSpPr/>
          <p:nvPr/>
        </p:nvSpPr>
        <p:spPr>
          <a:xfrm>
            <a:off x="1005840" y="1874520"/>
            <a:ext cx="4846320" cy="411480"/>
          </a:xfrm>
          <a:prstGeom prst="rect">
            <a:avLst/>
          </a:prstGeom>
          <a:noFill/>
          <a:ln/>
        </p:spPr>
        <p:txBody>
          <a:bodyPr wrap="square" lIns="0" tIns="0" rIns="0" bIns="0" rtlCol="0" anchor="ctr"/>
          <a:lstStyle/>
          <a:p>
            <a:pPr indent="0" marL="0">
              <a:buNone/>
            </a:pPr>
            <a:r>
              <a:rPr lang="en-US" sz="1550" b="1" dirty="0">
                <a:solidFill>
                  <a:srgbClr val="FF9900"/>
                </a:solidFill>
                <a:latin typeface="Arial" pitchFamily="34" charset="0"/>
                <a:ea typeface="Arial" pitchFamily="34" charset="-122"/>
                <a:cs typeface="Arial" pitchFamily="34" charset="-120"/>
              </a:rPr>
              <a:t>Metrics &amp; CloudWatch</a:t>
            </a:r>
            <a:endParaRPr lang="en-US" sz="1550" dirty="0"/>
          </a:p>
        </p:txBody>
      </p:sp>
      <p:sp>
        <p:nvSpPr>
          <p:cNvPr id="11" name="Text 9"/>
          <p:cNvSpPr/>
          <p:nvPr/>
        </p:nvSpPr>
        <p:spPr>
          <a:xfrm>
            <a:off x="1005840" y="2395728"/>
            <a:ext cx="4800600" cy="1234440"/>
          </a:xfrm>
          <a:prstGeom prst="rect">
            <a:avLst/>
          </a:prstGeom>
          <a:noFill/>
          <a:ln/>
        </p:spPr>
        <p:txBody>
          <a:bodyPr wrap="square" lIns="0" tIns="0" rIns="0" bIns="0" rtlCol="0" anchor="ctr"/>
          <a:lstStyle/>
          <a:p>
            <a:pPr indent="0" marL="0">
              <a:lnSpc>
                <a:spcPct val="115000"/>
              </a:lnSpc>
              <a:buNone/>
            </a:pPr>
            <a:r>
              <a:rPr lang="en-US" sz="1200" dirty="0">
                <a:solidFill>
                  <a:srgbClr val="E6ECF2"/>
                </a:solidFill>
                <a:latin typeface="Arial" pitchFamily="34" charset="0"/>
                <a:ea typeface="Arial" pitchFamily="34" charset="-122"/>
                <a:cs typeface="Arial" pitchFamily="34" charset="-120"/>
              </a:rPr>
              <a:t>Container Insights collects cluster &amp; container metrics; a JSON-defined dashboard centralises key signals; alarms as Terraform resources notify via SNS email.</a:t>
            </a:r>
            <a:endParaRPr lang="en-US" sz="1200" dirty="0"/>
          </a:p>
        </p:txBody>
      </p:sp>
      <p:sp>
        <p:nvSpPr>
          <p:cNvPr id="12" name="Shape 10"/>
          <p:cNvSpPr/>
          <p:nvPr/>
        </p:nvSpPr>
        <p:spPr>
          <a:xfrm>
            <a:off x="6199632" y="1645920"/>
            <a:ext cx="525780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3" name="Shape 11"/>
          <p:cNvSpPr/>
          <p:nvPr/>
        </p:nvSpPr>
        <p:spPr>
          <a:xfrm>
            <a:off x="6199632" y="1645920"/>
            <a:ext cx="109728" cy="2103120"/>
          </a:xfrm>
          <a:prstGeom prst="rect">
            <a:avLst/>
          </a:prstGeom>
          <a:solidFill>
            <a:srgbClr val="00A1C9"/>
          </a:solidFill>
          <a:ln/>
        </p:spPr>
      </p:sp>
      <p:sp>
        <p:nvSpPr>
          <p:cNvPr id="14" name="Text 12"/>
          <p:cNvSpPr/>
          <p:nvPr/>
        </p:nvSpPr>
        <p:spPr>
          <a:xfrm>
            <a:off x="6492240" y="1874520"/>
            <a:ext cx="4846320" cy="411480"/>
          </a:xfrm>
          <a:prstGeom prst="rect">
            <a:avLst/>
          </a:prstGeom>
          <a:noFill/>
          <a:ln/>
        </p:spPr>
        <p:txBody>
          <a:bodyPr wrap="square" lIns="0" tIns="0" rIns="0" bIns="0" rtlCol="0" anchor="ctr"/>
          <a:lstStyle/>
          <a:p>
            <a:pPr indent="0" marL="0">
              <a:buNone/>
            </a:pPr>
            <a:r>
              <a:rPr lang="en-US" sz="1550" b="1" dirty="0">
                <a:solidFill>
                  <a:srgbClr val="00A1C9"/>
                </a:solidFill>
                <a:latin typeface="Arial" pitchFamily="34" charset="0"/>
                <a:ea typeface="Arial" pitchFamily="34" charset="-122"/>
                <a:cs typeface="Arial" pitchFamily="34" charset="-120"/>
              </a:rPr>
              <a:t>Health checks</a:t>
            </a:r>
            <a:endParaRPr lang="en-US" sz="1550" dirty="0"/>
          </a:p>
        </p:txBody>
      </p:sp>
      <p:sp>
        <p:nvSpPr>
          <p:cNvPr id="15" name="Text 13"/>
          <p:cNvSpPr/>
          <p:nvPr/>
        </p:nvSpPr>
        <p:spPr>
          <a:xfrm>
            <a:off x="6492240" y="2395728"/>
            <a:ext cx="4800600" cy="1234440"/>
          </a:xfrm>
          <a:prstGeom prst="rect">
            <a:avLst/>
          </a:prstGeom>
          <a:noFill/>
          <a:ln/>
        </p:spPr>
        <p:txBody>
          <a:bodyPr wrap="square" lIns="0" tIns="0" rIns="0" bIns="0" rtlCol="0" anchor="ctr"/>
          <a:lstStyle/>
          <a:p>
            <a:pPr indent="0" marL="0">
              <a:lnSpc>
                <a:spcPct val="115000"/>
              </a:lnSpc>
              <a:buNone/>
            </a:pPr>
            <a:r>
              <a:rPr lang="en-US" sz="1200" dirty="0">
                <a:solidFill>
                  <a:srgbClr val="E6ECF2"/>
                </a:solidFill>
                <a:latin typeface="Arial" pitchFamily="34" charset="0"/>
                <a:ea typeface="Arial" pitchFamily="34" charset="-122"/>
                <a:cs typeface="Arial" pitchFamily="34" charset="-120"/>
              </a:rPr>
              <a:t>Liveness (process alive -&gt; restart) and readiness (DB &amp; broker connected -&gt; serve traffic) probes with staggered initial delays.</a:t>
            </a:r>
            <a:endParaRPr lang="en-US" sz="1200" dirty="0"/>
          </a:p>
        </p:txBody>
      </p:sp>
      <p:sp>
        <p:nvSpPr>
          <p:cNvPr id="16" name="Shape 14"/>
          <p:cNvSpPr/>
          <p:nvPr/>
        </p:nvSpPr>
        <p:spPr>
          <a:xfrm>
            <a:off x="713232" y="3931920"/>
            <a:ext cx="525780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7" name="Shape 15"/>
          <p:cNvSpPr/>
          <p:nvPr/>
        </p:nvSpPr>
        <p:spPr>
          <a:xfrm>
            <a:off x="713232" y="3931920"/>
            <a:ext cx="109728" cy="2103120"/>
          </a:xfrm>
          <a:prstGeom prst="rect">
            <a:avLst/>
          </a:prstGeom>
          <a:solidFill>
            <a:srgbClr val="27D196"/>
          </a:solidFill>
          <a:ln/>
        </p:spPr>
      </p:sp>
      <p:sp>
        <p:nvSpPr>
          <p:cNvPr id="18" name="Text 16"/>
          <p:cNvSpPr/>
          <p:nvPr/>
        </p:nvSpPr>
        <p:spPr>
          <a:xfrm>
            <a:off x="1005840" y="4160520"/>
            <a:ext cx="4846320" cy="411480"/>
          </a:xfrm>
          <a:prstGeom prst="rect">
            <a:avLst/>
          </a:prstGeom>
          <a:noFill/>
          <a:ln/>
        </p:spPr>
        <p:txBody>
          <a:bodyPr wrap="square" lIns="0" tIns="0" rIns="0" bIns="0" rtlCol="0" anchor="ctr"/>
          <a:lstStyle/>
          <a:p>
            <a:pPr indent="0" marL="0">
              <a:buNone/>
            </a:pPr>
            <a:r>
              <a:rPr lang="en-US" sz="1550" b="1" dirty="0">
                <a:solidFill>
                  <a:srgbClr val="27D196"/>
                </a:solidFill>
                <a:latin typeface="Arial" pitchFamily="34" charset="0"/>
                <a:ea typeface="Arial" pitchFamily="34" charset="-122"/>
                <a:cs typeface="Arial" pitchFamily="34" charset="-120"/>
              </a:rPr>
              <a:t>Structured logging</a:t>
            </a:r>
            <a:endParaRPr lang="en-US" sz="1550" dirty="0"/>
          </a:p>
        </p:txBody>
      </p:sp>
      <p:sp>
        <p:nvSpPr>
          <p:cNvPr id="19" name="Text 17"/>
          <p:cNvSpPr/>
          <p:nvPr/>
        </p:nvSpPr>
        <p:spPr>
          <a:xfrm>
            <a:off x="1005840" y="4681728"/>
            <a:ext cx="4800600" cy="1234440"/>
          </a:xfrm>
          <a:prstGeom prst="rect">
            <a:avLst/>
          </a:prstGeom>
          <a:noFill/>
          <a:ln/>
        </p:spPr>
        <p:txBody>
          <a:bodyPr wrap="square" lIns="0" tIns="0" rIns="0" bIns="0" rtlCol="0" anchor="ctr"/>
          <a:lstStyle/>
          <a:p>
            <a:pPr indent="0" marL="0">
              <a:lnSpc>
                <a:spcPct val="115000"/>
              </a:lnSpc>
              <a:buNone/>
            </a:pPr>
            <a:r>
              <a:rPr lang="en-US" sz="1200" dirty="0">
                <a:solidFill>
                  <a:srgbClr val="E6ECF2"/>
                </a:solidFill>
                <a:latin typeface="Arial" pitchFamily="34" charset="0"/>
                <a:ea typeface="Arial" pitchFamily="34" charset="-122"/>
                <a:cs typeface="Arial" pitchFamily="34" charset="-120"/>
              </a:rPr>
              <a:t>One JSON record per request — timestamp, level, correlation ID, service, method, path, status, duration — to CloudWatch Logs.</a:t>
            </a:r>
            <a:endParaRPr lang="en-US" sz="1200" dirty="0"/>
          </a:p>
        </p:txBody>
      </p:sp>
      <p:sp>
        <p:nvSpPr>
          <p:cNvPr id="20" name="Shape 18"/>
          <p:cNvSpPr/>
          <p:nvPr/>
        </p:nvSpPr>
        <p:spPr>
          <a:xfrm>
            <a:off x="6199632" y="3931920"/>
            <a:ext cx="5257800" cy="2103120"/>
          </a:xfrm>
          <a:prstGeom prst="roundRect">
            <a:avLst>
              <a:gd name="adj" fmla="val 3478"/>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1" name="Shape 19"/>
          <p:cNvSpPr/>
          <p:nvPr/>
        </p:nvSpPr>
        <p:spPr>
          <a:xfrm>
            <a:off x="6199632" y="3931920"/>
            <a:ext cx="109728" cy="2103120"/>
          </a:xfrm>
          <a:prstGeom prst="rect">
            <a:avLst/>
          </a:prstGeom>
          <a:solidFill>
            <a:srgbClr val="4DA6FF"/>
          </a:solidFill>
          <a:ln/>
        </p:spPr>
      </p:sp>
      <p:sp>
        <p:nvSpPr>
          <p:cNvPr id="22" name="Text 20"/>
          <p:cNvSpPr/>
          <p:nvPr/>
        </p:nvSpPr>
        <p:spPr>
          <a:xfrm>
            <a:off x="6492240" y="4160520"/>
            <a:ext cx="4846320" cy="411480"/>
          </a:xfrm>
          <a:prstGeom prst="rect">
            <a:avLst/>
          </a:prstGeom>
          <a:noFill/>
          <a:ln/>
        </p:spPr>
        <p:txBody>
          <a:bodyPr wrap="square" lIns="0" tIns="0" rIns="0" bIns="0" rtlCol="0" anchor="ctr"/>
          <a:lstStyle/>
          <a:p>
            <a:pPr indent="0" marL="0">
              <a:buNone/>
            </a:pPr>
            <a:r>
              <a:rPr lang="en-US" sz="1550" b="1" dirty="0">
                <a:solidFill>
                  <a:srgbClr val="4DA6FF"/>
                </a:solidFill>
                <a:latin typeface="Arial" pitchFamily="34" charset="0"/>
                <a:ea typeface="Arial" pitchFamily="34" charset="-122"/>
                <a:cs typeface="Arial" pitchFamily="34" charset="-120"/>
              </a:rPr>
              <a:t>Distributed tracing</a:t>
            </a:r>
            <a:endParaRPr lang="en-US" sz="1550" dirty="0"/>
          </a:p>
        </p:txBody>
      </p:sp>
      <p:sp>
        <p:nvSpPr>
          <p:cNvPr id="23" name="Text 21"/>
          <p:cNvSpPr/>
          <p:nvPr/>
        </p:nvSpPr>
        <p:spPr>
          <a:xfrm>
            <a:off x="6492240" y="4681728"/>
            <a:ext cx="4800600" cy="1234440"/>
          </a:xfrm>
          <a:prstGeom prst="rect">
            <a:avLst/>
          </a:prstGeom>
          <a:noFill/>
          <a:ln/>
        </p:spPr>
        <p:txBody>
          <a:bodyPr wrap="square" lIns="0" tIns="0" rIns="0" bIns="0" rtlCol="0" anchor="ctr"/>
          <a:lstStyle/>
          <a:p>
            <a:pPr indent="0" marL="0">
              <a:lnSpc>
                <a:spcPct val="115000"/>
              </a:lnSpc>
              <a:buNone/>
            </a:pPr>
            <a:r>
              <a:rPr lang="en-US" sz="1200" dirty="0">
                <a:solidFill>
                  <a:srgbClr val="E6ECF2"/>
                </a:solidFill>
                <a:latin typeface="Arial" pitchFamily="34" charset="0"/>
                <a:ea typeface="Arial" pitchFamily="34" charset="-122"/>
                <a:cs typeface="Arial" pitchFamily="34" charset="-120"/>
              </a:rPr>
              <a:t>OpenTelemetry auto-instruments HTTP, Kafka, PostgreSQL &amp; AWS SDK; spans exported over OTLP, linked to logs by correlation ID.</a:t>
            </a:r>
            <a:endParaRPr lang="en-US" sz="1200" dirty="0"/>
          </a:p>
        </p:txBody>
      </p:sp>
      <p:sp>
        <p:nvSpPr>
          <p:cNvPr id="24" name="Text 22"/>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25" name="Text 23"/>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457200" y="502920"/>
            <a:ext cx="118872" cy="566928"/>
          </a:xfrm>
          <a:prstGeom prst="rect">
            <a:avLst/>
          </a:prstGeom>
          <a:solidFill>
            <a:srgbClr val="FF9900"/>
          </a:solidFill>
          <a:ln/>
        </p:spPr>
      </p:sp>
      <p:sp>
        <p:nvSpPr>
          <p:cNvPr id="3" name="Text 1"/>
          <p:cNvSpPr/>
          <p:nvPr/>
        </p:nvSpPr>
        <p:spPr>
          <a:xfrm>
            <a:off x="713232" y="457200"/>
            <a:ext cx="8229600" cy="274320"/>
          </a:xfrm>
          <a:prstGeom prst="rect">
            <a:avLst/>
          </a:prstGeom>
          <a:noFill/>
          <a:ln/>
        </p:spPr>
        <p:txBody>
          <a:bodyPr wrap="square" lIns="0" tIns="0" rIns="0" bIns="0" rtlCol="0" anchor="ctr"/>
          <a:lstStyle/>
          <a:p>
            <a:pPr indent="0" marL="0">
              <a:buNone/>
            </a:pPr>
            <a:r>
              <a:rPr lang="en-US" sz="1200" b="1" spc="200" kern="0" dirty="0">
                <a:solidFill>
                  <a:srgbClr val="FF9900"/>
                </a:solidFill>
                <a:latin typeface="Arial" pitchFamily="34" charset="0"/>
                <a:ea typeface="Arial" pitchFamily="34" charset="-122"/>
                <a:cs typeface="Arial" pitchFamily="34" charset="-120"/>
              </a:rPr>
              <a:t>REFLECTION</a:t>
            </a:r>
            <a:endParaRPr lang="en-US" sz="1200" dirty="0"/>
          </a:p>
        </p:txBody>
      </p:sp>
      <p:sp>
        <p:nvSpPr>
          <p:cNvPr id="4" name="Text 2"/>
          <p:cNvSpPr/>
          <p:nvPr/>
        </p:nvSpPr>
        <p:spPr>
          <a:xfrm>
            <a:off x="694944" y="713232"/>
            <a:ext cx="9326880"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Challenges, Limitations &amp; Future Work</a:t>
            </a:r>
            <a:endParaRPr lang="en-US" sz="2700" dirty="0"/>
          </a:p>
        </p:txBody>
      </p:sp>
      <p:sp>
        <p:nvSpPr>
          <p:cNvPr id="5" name="Shape 3"/>
          <p:cNvSpPr/>
          <p:nvPr/>
        </p:nvSpPr>
        <p:spPr>
          <a:xfrm>
            <a:off x="713232" y="1335024"/>
            <a:ext cx="11018520" cy="0"/>
          </a:xfrm>
          <a:prstGeom prst="line">
            <a:avLst/>
          </a:prstGeom>
          <a:noFill/>
          <a:ln w="12700">
            <a:solidFill>
              <a:srgbClr val="44586B"/>
            </a:solidFill>
            <a:prstDash val="solid"/>
          </a:ln>
        </p:spPr>
      </p:sp>
      <p:sp>
        <p:nvSpPr>
          <p:cNvPr id="6" name="Shape 4"/>
          <p:cNvSpPr/>
          <p:nvPr/>
        </p:nvSpPr>
        <p:spPr>
          <a:xfrm>
            <a:off x="713232" y="1645920"/>
            <a:ext cx="5349240" cy="4480560"/>
          </a:xfrm>
          <a:prstGeom prst="roundRect">
            <a:avLst>
              <a:gd name="adj" fmla="val 1633"/>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7" name="Text 5"/>
          <p:cNvSpPr/>
          <p:nvPr/>
        </p:nvSpPr>
        <p:spPr>
          <a:xfrm>
            <a:off x="914400" y="1801368"/>
            <a:ext cx="4937760" cy="365760"/>
          </a:xfrm>
          <a:prstGeom prst="rect">
            <a:avLst/>
          </a:prstGeom>
          <a:noFill/>
          <a:ln/>
        </p:spPr>
        <p:txBody>
          <a:bodyPr wrap="square" rtlCol="0" anchor="ctr"/>
          <a:lstStyle/>
          <a:p>
            <a:pPr indent="0" marL="0">
              <a:buNone/>
            </a:pPr>
            <a:r>
              <a:rPr lang="en-US" sz="1500" b="1" dirty="0">
                <a:solidFill>
                  <a:srgbClr val="FF9900"/>
                </a:solidFill>
                <a:latin typeface="Arial" pitchFamily="34" charset="0"/>
                <a:ea typeface="Arial" pitchFamily="34" charset="-122"/>
                <a:cs typeface="Arial" pitchFamily="34" charset="-120"/>
              </a:rPr>
              <a:t>Honest scope boundaries</a:t>
            </a:r>
            <a:endParaRPr lang="en-US" sz="1500" dirty="0"/>
          </a:p>
        </p:txBody>
      </p:sp>
      <p:sp>
        <p:nvSpPr>
          <p:cNvPr id="8" name="Shape 6"/>
          <p:cNvSpPr/>
          <p:nvPr/>
        </p:nvSpPr>
        <p:spPr>
          <a:xfrm>
            <a:off x="914400" y="2313432"/>
            <a:ext cx="91440" cy="685800"/>
          </a:xfrm>
          <a:prstGeom prst="rect">
            <a:avLst/>
          </a:prstGeom>
          <a:solidFill>
            <a:srgbClr val="FF9900"/>
          </a:solidFill>
          <a:ln/>
        </p:spPr>
      </p:sp>
      <p:sp>
        <p:nvSpPr>
          <p:cNvPr id="9" name="Text 7"/>
          <p:cNvSpPr/>
          <p:nvPr/>
        </p:nvSpPr>
        <p:spPr>
          <a:xfrm>
            <a:off x="1143000" y="2286000"/>
            <a:ext cx="475488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Edge authentication</a:t>
            </a:r>
            <a:endParaRPr lang="en-US" sz="1300" dirty="0"/>
          </a:p>
        </p:txBody>
      </p:sp>
      <p:sp>
        <p:nvSpPr>
          <p:cNvPr id="10" name="Text 8"/>
          <p:cNvSpPr/>
          <p:nvPr/>
        </p:nvSpPr>
        <p:spPr>
          <a:xfrm>
            <a:off x="1143000" y="2596896"/>
            <a:ext cx="4800600" cy="54864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Cognito JWT authorizer provisioned; runtime still uses identity-service tokens.</a:t>
            </a:r>
            <a:endParaRPr lang="en-US" sz="1100" dirty="0"/>
          </a:p>
        </p:txBody>
      </p:sp>
      <p:sp>
        <p:nvSpPr>
          <p:cNvPr id="11" name="Shape 9"/>
          <p:cNvSpPr/>
          <p:nvPr/>
        </p:nvSpPr>
        <p:spPr>
          <a:xfrm>
            <a:off x="914400" y="3246120"/>
            <a:ext cx="91440" cy="685800"/>
          </a:xfrm>
          <a:prstGeom prst="rect">
            <a:avLst/>
          </a:prstGeom>
          <a:solidFill>
            <a:srgbClr val="FF9900"/>
          </a:solidFill>
          <a:ln/>
        </p:spPr>
      </p:sp>
      <p:sp>
        <p:nvSpPr>
          <p:cNvPr id="12" name="Text 10"/>
          <p:cNvSpPr/>
          <p:nvPr/>
        </p:nvSpPr>
        <p:spPr>
          <a:xfrm>
            <a:off x="1143000" y="3218688"/>
            <a:ext cx="475488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WebSocket channel</a:t>
            </a:r>
            <a:endParaRPr lang="en-US" sz="1300" dirty="0"/>
          </a:p>
        </p:txBody>
      </p:sp>
      <p:sp>
        <p:nvSpPr>
          <p:cNvPr id="13" name="Text 11"/>
          <p:cNvSpPr/>
          <p:nvPr/>
        </p:nvSpPr>
        <p:spPr>
          <a:xfrm>
            <a:off x="1143000" y="3529584"/>
            <a:ext cx="4800600" cy="54864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API &amp; routes provisioned but not yet wired to live app flows.</a:t>
            </a:r>
            <a:endParaRPr lang="en-US" sz="1100" dirty="0"/>
          </a:p>
        </p:txBody>
      </p:sp>
      <p:sp>
        <p:nvSpPr>
          <p:cNvPr id="14" name="Shape 12"/>
          <p:cNvSpPr/>
          <p:nvPr/>
        </p:nvSpPr>
        <p:spPr>
          <a:xfrm>
            <a:off x="914400" y="4178808"/>
            <a:ext cx="91440" cy="685800"/>
          </a:xfrm>
          <a:prstGeom prst="rect">
            <a:avLst/>
          </a:prstGeom>
          <a:solidFill>
            <a:srgbClr val="FF9900"/>
          </a:solidFill>
          <a:ln/>
        </p:spPr>
      </p:sp>
      <p:sp>
        <p:nvSpPr>
          <p:cNvPr id="15" name="Text 13"/>
          <p:cNvSpPr/>
          <p:nvPr/>
        </p:nvSpPr>
        <p:spPr>
          <a:xfrm>
            <a:off x="1143000" y="4151376"/>
            <a:ext cx="475488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Multi-region</a:t>
            </a:r>
            <a:endParaRPr lang="en-US" sz="1300" dirty="0"/>
          </a:p>
        </p:txBody>
      </p:sp>
      <p:sp>
        <p:nvSpPr>
          <p:cNvPr id="16" name="Text 14"/>
          <p:cNvSpPr/>
          <p:nvPr/>
        </p:nvSpPr>
        <p:spPr>
          <a:xfrm>
            <a:off x="1143000" y="4462272"/>
            <a:ext cx="4800600" cy="54864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Terraform can recreate the estate, but it is not run active-active.</a:t>
            </a:r>
            <a:endParaRPr lang="en-US" sz="1100" dirty="0"/>
          </a:p>
        </p:txBody>
      </p:sp>
      <p:sp>
        <p:nvSpPr>
          <p:cNvPr id="17" name="Shape 15"/>
          <p:cNvSpPr/>
          <p:nvPr/>
        </p:nvSpPr>
        <p:spPr>
          <a:xfrm>
            <a:off x="914400" y="5111496"/>
            <a:ext cx="91440" cy="685800"/>
          </a:xfrm>
          <a:prstGeom prst="rect">
            <a:avLst/>
          </a:prstGeom>
          <a:solidFill>
            <a:srgbClr val="FF9900"/>
          </a:solidFill>
          <a:ln/>
        </p:spPr>
      </p:sp>
      <p:sp>
        <p:nvSpPr>
          <p:cNvPr id="18" name="Text 16"/>
          <p:cNvSpPr/>
          <p:nvPr/>
        </p:nvSpPr>
        <p:spPr>
          <a:xfrm>
            <a:off x="1143000" y="5084064"/>
            <a:ext cx="475488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External integrations</a:t>
            </a:r>
            <a:endParaRPr lang="en-US" sz="1300" dirty="0"/>
          </a:p>
        </p:txBody>
      </p:sp>
      <p:sp>
        <p:nvSpPr>
          <p:cNvPr id="19" name="Text 17"/>
          <p:cNvSpPr/>
          <p:nvPr/>
        </p:nvSpPr>
        <p:spPr>
          <a:xfrm>
            <a:off x="1143000" y="5394960"/>
            <a:ext cx="4800600" cy="548640"/>
          </a:xfrm>
          <a:prstGeom prst="rect">
            <a:avLst/>
          </a:prstGeom>
          <a:noFill/>
          <a:ln/>
        </p:spPr>
        <p:txBody>
          <a:bodyPr wrap="square" lIns="0" tIns="0" rIns="0" bIns="0" rtlCol="0" anchor="ctr"/>
          <a:lstStyle/>
          <a:p>
            <a:pPr indent="0" marL="0">
              <a:lnSpc>
                <a:spcPct val="100000"/>
              </a:lnSpc>
              <a:buNone/>
            </a:pPr>
            <a:r>
              <a:rPr lang="en-US" sz="1100" dirty="0">
                <a:solidFill>
                  <a:srgbClr val="9FB0C0"/>
                </a:solidFill>
                <a:latin typeface="Arial" pitchFamily="34" charset="0"/>
                <a:ea typeface="Arial" pitchFamily="34" charset="-122"/>
                <a:cs typeface="Arial" pitchFamily="34" charset="-120"/>
              </a:rPr>
              <a:t>No live airline distribution systems; native mobile client out of scope.</a:t>
            </a:r>
            <a:endParaRPr lang="en-US" sz="1100" dirty="0"/>
          </a:p>
        </p:txBody>
      </p:sp>
      <p:sp>
        <p:nvSpPr>
          <p:cNvPr id="20" name="Shape 18"/>
          <p:cNvSpPr/>
          <p:nvPr/>
        </p:nvSpPr>
        <p:spPr>
          <a:xfrm>
            <a:off x="6355080" y="1645920"/>
            <a:ext cx="5120640" cy="4480560"/>
          </a:xfrm>
          <a:prstGeom prst="roundRect">
            <a:avLst>
              <a:gd name="adj" fmla="val 1633"/>
            </a:avLst>
          </a:prstGeom>
          <a:solidFill>
            <a:srgbClr val="37495C"/>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6565392" y="1801368"/>
            <a:ext cx="4572000" cy="365760"/>
          </a:xfrm>
          <a:prstGeom prst="rect">
            <a:avLst/>
          </a:prstGeom>
          <a:noFill/>
          <a:ln/>
        </p:spPr>
        <p:txBody>
          <a:bodyPr wrap="square" rtlCol="0" anchor="ctr"/>
          <a:lstStyle/>
          <a:p>
            <a:pPr indent="0" marL="0">
              <a:buNone/>
            </a:pPr>
            <a:r>
              <a:rPr lang="en-US" sz="1500" b="1" dirty="0">
                <a:solidFill>
                  <a:srgbClr val="27D196"/>
                </a:solidFill>
                <a:latin typeface="Arial" pitchFamily="34" charset="0"/>
                <a:ea typeface="Arial" pitchFamily="34" charset="-122"/>
                <a:cs typeface="Arial" pitchFamily="34" charset="-120"/>
              </a:rPr>
              <a:t>Roadmap</a:t>
            </a:r>
            <a:endParaRPr lang="en-US" sz="1500" dirty="0"/>
          </a:p>
        </p:txBody>
      </p:sp>
      <p:sp>
        <p:nvSpPr>
          <p:cNvPr id="22" name="Text 20"/>
          <p:cNvSpPr/>
          <p:nvPr/>
        </p:nvSpPr>
        <p:spPr>
          <a:xfrm>
            <a:off x="6565392" y="2286000"/>
            <a:ext cx="4800600" cy="3657600"/>
          </a:xfrm>
          <a:prstGeom prst="rect">
            <a:avLst/>
          </a:prstGeom>
          <a:noFill/>
          <a:ln/>
        </p:spPr>
        <p:txBody>
          <a:bodyPr wrap="square" rtlCol="0" anchor="ctr"/>
          <a:lstStyle/>
          <a:p>
            <a:pPr marL="342900" indent="-342900">
              <a:lnSpc>
                <a:spcPct val="125000"/>
              </a:lnSpc>
              <a:buSzPct val="100000"/>
              <a:buChar char="•"/>
            </a:pPr>
            <a:r>
              <a:rPr lang="en-US" sz="1200" dirty="0">
                <a:solidFill>
                  <a:srgbClr val="E6ECF2"/>
                </a:solidFill>
                <a:latin typeface="Arial" pitchFamily="34" charset="0"/>
                <a:ea typeface="Arial" pitchFamily="34" charset="-122"/>
                <a:cs typeface="Arial" pitchFamily="34" charset="-120"/>
              </a:rPr>
              <a:t>Complete edge auth: route all traffic through Cognito at the gateway</a:t>
            </a:r>
            <a:endParaRPr lang="en-US" sz="1200" dirty="0"/>
          </a:p>
          <a:p>
            <a:pPr marL="342900" indent="-342900">
              <a:lnSpc>
                <a:spcPct val="125000"/>
              </a:lnSpc>
              <a:buSzPct val="100000"/>
              <a:buChar char="•"/>
            </a:pPr>
            <a:r>
              <a:rPr lang="en-US" sz="1200" dirty="0">
                <a:solidFill>
                  <a:srgbClr val="E6ECF2"/>
                </a:solidFill>
                <a:latin typeface="Arial" pitchFamily="34" charset="0"/>
                <a:ea typeface="Arial" pitchFamily="34" charset="-122"/>
                <a:cs typeface="Arial" pitchFamily="34" charset="-120"/>
              </a:rPr>
              <a:t>Wire the WebSocket gateway into seat / baggage / booking pushes</a:t>
            </a:r>
            <a:endParaRPr lang="en-US" sz="1200" dirty="0"/>
          </a:p>
          <a:p>
            <a:pPr marL="342900" indent="-342900">
              <a:lnSpc>
                <a:spcPct val="125000"/>
              </a:lnSpc>
              <a:buSzPct val="100000"/>
              <a:buChar char="•"/>
            </a:pPr>
            <a:r>
              <a:rPr lang="en-US" sz="1200" dirty="0">
                <a:solidFill>
                  <a:srgbClr val="E6ECF2"/>
                </a:solidFill>
                <a:latin typeface="Arial" pitchFamily="34" charset="0"/>
                <a:ea typeface="Arial" pitchFamily="34" charset="-122"/>
                <a:cs typeface="Arial" pitchFamily="34" charset="-120"/>
              </a:rPr>
              <a:t>Run active-active multi-region with cross-region data replication</a:t>
            </a:r>
            <a:endParaRPr lang="en-US" sz="1200" dirty="0"/>
          </a:p>
          <a:p>
            <a:pPr marL="342900" indent="-342900">
              <a:lnSpc>
                <a:spcPct val="125000"/>
              </a:lnSpc>
              <a:buSzPct val="100000"/>
              <a:buChar char="•"/>
            </a:pPr>
            <a:r>
              <a:rPr lang="en-US" sz="1200" dirty="0">
                <a:solidFill>
                  <a:srgbClr val="E6ECF2"/>
                </a:solidFill>
                <a:latin typeface="Arial" pitchFamily="34" charset="0"/>
                <a:ea typeface="Arial" pitchFamily="34" charset="-122"/>
                <a:cs typeface="Arial" pitchFamily="34" charset="-120"/>
              </a:rPr>
              <a:t>Add a native mobile client for passengers</a:t>
            </a:r>
            <a:endParaRPr lang="en-US" sz="1200" dirty="0"/>
          </a:p>
          <a:p>
            <a:pPr marL="342900" indent="-342900">
              <a:lnSpc>
                <a:spcPct val="125000"/>
              </a:lnSpc>
              <a:buSzPct val="100000"/>
              <a:buChar char="•"/>
            </a:pPr>
            <a:r>
              <a:rPr lang="en-US" sz="1200" dirty="0">
                <a:solidFill>
                  <a:srgbClr val="E6ECF2"/>
                </a:solidFill>
                <a:latin typeface="Arial" pitchFamily="34" charset="0"/>
                <a:ea typeface="Arial" pitchFamily="34" charset="-122"/>
                <a:cs typeface="Arial" pitchFamily="34" charset="-120"/>
              </a:rPr>
              <a:t>Integrate real airline distribution / GDS systems</a:t>
            </a:r>
            <a:endParaRPr lang="en-US" sz="1200" dirty="0"/>
          </a:p>
          <a:p>
            <a:pPr marL="342900" indent="-342900">
              <a:lnSpc>
                <a:spcPct val="125000"/>
              </a:lnSpc>
              <a:buSzPct val="100000"/>
              <a:buChar char="•"/>
            </a:pPr>
            <a:r>
              <a:rPr lang="en-US" sz="1200" dirty="0">
                <a:solidFill>
                  <a:srgbClr val="E6ECF2"/>
                </a:solidFill>
                <a:latin typeface="Arial" pitchFamily="34" charset="0"/>
                <a:ea typeface="Arial" pitchFamily="34" charset="-122"/>
                <a:cs typeface="Arial" pitchFamily="34" charset="-120"/>
              </a:rPr>
              <a:t>Extend the saga (e.g. loyalty points) by subscribing to booking.confirmed</a:t>
            </a:r>
            <a:endParaRPr lang="en-US" sz="1200" dirty="0"/>
          </a:p>
        </p:txBody>
      </p:sp>
      <p:sp>
        <p:nvSpPr>
          <p:cNvPr id="23" name="Text 21"/>
          <p:cNvSpPr/>
          <p:nvPr/>
        </p:nvSpPr>
        <p:spPr>
          <a:xfrm>
            <a:off x="457200" y="6455664"/>
            <a:ext cx="7315200" cy="274320"/>
          </a:xfrm>
          <a:prstGeom prst="rect">
            <a:avLst/>
          </a:prstGeom>
          <a:noFill/>
          <a:ln/>
        </p:spPr>
        <p:txBody>
          <a:bodyPr wrap="square" lIns="0" tIns="0" rIns="0" bIns="0" rtlCol="0" anchor="ctr"/>
          <a:lstStyle/>
          <a:p>
            <a:pPr indent="0" marL="0">
              <a:buNone/>
            </a:pPr>
            <a:r>
              <a:rPr lang="en-US" sz="900" dirty="0">
                <a:solidFill>
                  <a:srgbClr val="9FB0C0"/>
                </a:solidFill>
                <a:latin typeface="Arial" pitchFamily="34" charset="0"/>
                <a:ea typeface="Arial" pitchFamily="34" charset="-122"/>
                <a:cs typeface="Arial" pitchFamily="34" charset="-120"/>
              </a:rPr>
              <a:t>AeroLink  ·  Enterprise Cloud &amp; Distributed Web Apps</a:t>
            </a:r>
            <a:endParaRPr lang="en-US" sz="900" dirty="0"/>
          </a:p>
        </p:txBody>
      </p:sp>
      <p:sp>
        <p:nvSpPr>
          <p:cNvPr id="24" name="Text 22"/>
          <p:cNvSpPr/>
          <p:nvPr/>
        </p:nvSpPr>
        <p:spPr>
          <a:xfrm>
            <a:off x="11338560" y="6455664"/>
            <a:ext cx="457200" cy="274320"/>
          </a:xfrm>
          <a:prstGeom prst="rect">
            <a:avLst/>
          </a:prstGeom>
          <a:noFill/>
          <a:ln/>
        </p:spPr>
        <p:txBody>
          <a:bodyPr wrap="square" lIns="0" tIns="0" rIns="0" bIns="0" rtlCol="0" anchor="ctr"/>
          <a:lstStyle/>
          <a:p>
            <a:pPr algn="r" indent="0" marL="0">
              <a:buNone/>
            </a:pPr>
            <a:r>
              <a:rPr lang="en-US" sz="900" dirty="0">
                <a:solidFill>
                  <a:srgbClr val="9FB0C0"/>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9900"/>
          </a:solidFill>
          <a:ln/>
        </p:spPr>
      </p:sp>
      <p:sp>
        <p:nvSpPr>
          <p:cNvPr id="3" name="Shape 1"/>
          <p:cNvSpPr/>
          <p:nvPr/>
        </p:nvSpPr>
        <p:spPr>
          <a:xfrm>
            <a:off x="-2103120" y="3291840"/>
            <a:ext cx="5669280" cy="5669280"/>
          </a:xfrm>
          <a:prstGeom prst="ellipse">
            <a:avLst/>
          </a:prstGeom>
          <a:solidFill>
            <a:srgbClr val="37495C">
              <a:alpha val="45000"/>
            </a:srgbClr>
          </a:solidFill>
          <a:ln/>
        </p:spPr>
      </p:sp>
      <p:sp>
        <p:nvSpPr>
          <p:cNvPr id="4" name="Text 2"/>
          <p:cNvSpPr/>
          <p:nvPr/>
        </p:nvSpPr>
        <p:spPr>
          <a:xfrm>
            <a:off x="777240" y="914400"/>
            <a:ext cx="10058400" cy="365760"/>
          </a:xfrm>
          <a:prstGeom prst="rect">
            <a:avLst/>
          </a:prstGeom>
          <a:noFill/>
          <a:ln/>
        </p:spPr>
        <p:txBody>
          <a:bodyPr wrap="square" rtlCol="0" anchor="ctr"/>
          <a:lstStyle/>
          <a:p>
            <a:pPr indent="0" marL="0">
              <a:buNone/>
            </a:pPr>
            <a:r>
              <a:rPr lang="en-US" sz="1300" b="1" spc="200" kern="0" dirty="0">
                <a:solidFill>
                  <a:srgbClr val="FF9900"/>
                </a:solidFill>
                <a:latin typeface="Arial" pitchFamily="34" charset="0"/>
                <a:ea typeface="Arial" pitchFamily="34" charset="-122"/>
                <a:cs typeface="Arial" pitchFamily="34" charset="-120"/>
              </a:rPr>
              <a:t>IN SUMMARY</a:t>
            </a:r>
            <a:endParaRPr lang="en-US" sz="1300" dirty="0"/>
          </a:p>
        </p:txBody>
      </p:sp>
      <p:sp>
        <p:nvSpPr>
          <p:cNvPr id="5" name="Text 3"/>
          <p:cNvSpPr/>
          <p:nvPr/>
        </p:nvSpPr>
        <p:spPr>
          <a:xfrm>
            <a:off x="749808" y="1371600"/>
            <a:ext cx="10515600" cy="1371600"/>
          </a:xfrm>
          <a:prstGeom prst="rect">
            <a:avLst/>
          </a:prstGeom>
          <a:noFill/>
          <a:ln/>
        </p:spPr>
        <p:txBody>
          <a:bodyPr wrap="square" rtlCol="0" anchor="ctr"/>
          <a:lstStyle/>
          <a:p>
            <a:pPr indent="0" marL="0">
              <a:lnSpc>
                <a:spcPct val="100000"/>
              </a:lnSpc>
              <a:buNone/>
            </a:pPr>
            <a:r>
              <a:rPr lang="en-US" sz="3800" b="1" dirty="0">
                <a:solidFill>
                  <a:srgbClr val="FFFFFF"/>
                </a:solidFill>
                <a:latin typeface="Arial" pitchFamily="34" charset="0"/>
                <a:ea typeface="Arial" pitchFamily="34" charset="-122"/>
                <a:cs typeface="Arial" pitchFamily="34" charset="-120"/>
              </a:rPr>
              <a:t>A resilient, scalable foundation</a:t>
            </a:r>
            <a:endParaRPr lang="en-US" sz="3800" dirty="0"/>
          </a:p>
          <a:p>
            <a:pPr indent="0" marL="0">
              <a:lnSpc>
                <a:spcPct val="100000"/>
              </a:lnSpc>
              <a:buNone/>
            </a:pPr>
            <a:r>
              <a:rPr lang="en-US" sz="3800" b="1" dirty="0">
                <a:solidFill>
                  <a:srgbClr val="FFFFFF"/>
                </a:solidFill>
                <a:latin typeface="Arial" pitchFamily="34" charset="0"/>
                <a:ea typeface="Arial" pitchFamily="34" charset="-122"/>
                <a:cs typeface="Arial" pitchFamily="34" charset="-120"/>
              </a:rPr>
              <a:t>for airline operations</a:t>
            </a:r>
            <a:endParaRPr lang="en-US" sz="3800" dirty="0"/>
          </a:p>
        </p:txBody>
      </p:sp>
      <p:sp>
        <p:nvSpPr>
          <p:cNvPr id="6" name="Shape 4"/>
          <p:cNvSpPr/>
          <p:nvPr/>
        </p:nvSpPr>
        <p:spPr>
          <a:xfrm>
            <a:off x="749808" y="3063240"/>
            <a:ext cx="2606040" cy="1783080"/>
          </a:xfrm>
          <a:prstGeom prst="roundRect">
            <a:avLst>
              <a:gd name="adj" fmla="val 4103"/>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7" name="Shape 5"/>
          <p:cNvSpPr/>
          <p:nvPr/>
        </p:nvSpPr>
        <p:spPr>
          <a:xfrm>
            <a:off x="749808" y="3063240"/>
            <a:ext cx="2606040" cy="91440"/>
          </a:xfrm>
          <a:prstGeom prst="rect">
            <a:avLst/>
          </a:prstGeom>
          <a:solidFill>
            <a:srgbClr val="FF9900"/>
          </a:solidFill>
          <a:ln/>
        </p:spPr>
      </p:sp>
      <p:sp>
        <p:nvSpPr>
          <p:cNvPr id="8" name="Text 6"/>
          <p:cNvSpPr/>
          <p:nvPr/>
        </p:nvSpPr>
        <p:spPr>
          <a:xfrm>
            <a:off x="932688" y="3246120"/>
            <a:ext cx="2286000" cy="411480"/>
          </a:xfrm>
          <a:prstGeom prst="rect">
            <a:avLst/>
          </a:prstGeom>
          <a:noFill/>
          <a:ln/>
        </p:spPr>
        <p:txBody>
          <a:bodyPr wrap="square" lIns="0" tIns="0" rIns="0" bIns="0" rtlCol="0" anchor="ctr"/>
          <a:lstStyle/>
          <a:p>
            <a:pPr indent="0" marL="0">
              <a:buNone/>
            </a:pPr>
            <a:r>
              <a:rPr lang="en-US" sz="1500" b="1" dirty="0">
                <a:solidFill>
                  <a:srgbClr val="FF9900"/>
                </a:solidFill>
                <a:latin typeface="Arial" pitchFamily="34" charset="0"/>
                <a:ea typeface="Arial" pitchFamily="34" charset="-122"/>
                <a:cs typeface="Arial" pitchFamily="34" charset="-120"/>
              </a:rPr>
              <a:t>Architecture</a:t>
            </a:r>
            <a:endParaRPr lang="en-US" sz="1500" dirty="0"/>
          </a:p>
        </p:txBody>
      </p:sp>
      <p:sp>
        <p:nvSpPr>
          <p:cNvPr id="9" name="Text 7"/>
          <p:cNvSpPr/>
          <p:nvPr/>
        </p:nvSpPr>
        <p:spPr>
          <a:xfrm>
            <a:off x="932688" y="3703320"/>
            <a:ext cx="2286000" cy="1051560"/>
          </a:xfrm>
          <a:prstGeom prst="rect">
            <a:avLst/>
          </a:prstGeom>
          <a:noFill/>
          <a:ln/>
        </p:spPr>
        <p:txBody>
          <a:bodyPr wrap="square" lIns="0" tIns="0" rIns="0" bIns="0" rtlCol="0" anchor="ctr"/>
          <a:lstStyle/>
          <a:p>
            <a:pPr indent="0" marL="0">
              <a:lnSpc>
                <a:spcPct val="110000"/>
              </a:lnSpc>
              <a:buNone/>
            </a:pPr>
            <a:r>
              <a:rPr lang="en-US" sz="1100" dirty="0">
                <a:solidFill>
                  <a:srgbClr val="9FB0C0"/>
                </a:solidFill>
                <a:latin typeface="Arial" pitchFamily="34" charset="0"/>
                <a:ea typeface="Arial" pitchFamily="34" charset="-122"/>
                <a:cs typeface="Arial" pitchFamily="34" charset="-120"/>
              </a:rPr>
              <a:t>Five-layer, cloud-native, multi-AZ design on AWS EKS</a:t>
            </a:r>
            <a:endParaRPr lang="en-US" sz="1100" dirty="0"/>
          </a:p>
        </p:txBody>
      </p:sp>
      <p:sp>
        <p:nvSpPr>
          <p:cNvPr id="10" name="Shape 8"/>
          <p:cNvSpPr/>
          <p:nvPr/>
        </p:nvSpPr>
        <p:spPr>
          <a:xfrm>
            <a:off x="3511296" y="3063240"/>
            <a:ext cx="2606040" cy="1783080"/>
          </a:xfrm>
          <a:prstGeom prst="roundRect">
            <a:avLst>
              <a:gd name="adj" fmla="val 4103"/>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1" name="Shape 9"/>
          <p:cNvSpPr/>
          <p:nvPr/>
        </p:nvSpPr>
        <p:spPr>
          <a:xfrm>
            <a:off x="3511296" y="3063240"/>
            <a:ext cx="2606040" cy="91440"/>
          </a:xfrm>
          <a:prstGeom prst="rect">
            <a:avLst/>
          </a:prstGeom>
          <a:solidFill>
            <a:srgbClr val="00A1C9"/>
          </a:solidFill>
          <a:ln/>
        </p:spPr>
      </p:sp>
      <p:sp>
        <p:nvSpPr>
          <p:cNvPr id="12" name="Text 10"/>
          <p:cNvSpPr/>
          <p:nvPr/>
        </p:nvSpPr>
        <p:spPr>
          <a:xfrm>
            <a:off x="3694176" y="3246120"/>
            <a:ext cx="2286000" cy="411480"/>
          </a:xfrm>
          <a:prstGeom prst="rect">
            <a:avLst/>
          </a:prstGeom>
          <a:noFill/>
          <a:ln/>
        </p:spPr>
        <p:txBody>
          <a:bodyPr wrap="square" lIns="0" tIns="0" rIns="0" bIns="0" rtlCol="0" anchor="ctr"/>
          <a:lstStyle/>
          <a:p>
            <a:pPr indent="0" marL="0">
              <a:buNone/>
            </a:pPr>
            <a:r>
              <a:rPr lang="en-US" sz="1500" b="1" dirty="0">
                <a:solidFill>
                  <a:srgbClr val="00A1C9"/>
                </a:solidFill>
                <a:latin typeface="Arial" pitchFamily="34" charset="0"/>
                <a:ea typeface="Arial" pitchFamily="34" charset="-122"/>
                <a:cs typeface="Arial" pitchFamily="34" charset="-120"/>
              </a:rPr>
              <a:t>Implementation</a:t>
            </a:r>
            <a:endParaRPr lang="en-US" sz="1500" dirty="0"/>
          </a:p>
        </p:txBody>
      </p:sp>
      <p:sp>
        <p:nvSpPr>
          <p:cNvPr id="13" name="Text 11"/>
          <p:cNvSpPr/>
          <p:nvPr/>
        </p:nvSpPr>
        <p:spPr>
          <a:xfrm>
            <a:off x="3694176" y="3703320"/>
            <a:ext cx="2286000" cy="1051560"/>
          </a:xfrm>
          <a:prstGeom prst="rect">
            <a:avLst/>
          </a:prstGeom>
          <a:noFill/>
          <a:ln/>
        </p:spPr>
        <p:txBody>
          <a:bodyPr wrap="square" lIns="0" tIns="0" rIns="0" bIns="0" rtlCol="0" anchor="ctr"/>
          <a:lstStyle/>
          <a:p>
            <a:pPr indent="0" marL="0">
              <a:lnSpc>
                <a:spcPct val="110000"/>
              </a:lnSpc>
              <a:buNone/>
            </a:pPr>
            <a:r>
              <a:rPr lang="en-US" sz="1100" dirty="0">
                <a:solidFill>
                  <a:srgbClr val="9FB0C0"/>
                </a:solidFill>
                <a:latin typeface="Arial" pitchFamily="34" charset="0"/>
                <a:ea typeface="Arial" pitchFamily="34" charset="-122"/>
                <a:cs typeface="Arial" pitchFamily="34" charset="-120"/>
              </a:rPr>
              <a:t>7 services + Lambda, event-driven, secure, real-time, resilient</a:t>
            </a:r>
            <a:endParaRPr lang="en-US" sz="1100" dirty="0"/>
          </a:p>
        </p:txBody>
      </p:sp>
      <p:sp>
        <p:nvSpPr>
          <p:cNvPr id="14" name="Shape 12"/>
          <p:cNvSpPr/>
          <p:nvPr/>
        </p:nvSpPr>
        <p:spPr>
          <a:xfrm>
            <a:off x="6272784" y="3063240"/>
            <a:ext cx="2606040" cy="1783080"/>
          </a:xfrm>
          <a:prstGeom prst="roundRect">
            <a:avLst>
              <a:gd name="adj" fmla="val 4103"/>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5" name="Shape 13"/>
          <p:cNvSpPr/>
          <p:nvPr/>
        </p:nvSpPr>
        <p:spPr>
          <a:xfrm>
            <a:off x="6272784" y="3063240"/>
            <a:ext cx="2606040" cy="91440"/>
          </a:xfrm>
          <a:prstGeom prst="rect">
            <a:avLst/>
          </a:prstGeom>
          <a:solidFill>
            <a:srgbClr val="27D196"/>
          </a:solidFill>
          <a:ln/>
        </p:spPr>
      </p:sp>
      <p:sp>
        <p:nvSpPr>
          <p:cNvPr id="16" name="Text 14"/>
          <p:cNvSpPr/>
          <p:nvPr/>
        </p:nvSpPr>
        <p:spPr>
          <a:xfrm>
            <a:off x="6455664" y="3246120"/>
            <a:ext cx="2286000" cy="411480"/>
          </a:xfrm>
          <a:prstGeom prst="rect">
            <a:avLst/>
          </a:prstGeom>
          <a:noFill/>
          <a:ln/>
        </p:spPr>
        <p:txBody>
          <a:bodyPr wrap="square" lIns="0" tIns="0" rIns="0" bIns="0" rtlCol="0" anchor="ctr"/>
          <a:lstStyle/>
          <a:p>
            <a:pPr indent="0" marL="0">
              <a:buNone/>
            </a:pPr>
            <a:r>
              <a:rPr lang="en-US" sz="1500" b="1" dirty="0">
                <a:solidFill>
                  <a:srgbClr val="27D196"/>
                </a:solidFill>
                <a:latin typeface="Arial" pitchFamily="34" charset="0"/>
                <a:ea typeface="Arial" pitchFamily="34" charset="-122"/>
                <a:cs typeface="Arial" pitchFamily="34" charset="-120"/>
              </a:rPr>
              <a:t>Testing</a:t>
            </a:r>
            <a:endParaRPr lang="en-US" sz="1500" dirty="0"/>
          </a:p>
        </p:txBody>
      </p:sp>
      <p:sp>
        <p:nvSpPr>
          <p:cNvPr id="17" name="Text 15"/>
          <p:cNvSpPr/>
          <p:nvPr/>
        </p:nvSpPr>
        <p:spPr>
          <a:xfrm>
            <a:off x="6455664" y="3703320"/>
            <a:ext cx="2286000" cy="1051560"/>
          </a:xfrm>
          <a:prstGeom prst="rect">
            <a:avLst/>
          </a:prstGeom>
          <a:noFill/>
          <a:ln/>
        </p:spPr>
        <p:txBody>
          <a:bodyPr wrap="square" lIns="0" tIns="0" rIns="0" bIns="0" rtlCol="0" anchor="ctr"/>
          <a:lstStyle/>
          <a:p>
            <a:pPr indent="0" marL="0">
              <a:lnSpc>
                <a:spcPct val="110000"/>
              </a:lnSpc>
              <a:buNone/>
            </a:pPr>
            <a:r>
              <a:rPr lang="en-US" sz="1100" dirty="0">
                <a:solidFill>
                  <a:srgbClr val="9FB0C0"/>
                </a:solidFill>
                <a:latin typeface="Arial" pitchFamily="34" charset="0"/>
                <a:ea typeface="Arial" pitchFamily="34" charset="-122"/>
                <a:cs typeface="Arial" pitchFamily="34" charset="-120"/>
              </a:rPr>
              <a:t>Unit, integration, API &amp; k6 performance — contract proven</a:t>
            </a:r>
            <a:endParaRPr lang="en-US" sz="1100" dirty="0"/>
          </a:p>
        </p:txBody>
      </p:sp>
      <p:sp>
        <p:nvSpPr>
          <p:cNvPr id="18" name="Shape 16"/>
          <p:cNvSpPr/>
          <p:nvPr/>
        </p:nvSpPr>
        <p:spPr>
          <a:xfrm>
            <a:off x="9034272" y="3063240"/>
            <a:ext cx="2606040" cy="1783080"/>
          </a:xfrm>
          <a:prstGeom prst="roundRect">
            <a:avLst>
              <a:gd name="adj" fmla="val 4103"/>
            </a:avLst>
          </a:prstGeom>
          <a:solidFill>
            <a:srgbClr val="2E3F50"/>
          </a:solidFill>
          <a:ln w="9525">
            <a:solidFill>
              <a:srgbClr val="44586B"/>
            </a:solidFill>
            <a:prstDash val="solid"/>
          </a:ln>
          <a:effectLst>
            <a:outerShdw sx="100000" sy="100000" kx="0" ky="0" algn="bl" rotWithShape="0" blurRad="88900" dist="38100" dir="8100000">
              <a:srgbClr val="000000">
                <a:alpha val="28000"/>
              </a:srgbClr>
            </a:outerShdw>
          </a:effectLst>
        </p:spPr>
      </p:sp>
      <p:sp>
        <p:nvSpPr>
          <p:cNvPr id="19" name="Shape 17"/>
          <p:cNvSpPr/>
          <p:nvPr/>
        </p:nvSpPr>
        <p:spPr>
          <a:xfrm>
            <a:off x="9034272" y="3063240"/>
            <a:ext cx="2606040" cy="91440"/>
          </a:xfrm>
          <a:prstGeom prst="rect">
            <a:avLst/>
          </a:prstGeom>
          <a:solidFill>
            <a:srgbClr val="4DA6FF"/>
          </a:solidFill>
          <a:ln/>
        </p:spPr>
      </p:sp>
      <p:sp>
        <p:nvSpPr>
          <p:cNvPr id="20" name="Text 18"/>
          <p:cNvSpPr/>
          <p:nvPr/>
        </p:nvSpPr>
        <p:spPr>
          <a:xfrm>
            <a:off x="9217152" y="3246120"/>
            <a:ext cx="2286000" cy="411480"/>
          </a:xfrm>
          <a:prstGeom prst="rect">
            <a:avLst/>
          </a:prstGeom>
          <a:noFill/>
          <a:ln/>
        </p:spPr>
        <p:txBody>
          <a:bodyPr wrap="square" lIns="0" tIns="0" rIns="0" bIns="0" rtlCol="0" anchor="ctr"/>
          <a:lstStyle/>
          <a:p>
            <a:pPr indent="0" marL="0">
              <a:buNone/>
            </a:pPr>
            <a:r>
              <a:rPr lang="en-US" sz="1500" b="1" dirty="0">
                <a:solidFill>
                  <a:srgbClr val="4DA6FF"/>
                </a:solidFill>
                <a:latin typeface="Arial" pitchFamily="34" charset="0"/>
                <a:ea typeface="Arial" pitchFamily="34" charset="-122"/>
                <a:cs typeface="Arial" pitchFamily="34" charset="-120"/>
              </a:rPr>
              <a:t>Engineering</a:t>
            </a:r>
            <a:endParaRPr lang="en-US" sz="1500" dirty="0"/>
          </a:p>
        </p:txBody>
      </p:sp>
      <p:sp>
        <p:nvSpPr>
          <p:cNvPr id="21" name="Text 19"/>
          <p:cNvSpPr/>
          <p:nvPr/>
        </p:nvSpPr>
        <p:spPr>
          <a:xfrm>
            <a:off x="9217152" y="3703320"/>
            <a:ext cx="2286000" cy="1051560"/>
          </a:xfrm>
          <a:prstGeom prst="rect">
            <a:avLst/>
          </a:prstGeom>
          <a:noFill/>
          <a:ln/>
        </p:spPr>
        <p:txBody>
          <a:bodyPr wrap="square" lIns="0" tIns="0" rIns="0" bIns="0" rtlCol="0" anchor="ctr"/>
          <a:lstStyle/>
          <a:p>
            <a:pPr indent="0" marL="0">
              <a:lnSpc>
                <a:spcPct val="110000"/>
              </a:lnSpc>
              <a:buNone/>
            </a:pPr>
            <a:r>
              <a:rPr lang="en-US" sz="1100" dirty="0">
                <a:solidFill>
                  <a:srgbClr val="9FB0C0"/>
                </a:solidFill>
                <a:latin typeface="Arial" pitchFamily="34" charset="0"/>
                <a:ea typeface="Arial" pitchFamily="34" charset="-122"/>
                <a:cs typeface="Arial" pitchFamily="34" charset="-120"/>
              </a:rPr>
              <a:t>Combines cloud-native tech with distributed-systems principles</a:t>
            </a:r>
            <a:endParaRPr lang="en-US" sz="1100" dirty="0"/>
          </a:p>
        </p:txBody>
      </p:sp>
      <p:sp>
        <p:nvSpPr>
          <p:cNvPr id="22" name="Shape 20"/>
          <p:cNvSpPr/>
          <p:nvPr/>
        </p:nvSpPr>
        <p:spPr>
          <a:xfrm>
            <a:off x="777240" y="5212080"/>
            <a:ext cx="10607040" cy="0"/>
          </a:xfrm>
          <a:prstGeom prst="line">
            <a:avLst/>
          </a:prstGeom>
          <a:noFill/>
          <a:ln w="12700">
            <a:solidFill>
              <a:srgbClr val="44586B"/>
            </a:solidFill>
            <a:prstDash val="solid"/>
          </a:ln>
        </p:spPr>
      </p:sp>
      <p:sp>
        <p:nvSpPr>
          <p:cNvPr id="23" name="Text 21"/>
          <p:cNvSpPr/>
          <p:nvPr/>
        </p:nvSpPr>
        <p:spPr>
          <a:xfrm>
            <a:off x="777240" y="5440680"/>
            <a:ext cx="10607040" cy="1005840"/>
          </a:xfrm>
          <a:prstGeom prst="rect">
            <a:avLst/>
          </a:prstGeom>
          <a:noFill/>
          <a:ln/>
        </p:spPr>
        <p:txBody>
          <a:bodyPr wrap="square" rtlCol="0" anchor="ctr"/>
          <a:lstStyle/>
          <a:p>
            <a:pPr indent="0" marL="0">
              <a:lnSpc>
                <a:spcPct val="130000"/>
              </a:lnSpc>
              <a:buNone/>
            </a:pPr>
            <a:r>
              <a:rPr lang="en-US" sz="2000" b="1" dirty="0">
                <a:solidFill>
                  <a:srgbClr val="FFFFFF"/>
                </a:solidFill>
                <a:latin typeface="Arial" pitchFamily="34" charset="0"/>
                <a:ea typeface="Arial" pitchFamily="34" charset="-122"/>
                <a:cs typeface="Arial" pitchFamily="34" charset="-120"/>
              </a:rPr>
              <a:t>Thank you  —  Questions &amp; Viva</a:t>
            </a:r>
            <a:endParaRPr lang="en-US" sz="2000" dirty="0"/>
          </a:p>
          <a:p>
            <a:pPr indent="0" marL="0">
              <a:lnSpc>
                <a:spcPct val="130000"/>
              </a:lnSpc>
              <a:buNone/>
            </a:pPr>
            <a:r>
              <a:rPr lang="en-US" sz="1300" dirty="0">
                <a:solidFill>
                  <a:srgbClr val="9FB0C0"/>
                </a:solidFill>
                <a:latin typeface="Arial" pitchFamily="34" charset="0"/>
                <a:ea typeface="Arial" pitchFamily="34" charset="-122"/>
                <a:cs typeface="Arial" pitchFamily="34" charset="-120"/>
              </a:rPr>
              <a:t>Mohamed Hanaan Mohamed Munas  ·  CB011253  ·  COMP60010</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AeroLink — Cloud-Native Airline Platform</dc:title>
  <dc:subject>PptxGenJS Presentation</dc:subject>
  <dc:creator>Mohamed Hanaan Mohamed Munas</dc:creator>
  <cp:lastModifiedBy>Mohamed Hanaan Mohamed Munas</cp:lastModifiedBy>
  <cp:revision>1</cp:revision>
  <dcterms:created xsi:type="dcterms:W3CDTF">2026-06-22T18:39:30Z</dcterms:created>
  <dcterms:modified xsi:type="dcterms:W3CDTF">2026-06-22T18:39:30Z</dcterms:modified>
</cp:coreProperties>
</file>