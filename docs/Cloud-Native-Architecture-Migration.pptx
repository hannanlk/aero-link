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embeddedFontLst>
    <p:embeddedFont>
      <p:font typeface="Consolas" panose="020B0609020204030204" pitchFamily="49" charset="0"/>
      <p:regular r:id="rId13"/>
      <p:bold r:id="rId14"/>
      <p:italic r:id="rId15"/>
      <p:boldItalic r:id="rId16"/>
    </p:embeddedFont>
    <p:embeddedFont>
      <p:font typeface="Roboto" panose="02000000000000000000" pitchFamily="2" charset="0"/>
      <p:regular r:id="rId17"/>
      <p:bold r:id="rId18"/>
    </p:embeddedFont>
    <p:embeddedFont>
      <p:font typeface="Saira Medium"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5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4486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30303">
              <a:alpha val="7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30303">
              <a:alpha val="7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30303">
              <a:alpha val="7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30303">
              <a:alpha val="75000"/>
            </a:srgbClr>
          </a:solidFill>
          <a:ln/>
        </p:spPr>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6.svg"/><Relationship Id="rId5" Type="http://schemas.openxmlformats.org/officeDocument/2006/relationships/image" Target="../media/image15.svg"/><Relationship Id="rId4"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23.png"/><Relationship Id="rId7" Type="http://schemas.openxmlformats.org/officeDocument/2006/relationships/image" Target="../media/image27.sv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815902"/>
            <a:ext cx="4744323" cy="516731"/>
          </a:xfrm>
          <a:prstGeom prst="rect">
            <a:avLst/>
          </a:prstGeom>
          <a:noFill/>
          <a:ln/>
        </p:spPr>
        <p:txBody>
          <a:bodyPr wrap="none" lIns="0" tIns="0" rIns="0" bIns="0" rtlCol="0" anchor="t"/>
          <a:lstStyle/>
          <a:p>
            <a:pPr marL="0" indent="0" algn="l">
              <a:lnSpc>
                <a:spcPct val="104000"/>
              </a:lnSpc>
              <a:buNone/>
            </a:pPr>
            <a:r>
              <a:rPr lang="en-US" sz="3250" dirty="0">
                <a:solidFill>
                  <a:srgbClr val="FFFFFF"/>
                </a:solidFill>
                <a:latin typeface="Saira Medium" pitchFamily="34" charset="0"/>
                <a:ea typeface="Saira Medium" pitchFamily="34" charset="-122"/>
                <a:cs typeface="Saira Medium" pitchFamily="34" charset="-120"/>
              </a:rPr>
              <a:t>AeroLink Platform</a:t>
            </a:r>
            <a:endParaRPr lang="en-US" sz="3250" dirty="0"/>
          </a:p>
        </p:txBody>
      </p:sp>
      <p:sp>
        <p:nvSpPr>
          <p:cNvPr id="4" name="Text 1"/>
          <p:cNvSpPr/>
          <p:nvPr/>
        </p:nvSpPr>
        <p:spPr>
          <a:xfrm>
            <a:off x="661475" y="2580680"/>
            <a:ext cx="6296860" cy="1426369"/>
          </a:xfrm>
          <a:prstGeom prst="rect">
            <a:avLst/>
          </a:prstGeom>
          <a:noFill/>
          <a:ln/>
        </p:spPr>
        <p:txBody>
          <a:bodyPr wrap="square" lIns="0" tIns="0" rIns="0" bIns="0" rtlCol="0" anchor="t">
            <a:normAutofit/>
          </a:bodyPr>
          <a:lstStyle/>
          <a:p>
            <a:pPr marL="0" indent="0" algn="l">
              <a:lnSpc>
                <a:spcPct val="104000"/>
              </a:lnSpc>
              <a:buNone/>
            </a:pPr>
            <a:r>
              <a:rPr lang="en-US" sz="4450" dirty="0">
                <a:solidFill>
                  <a:srgbClr val="FFFFFF"/>
                </a:solidFill>
                <a:latin typeface="Saira Medium" pitchFamily="34" charset="0"/>
                <a:ea typeface="Saira Medium" pitchFamily="34" charset="-122"/>
                <a:cs typeface="Saira Medium" pitchFamily="34" charset="-120"/>
              </a:rPr>
              <a:t>Cloud-Native Architecture Migration</a:t>
            </a:r>
            <a:endParaRPr lang="en-US" sz="4450" dirty="0"/>
          </a:p>
        </p:txBody>
      </p:sp>
      <p:sp>
        <p:nvSpPr>
          <p:cNvPr id="5" name="Text 2"/>
          <p:cNvSpPr/>
          <p:nvPr/>
        </p:nvSpPr>
        <p:spPr>
          <a:xfrm>
            <a:off x="661475" y="4255095"/>
            <a:ext cx="6906444" cy="264616"/>
          </a:xfrm>
          <a:prstGeom prst="rect">
            <a:avLst/>
          </a:prstGeom>
          <a:noFill/>
          <a:ln/>
        </p:spPr>
        <p:txBody>
          <a:bodyPr wrap="none" lIns="0" tIns="0" rIns="0" bIns="0" rtlCol="0" anchor="t"/>
          <a:lstStyle/>
          <a:p>
            <a:pPr marL="0" indent="0" algn="l">
              <a:lnSpc>
                <a:spcPct val="133000"/>
              </a:lnSpc>
              <a:buNone/>
            </a:pPr>
            <a:r>
              <a:rPr lang="en-US" sz="1300" dirty="0">
                <a:solidFill>
                  <a:srgbClr val="E5E0DF"/>
                </a:solidFill>
                <a:latin typeface="Roboto" pitchFamily="34" charset="0"/>
                <a:ea typeface="Roboto" pitchFamily="34" charset="-122"/>
                <a:cs typeface="Roboto" pitchFamily="34" charset="-120"/>
              </a:rPr>
              <a:t>CB011286  Eshan </a:t>
            </a:r>
            <a:r>
              <a:rPr lang="en-US" sz="1300" dirty="0" err="1">
                <a:solidFill>
                  <a:srgbClr val="E5E0DF"/>
                </a:solidFill>
                <a:latin typeface="Roboto" pitchFamily="34" charset="0"/>
                <a:ea typeface="Roboto" pitchFamily="34" charset="-122"/>
                <a:cs typeface="Roboto" pitchFamily="34" charset="-120"/>
              </a:rPr>
              <a:t>Dineth</a:t>
            </a:r>
            <a:r>
              <a:rPr lang="en-US" sz="1300" dirty="0">
                <a:solidFill>
                  <a:srgbClr val="E5E0DF"/>
                </a:solidFill>
                <a:latin typeface="Roboto" pitchFamily="34" charset="0"/>
                <a:ea typeface="Roboto" pitchFamily="34" charset="-122"/>
                <a:cs typeface="Roboto" pitchFamily="34" charset="-120"/>
              </a:rPr>
              <a:t>   </a:t>
            </a:r>
            <a:endParaRPr lang="en-US" sz="1300" dirty="0"/>
          </a:p>
        </p:txBody>
      </p:sp>
      <p:sp>
        <p:nvSpPr>
          <p:cNvPr id="6" name="Shape 3"/>
          <p:cNvSpPr/>
          <p:nvPr/>
        </p:nvSpPr>
        <p:spPr>
          <a:xfrm>
            <a:off x="661475" y="4718447"/>
            <a:ext cx="674472" cy="310952"/>
          </a:xfrm>
          <a:prstGeom prst="roundRect">
            <a:avLst>
              <a:gd name="adj" fmla="val 38296"/>
            </a:avLst>
          </a:prstGeom>
          <a:solidFill>
            <a:srgbClr val="4B1E01"/>
          </a:solidFill>
          <a:ln/>
        </p:spPr>
        <p:txBody>
          <a:bodyPr/>
          <a:lstStyle/>
          <a:p>
            <a:endParaRPr lang="en-US"/>
          </a:p>
        </p:txBody>
      </p:sp>
      <p:pic>
        <p:nvPicPr>
          <p:cNvPr id="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60691" y="4807744"/>
            <a:ext cx="132255" cy="132259"/>
          </a:xfrm>
          <a:prstGeom prst="rect">
            <a:avLst/>
          </a:prstGeom>
        </p:spPr>
      </p:pic>
      <p:sp>
        <p:nvSpPr>
          <p:cNvPr id="8" name="Text 4"/>
          <p:cNvSpPr/>
          <p:nvPr/>
        </p:nvSpPr>
        <p:spPr>
          <a:xfrm>
            <a:off x="959024" y="4768056"/>
            <a:ext cx="887291" cy="211733"/>
          </a:xfrm>
          <a:prstGeom prst="rect">
            <a:avLst/>
          </a:prstGeom>
          <a:noFill/>
          <a:ln/>
        </p:spPr>
        <p:txBody>
          <a:bodyPr wrap="none" lIns="0" tIns="0" rIns="0" bIns="0" rtlCol="0" anchor="t"/>
          <a:lstStyle/>
          <a:p>
            <a:pPr marL="0" indent="0" algn="l">
              <a:lnSpc>
                <a:spcPct val="133000"/>
              </a:lnSpc>
              <a:buNone/>
            </a:pPr>
            <a:r>
              <a:rPr lang="en-US" sz="1000" dirty="0">
                <a:solidFill>
                  <a:srgbClr val="E5E0DF"/>
                </a:solidFill>
                <a:latin typeface="Roboto" pitchFamily="34" charset="0"/>
                <a:ea typeface="Roboto" pitchFamily="34" charset="-122"/>
                <a:cs typeface="Roboto" pitchFamily="34" charset="-120"/>
              </a:rPr>
              <a:t>AWS</a:t>
            </a:r>
            <a:endParaRPr lang="en-US" sz="1000" dirty="0"/>
          </a:p>
        </p:txBody>
      </p:sp>
      <p:sp>
        <p:nvSpPr>
          <p:cNvPr id="9" name="Shape 5"/>
          <p:cNvSpPr/>
          <p:nvPr/>
        </p:nvSpPr>
        <p:spPr>
          <a:xfrm>
            <a:off x="1418594" y="4705747"/>
            <a:ext cx="1233457" cy="336352"/>
          </a:xfrm>
          <a:prstGeom prst="roundRect">
            <a:avLst>
              <a:gd name="adj" fmla="val 35404"/>
            </a:avLst>
          </a:prstGeom>
          <a:noFill/>
          <a:ln w="12700">
            <a:solidFill>
              <a:srgbClr val="FC8337"/>
            </a:solidFill>
            <a:prstDash val="solid"/>
          </a:ln>
        </p:spPr>
        <p:txBody>
          <a:bodyPr/>
          <a:lstStyle/>
          <a:p>
            <a:endParaRPr lang="en-US"/>
          </a:p>
        </p:txBody>
      </p:sp>
      <p:pic>
        <p:nvPicPr>
          <p:cNvPr id="10"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30510" y="4807744"/>
            <a:ext cx="132255" cy="132259"/>
          </a:xfrm>
          <a:prstGeom prst="rect">
            <a:avLst/>
          </a:prstGeom>
        </p:spPr>
      </p:pic>
      <p:sp>
        <p:nvSpPr>
          <p:cNvPr id="11" name="Text 6"/>
          <p:cNvSpPr/>
          <p:nvPr/>
        </p:nvSpPr>
        <p:spPr>
          <a:xfrm>
            <a:off x="1728843" y="4768056"/>
            <a:ext cx="1420876" cy="211733"/>
          </a:xfrm>
          <a:prstGeom prst="rect">
            <a:avLst/>
          </a:prstGeom>
          <a:noFill/>
          <a:ln/>
        </p:spPr>
        <p:txBody>
          <a:bodyPr wrap="none" lIns="0" tIns="0" rIns="0" bIns="0" rtlCol="0" anchor="t"/>
          <a:lstStyle/>
          <a:p>
            <a:pPr marL="0" indent="0" algn="l">
              <a:lnSpc>
                <a:spcPct val="133000"/>
              </a:lnSpc>
              <a:buNone/>
            </a:pPr>
            <a:r>
              <a:rPr lang="en-US" sz="1000" dirty="0">
                <a:solidFill>
                  <a:srgbClr val="FC8337"/>
                </a:solidFill>
                <a:latin typeface="Roboto" pitchFamily="34" charset="0"/>
                <a:ea typeface="Roboto" pitchFamily="34" charset="-122"/>
                <a:cs typeface="Roboto" pitchFamily="34" charset="-120"/>
              </a:rPr>
              <a:t>KUBERNETES</a:t>
            </a:r>
            <a:endParaRPr lang="en-US" sz="1000" dirty="0"/>
          </a:p>
        </p:txBody>
      </p:sp>
      <p:sp>
        <p:nvSpPr>
          <p:cNvPr id="12" name="Shape 7"/>
          <p:cNvSpPr/>
          <p:nvPr/>
        </p:nvSpPr>
        <p:spPr>
          <a:xfrm>
            <a:off x="2734698" y="4705747"/>
            <a:ext cx="1186627" cy="336352"/>
          </a:xfrm>
          <a:prstGeom prst="roundRect">
            <a:avLst>
              <a:gd name="adj" fmla="val 35404"/>
            </a:avLst>
          </a:prstGeom>
          <a:noFill/>
          <a:ln w="12700">
            <a:solidFill>
              <a:srgbClr val="FC8337"/>
            </a:solidFill>
            <a:prstDash val="solid"/>
          </a:ln>
        </p:spPr>
        <p:txBody>
          <a:bodyPr/>
          <a:lstStyle/>
          <a:p>
            <a:endParaRPr lang="en-US"/>
          </a:p>
        </p:txBody>
      </p:sp>
      <p:pic>
        <p:nvPicPr>
          <p:cNvPr id="1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46614" y="4807744"/>
            <a:ext cx="132255" cy="132259"/>
          </a:xfrm>
          <a:prstGeom prst="rect">
            <a:avLst/>
          </a:prstGeom>
        </p:spPr>
      </p:pic>
      <p:sp>
        <p:nvSpPr>
          <p:cNvPr id="14" name="Text 8"/>
          <p:cNvSpPr/>
          <p:nvPr/>
        </p:nvSpPr>
        <p:spPr>
          <a:xfrm>
            <a:off x="3044947" y="4768056"/>
            <a:ext cx="1374046" cy="211733"/>
          </a:xfrm>
          <a:prstGeom prst="rect">
            <a:avLst/>
          </a:prstGeom>
          <a:noFill/>
          <a:ln/>
        </p:spPr>
        <p:txBody>
          <a:bodyPr wrap="none" lIns="0" tIns="0" rIns="0" bIns="0" rtlCol="0" anchor="t"/>
          <a:lstStyle/>
          <a:p>
            <a:pPr marL="0" indent="0" algn="l">
              <a:lnSpc>
                <a:spcPct val="133000"/>
              </a:lnSpc>
              <a:buNone/>
            </a:pPr>
            <a:r>
              <a:rPr lang="en-US" sz="1000" dirty="0">
                <a:solidFill>
                  <a:srgbClr val="FC8337"/>
                </a:solidFill>
                <a:latin typeface="Roboto" pitchFamily="34" charset="0"/>
                <a:ea typeface="Roboto" pitchFamily="34" charset="-122"/>
                <a:cs typeface="Roboto" pitchFamily="34" charset="-120"/>
              </a:rPr>
              <a:t>TERRAFORM</a:t>
            </a:r>
            <a:endParaRPr lang="en-US" sz="1000" dirty="0"/>
          </a:p>
        </p:txBody>
      </p:sp>
      <p:sp>
        <p:nvSpPr>
          <p:cNvPr id="15" name="Shape 9"/>
          <p:cNvSpPr/>
          <p:nvPr/>
        </p:nvSpPr>
        <p:spPr>
          <a:xfrm>
            <a:off x="4003972" y="4705747"/>
            <a:ext cx="1066773" cy="336352"/>
          </a:xfrm>
          <a:prstGeom prst="roundRect">
            <a:avLst>
              <a:gd name="adj" fmla="val 35404"/>
            </a:avLst>
          </a:prstGeom>
          <a:noFill/>
          <a:ln w="12700">
            <a:solidFill>
              <a:srgbClr val="FC8337"/>
            </a:solidFill>
            <a:prstDash val="solid"/>
          </a:ln>
        </p:spPr>
        <p:txBody>
          <a:bodyPr/>
          <a:lstStyle/>
          <a:p>
            <a:endParaRPr lang="en-US"/>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115888" y="4807744"/>
            <a:ext cx="132255" cy="132259"/>
          </a:xfrm>
          <a:prstGeom prst="rect">
            <a:avLst/>
          </a:prstGeom>
        </p:spPr>
      </p:pic>
      <p:sp>
        <p:nvSpPr>
          <p:cNvPr id="17" name="Text 10"/>
          <p:cNvSpPr/>
          <p:nvPr/>
        </p:nvSpPr>
        <p:spPr>
          <a:xfrm>
            <a:off x="4314221" y="4768056"/>
            <a:ext cx="1254193" cy="211733"/>
          </a:xfrm>
          <a:prstGeom prst="rect">
            <a:avLst/>
          </a:prstGeom>
          <a:noFill/>
          <a:ln/>
        </p:spPr>
        <p:txBody>
          <a:bodyPr wrap="none" lIns="0" tIns="0" rIns="0" bIns="0" rtlCol="0" anchor="t"/>
          <a:lstStyle/>
          <a:p>
            <a:pPr marL="0" indent="0" algn="l">
              <a:lnSpc>
                <a:spcPct val="133000"/>
              </a:lnSpc>
              <a:buNone/>
            </a:pPr>
            <a:r>
              <a:rPr lang="en-US" sz="1000" dirty="0">
                <a:solidFill>
                  <a:srgbClr val="FC8337"/>
                </a:solidFill>
                <a:latin typeface="Roboto" pitchFamily="34" charset="0"/>
                <a:ea typeface="Roboto" pitchFamily="34" charset="-122"/>
                <a:cs typeface="Roboto" pitchFamily="34" charset="-120"/>
              </a:rPr>
              <a:t>JWT AUTH</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474166"/>
            <a:ext cx="5663661" cy="465138"/>
          </a:xfrm>
          <a:prstGeom prst="rect">
            <a:avLst/>
          </a:prstGeom>
          <a:noFill/>
          <a:ln/>
        </p:spPr>
        <p:txBody>
          <a:bodyPr wrap="none" lIns="0" tIns="0" rIns="0" bIns="0" rtlCol="0" anchor="t"/>
          <a:lstStyle/>
          <a:p>
            <a:pPr marL="0" indent="0" algn="l">
              <a:lnSpc>
                <a:spcPct val="104000"/>
              </a:lnSpc>
              <a:buNone/>
            </a:pPr>
            <a:r>
              <a:rPr lang="en-US" sz="2900" dirty="0">
                <a:solidFill>
                  <a:srgbClr val="FFFFFF"/>
                </a:solidFill>
                <a:latin typeface="Saira Medium" pitchFamily="34" charset="0"/>
                <a:ea typeface="Saira Medium" pitchFamily="34" charset="-122"/>
                <a:cs typeface="Saira Medium" pitchFamily="34" charset="-120"/>
              </a:rPr>
              <a:t>The Problem &amp; Business Goal</a:t>
            </a:r>
            <a:endParaRPr lang="en-US" sz="2900" dirty="0"/>
          </a:p>
        </p:txBody>
      </p:sp>
      <p:sp>
        <p:nvSpPr>
          <p:cNvPr id="4" name="Text 1"/>
          <p:cNvSpPr/>
          <p:nvPr/>
        </p:nvSpPr>
        <p:spPr>
          <a:xfrm>
            <a:off x="661475" y="1140222"/>
            <a:ext cx="6296860"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E5E0DF"/>
                </a:solidFill>
                <a:latin typeface="Roboto" pitchFamily="34" charset="0"/>
                <a:ea typeface="Roboto" pitchFamily="34" charset="-122"/>
                <a:cs typeface="Roboto" pitchFamily="34" charset="-120"/>
              </a:rPr>
              <a:t>The legacy monolithic flight booking system presented critical architectural limitations that made it unsuitable for modern, global-scale operations.</a:t>
            </a:r>
            <a:endParaRPr lang="en-US" sz="115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2425" y="1743373"/>
            <a:ext cx="6315909" cy="1101030"/>
          </a:xfrm>
          <a:prstGeom prst="rect">
            <a:avLst/>
          </a:prstGeom>
        </p:spPr>
      </p:pic>
      <p:sp>
        <p:nvSpPr>
          <p:cNvPr id="6" name="Text 2"/>
          <p:cNvSpPr/>
          <p:nvPr/>
        </p:nvSpPr>
        <p:spPr>
          <a:xfrm>
            <a:off x="886497" y="1911251"/>
            <a:ext cx="1993751" cy="232470"/>
          </a:xfrm>
          <a:prstGeom prst="rect">
            <a:avLst/>
          </a:prstGeom>
          <a:noFill/>
          <a:ln/>
        </p:spPr>
        <p:txBody>
          <a:bodyPr wrap="none" lIns="0" tIns="0" rIns="0" bIns="0" rtlCol="0" anchor="t"/>
          <a:lstStyle/>
          <a:p>
            <a:pPr marL="0" indent="0" algn="l">
              <a:lnSpc>
                <a:spcPct val="104000"/>
              </a:lnSpc>
              <a:buNone/>
            </a:pPr>
            <a:r>
              <a:rPr lang="en-US" sz="1450" dirty="0">
                <a:solidFill>
                  <a:srgbClr val="E5E0DF"/>
                </a:solidFill>
                <a:latin typeface="Saira Medium" pitchFamily="34" charset="0"/>
                <a:ea typeface="Saira Medium" pitchFamily="34" charset="-122"/>
                <a:cs typeface="Saira Medium" pitchFamily="34" charset="-120"/>
              </a:rPr>
              <a:t>Single Points of Failure</a:t>
            </a:r>
            <a:endParaRPr lang="en-US" sz="1450" dirty="0"/>
          </a:p>
        </p:txBody>
      </p:sp>
      <p:sp>
        <p:nvSpPr>
          <p:cNvPr id="7" name="Text 3"/>
          <p:cNvSpPr/>
          <p:nvPr/>
        </p:nvSpPr>
        <p:spPr>
          <a:xfrm>
            <a:off x="886497" y="2224088"/>
            <a:ext cx="5903963"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E5E0DF"/>
                </a:solidFill>
                <a:latin typeface="Roboto" pitchFamily="34" charset="0"/>
                <a:ea typeface="Roboto" pitchFamily="34" charset="-122"/>
                <a:cs typeface="Roboto" pitchFamily="34" charset="-120"/>
              </a:rPr>
              <a:t>A single service crash could bring down the entire platform — no isolation, no graceful degradation.</a:t>
            </a:r>
            <a:endParaRPr lang="en-US" sz="115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2425" y="2978348"/>
            <a:ext cx="6315909" cy="1101030"/>
          </a:xfrm>
          <a:prstGeom prst="rect">
            <a:avLst/>
          </a:prstGeom>
        </p:spPr>
      </p:pic>
      <p:sp>
        <p:nvSpPr>
          <p:cNvPr id="9" name="Text 4"/>
          <p:cNvSpPr/>
          <p:nvPr/>
        </p:nvSpPr>
        <p:spPr>
          <a:xfrm>
            <a:off x="886497" y="3146227"/>
            <a:ext cx="1860603" cy="232470"/>
          </a:xfrm>
          <a:prstGeom prst="rect">
            <a:avLst/>
          </a:prstGeom>
          <a:noFill/>
          <a:ln/>
        </p:spPr>
        <p:txBody>
          <a:bodyPr wrap="none" lIns="0" tIns="0" rIns="0" bIns="0" rtlCol="0" anchor="t"/>
          <a:lstStyle/>
          <a:p>
            <a:pPr marL="0" indent="0" algn="l">
              <a:lnSpc>
                <a:spcPct val="104000"/>
              </a:lnSpc>
              <a:buNone/>
            </a:pPr>
            <a:r>
              <a:rPr lang="en-US" sz="1450" dirty="0">
                <a:solidFill>
                  <a:srgbClr val="E5E0DF"/>
                </a:solidFill>
                <a:latin typeface="Saira Medium" pitchFamily="34" charset="0"/>
                <a:ea typeface="Saira Medium" pitchFamily="34" charset="-122"/>
                <a:cs typeface="Saira Medium" pitchFamily="34" charset="-120"/>
              </a:rPr>
              <a:t>Scaling Bottlenecks</a:t>
            </a:r>
            <a:endParaRPr lang="en-US" sz="1450" dirty="0"/>
          </a:p>
        </p:txBody>
      </p:sp>
      <p:sp>
        <p:nvSpPr>
          <p:cNvPr id="10" name="Text 5"/>
          <p:cNvSpPr/>
          <p:nvPr/>
        </p:nvSpPr>
        <p:spPr>
          <a:xfrm>
            <a:off x="886497" y="3459063"/>
            <a:ext cx="5903963"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E5E0DF"/>
                </a:solidFill>
                <a:latin typeface="Roboto" pitchFamily="34" charset="0"/>
                <a:ea typeface="Roboto" pitchFamily="34" charset="-122"/>
                <a:cs typeface="Roboto" pitchFamily="34" charset="-120"/>
              </a:rPr>
              <a:t>Vertical scaling only. Under peak load (e.g., holiday bookings), the monolith could not scale horizontally to meet demand.</a:t>
            </a:r>
            <a:endParaRPr lang="en-US" sz="115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2425" y="4213324"/>
            <a:ext cx="6315909" cy="1101030"/>
          </a:xfrm>
          <a:prstGeom prst="rect">
            <a:avLst/>
          </a:prstGeom>
        </p:spPr>
      </p:pic>
      <p:sp>
        <p:nvSpPr>
          <p:cNvPr id="12" name="Text 6"/>
          <p:cNvSpPr/>
          <p:nvPr/>
        </p:nvSpPr>
        <p:spPr>
          <a:xfrm>
            <a:off x="886497" y="4381202"/>
            <a:ext cx="1860603" cy="232470"/>
          </a:xfrm>
          <a:prstGeom prst="rect">
            <a:avLst/>
          </a:prstGeom>
          <a:noFill/>
          <a:ln/>
        </p:spPr>
        <p:txBody>
          <a:bodyPr wrap="none" lIns="0" tIns="0" rIns="0" bIns="0" rtlCol="0" anchor="t"/>
          <a:lstStyle/>
          <a:p>
            <a:pPr marL="0" indent="0" algn="l">
              <a:lnSpc>
                <a:spcPct val="104000"/>
              </a:lnSpc>
              <a:buNone/>
            </a:pPr>
            <a:r>
              <a:rPr lang="en-US" sz="1450" dirty="0">
                <a:solidFill>
                  <a:srgbClr val="E5E0DF"/>
                </a:solidFill>
                <a:latin typeface="Saira Medium" pitchFamily="34" charset="0"/>
                <a:ea typeface="Saira Medium" pitchFamily="34" charset="-122"/>
                <a:cs typeface="Saira Medium" pitchFamily="34" charset="-120"/>
              </a:rPr>
              <a:t>Deployment Risk</a:t>
            </a:r>
            <a:endParaRPr lang="en-US" sz="1450" dirty="0"/>
          </a:p>
        </p:txBody>
      </p:sp>
      <p:sp>
        <p:nvSpPr>
          <p:cNvPr id="13" name="Text 7"/>
          <p:cNvSpPr/>
          <p:nvPr/>
        </p:nvSpPr>
        <p:spPr>
          <a:xfrm>
            <a:off x="886497" y="4694039"/>
            <a:ext cx="5903963" cy="452438"/>
          </a:xfrm>
          <a:prstGeom prst="rect">
            <a:avLst/>
          </a:prstGeom>
          <a:noFill/>
          <a:ln/>
        </p:spPr>
        <p:txBody>
          <a:bodyPr wrap="square" lIns="0" tIns="0" rIns="0" bIns="0" rtlCol="0" anchor="t">
            <a:normAutofit/>
          </a:bodyPr>
          <a:lstStyle/>
          <a:p>
            <a:pPr marL="0" indent="0" algn="l">
              <a:lnSpc>
                <a:spcPct val="127000"/>
              </a:lnSpc>
              <a:buNone/>
            </a:pPr>
            <a:r>
              <a:rPr lang="en-US" sz="1150" dirty="0">
                <a:solidFill>
                  <a:srgbClr val="E5E0DF"/>
                </a:solidFill>
                <a:latin typeface="Roboto" pitchFamily="34" charset="0"/>
                <a:ea typeface="Roboto" pitchFamily="34" charset="-122"/>
                <a:cs typeface="Roboto" pitchFamily="34" charset="-120"/>
              </a:rPr>
              <a:t>Every release required a full-system redeploy, increasing downtime risk and slowing feature velocity.</a:t>
            </a:r>
            <a:endParaRPr lang="en-US" sz="1150" dirty="0"/>
          </a:p>
        </p:txBody>
      </p:sp>
      <p:sp>
        <p:nvSpPr>
          <p:cNvPr id="14" name="Shape 8"/>
          <p:cNvSpPr/>
          <p:nvPr/>
        </p:nvSpPr>
        <p:spPr>
          <a:xfrm>
            <a:off x="661475" y="5465068"/>
            <a:ext cx="6296860" cy="767953"/>
          </a:xfrm>
          <a:prstGeom prst="roundRect">
            <a:avLst>
              <a:gd name="adj" fmla="val 17445"/>
            </a:avLst>
          </a:prstGeom>
          <a:solidFill>
            <a:srgbClr val="183A13"/>
          </a:solidFill>
          <a:ln/>
        </p:spPr>
        <p:txBody>
          <a:bodyPr/>
          <a:lstStyle/>
          <a:p>
            <a:endParaRPr lang="en-US"/>
          </a:p>
        </p:txBody>
      </p:sp>
      <p:pic>
        <p:nvPicPr>
          <p:cNvPr id="15" name="Image 4" descr="preencoded.png"/>
          <p:cNvPicPr>
            <a:picLocks noChangeAspect="1"/>
          </p:cNvPicPr>
          <p:nvPr/>
        </p:nvPicPr>
        <p:blipFill>
          <a:blip r:embed="rId5"/>
          <a:stretch>
            <a:fillRect/>
          </a:stretch>
        </p:blipFill>
        <p:spPr>
          <a:xfrm>
            <a:off x="810299" y="5673229"/>
            <a:ext cx="186031" cy="148828"/>
          </a:xfrm>
          <a:prstGeom prst="rect">
            <a:avLst/>
          </a:prstGeom>
        </p:spPr>
      </p:pic>
      <p:sp>
        <p:nvSpPr>
          <p:cNvPr id="16" name="Text 9"/>
          <p:cNvSpPr/>
          <p:nvPr/>
        </p:nvSpPr>
        <p:spPr>
          <a:xfrm>
            <a:off x="1145154" y="5622826"/>
            <a:ext cx="5664356" cy="452438"/>
          </a:xfrm>
          <a:prstGeom prst="rect">
            <a:avLst/>
          </a:prstGeom>
          <a:noFill/>
          <a:ln/>
        </p:spPr>
        <p:txBody>
          <a:bodyPr wrap="square" lIns="0" tIns="0" rIns="0" bIns="0" rtlCol="0" anchor="t">
            <a:normAutofit/>
          </a:bodyPr>
          <a:lstStyle/>
          <a:p>
            <a:pPr marL="0" indent="0" algn="l">
              <a:lnSpc>
                <a:spcPct val="127000"/>
              </a:lnSpc>
              <a:buNone/>
            </a:pPr>
            <a:r>
              <a:rPr lang="en-US" sz="1150" b="1" dirty="0">
                <a:solidFill>
                  <a:srgbClr val="FFFFFF"/>
                </a:solidFill>
                <a:latin typeface="Roboto" pitchFamily="34" charset="0"/>
                <a:ea typeface="Roboto" pitchFamily="34" charset="-122"/>
                <a:cs typeface="Roboto" pitchFamily="34" charset="-120"/>
              </a:rPr>
              <a:t>Business Goal:</a:t>
            </a:r>
            <a:r>
              <a:rPr lang="en-US" sz="1150" dirty="0">
                <a:solidFill>
                  <a:srgbClr val="FFFFFF"/>
                </a:solidFill>
                <a:latin typeface="Roboto" pitchFamily="34" charset="0"/>
                <a:ea typeface="Roboto" pitchFamily="34" charset="-122"/>
                <a:cs typeface="Roboto" pitchFamily="34" charset="-120"/>
              </a:rPr>
              <a:t> Architect a cloud-native, globally distributed platform achieving </a:t>
            </a:r>
            <a:r>
              <a:rPr lang="en-US" sz="1150" b="1" dirty="0">
                <a:solidFill>
                  <a:srgbClr val="FFFFFF"/>
                </a:solidFill>
                <a:latin typeface="Roboto" pitchFamily="34" charset="0"/>
                <a:ea typeface="Roboto" pitchFamily="34" charset="-122"/>
                <a:cs typeface="Roboto" pitchFamily="34" charset="-120"/>
              </a:rPr>
              <a:t>99.999% availability</a:t>
            </a:r>
            <a:r>
              <a:rPr lang="en-US" sz="1150" dirty="0">
                <a:solidFill>
                  <a:srgbClr val="FFFFFF"/>
                </a:solidFill>
                <a:latin typeface="Roboto" pitchFamily="34" charset="0"/>
                <a:ea typeface="Roboto" pitchFamily="34" charset="-122"/>
                <a:cs typeface="Roboto" pitchFamily="34" charset="-120"/>
              </a:rPr>
              <a:t> with sub-100ms latency for passengers across all regions.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78828" y="443409"/>
            <a:ext cx="4726663" cy="384473"/>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Saira Medium" pitchFamily="34" charset="0"/>
                <a:ea typeface="Saira Medium" pitchFamily="34" charset="-122"/>
                <a:cs typeface="Saira Medium" pitchFamily="34" charset="-120"/>
              </a:rPr>
              <a:t>High-Level AWS Architecture</a:t>
            </a:r>
            <a:endParaRPr lang="en-US" sz="2400" dirty="0"/>
          </a:p>
        </p:txBody>
      </p:sp>
      <p:sp>
        <p:nvSpPr>
          <p:cNvPr id="3" name="Text 1"/>
          <p:cNvSpPr/>
          <p:nvPr/>
        </p:nvSpPr>
        <p:spPr>
          <a:xfrm>
            <a:off x="578828" y="1010841"/>
            <a:ext cx="11034040" cy="343098"/>
          </a:xfrm>
          <a:prstGeom prst="rect">
            <a:avLst/>
          </a:prstGeom>
          <a:noFill/>
          <a:ln/>
        </p:spPr>
        <p:txBody>
          <a:bodyPr wrap="square" lIns="0" tIns="0" rIns="0" bIns="0" rtlCol="0" anchor="t">
            <a:normAutofit/>
          </a:bodyPr>
          <a:lstStyle/>
          <a:p>
            <a:pPr marL="0" indent="0" algn="l">
              <a:lnSpc>
                <a:spcPct val="116000"/>
              </a:lnSpc>
              <a:buNone/>
            </a:pPr>
            <a:r>
              <a:rPr lang="en-US" sz="950" dirty="0">
                <a:solidFill>
                  <a:srgbClr val="E5E0DF"/>
                </a:solidFill>
                <a:latin typeface="Roboto" pitchFamily="34" charset="0"/>
                <a:ea typeface="Roboto" pitchFamily="34" charset="-122"/>
                <a:cs typeface="Roboto" pitchFamily="34" charset="-120"/>
              </a:rPr>
              <a:t>AeroLink's architecture follows a clean separation of concerns — from the React SPA frontend through a centralized API Gateway, into a containerized EKS cluster, and out to purpose-built AWS managed services. Traffic flows through a multi-AZ VPC with public and private subnets, ensuring network isolation and high availability across all tiers.</a:t>
            </a:r>
            <a:endParaRPr lang="en-US" sz="950" dirty="0"/>
          </a:p>
        </p:txBody>
      </p:sp>
      <p:pic>
        <p:nvPicPr>
          <p:cNvPr id="4" name="Image 0" descr="preencoded.png"/>
          <p:cNvPicPr>
            <a:picLocks noChangeAspect="1"/>
          </p:cNvPicPr>
          <p:nvPr/>
        </p:nvPicPr>
        <p:blipFill>
          <a:blip r:embed="rId3"/>
          <a:stretch>
            <a:fillRect/>
          </a:stretch>
        </p:blipFill>
        <p:spPr>
          <a:xfrm>
            <a:off x="578828" y="1639824"/>
            <a:ext cx="5831497" cy="3830204"/>
          </a:xfrm>
          <a:prstGeom prst="rect">
            <a:avLst/>
          </a:prstGeom>
        </p:spPr>
      </p:pic>
      <p:sp>
        <p:nvSpPr>
          <p:cNvPr id="5" name="Text 2"/>
          <p:cNvSpPr/>
          <p:nvPr/>
        </p:nvSpPr>
        <p:spPr>
          <a:xfrm>
            <a:off x="578828" y="6071493"/>
            <a:ext cx="11034040" cy="343098"/>
          </a:xfrm>
          <a:prstGeom prst="rect">
            <a:avLst/>
          </a:prstGeom>
          <a:noFill/>
          <a:ln/>
        </p:spPr>
        <p:txBody>
          <a:bodyPr wrap="square" lIns="0" tIns="0" rIns="0" bIns="0" rtlCol="0" anchor="t">
            <a:normAutofit/>
          </a:bodyPr>
          <a:lstStyle/>
          <a:p>
            <a:pPr marL="0" indent="0" algn="l">
              <a:lnSpc>
                <a:spcPct val="116000"/>
              </a:lnSpc>
              <a:buNone/>
            </a:pPr>
            <a:r>
              <a:rPr lang="en-US" sz="950" dirty="0">
                <a:solidFill>
                  <a:srgbClr val="E5E0DF"/>
                </a:solidFill>
                <a:latin typeface="Roboto" pitchFamily="34" charset="0"/>
                <a:ea typeface="Roboto" pitchFamily="34" charset="-122"/>
                <a:cs typeface="Roboto" pitchFamily="34" charset="-120"/>
              </a:rPr>
              <a:t>This layered architecture ensures that each tier can scale independently. The NGINX API Gateway acts as the single entry point, performing request routing, rate limiting, and TLS termination before forwarding traffic to the appropriate EKS service.</a:t>
            </a:r>
            <a:endParaRPr lang="en-US" sz="950" dirty="0"/>
          </a:p>
        </p:txBody>
      </p:sp>
      <p:sp>
        <p:nvSpPr>
          <p:cNvPr id="6" name="Rectangle 5">
            <a:extLst>
              <a:ext uri="{FF2B5EF4-FFF2-40B4-BE49-F238E27FC236}">
                <a16:creationId xmlns:a16="http://schemas.microsoft.com/office/drawing/2014/main" id="{BBF79F41-AB39-8BCB-63CE-1954305594D6}"/>
              </a:ext>
            </a:extLst>
          </p:cNvPr>
          <p:cNvSpPr/>
          <p:nvPr/>
        </p:nvSpPr>
        <p:spPr>
          <a:xfrm>
            <a:off x="11087100" y="6540500"/>
            <a:ext cx="1047750" cy="24447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551846A5-E22F-5DF6-58A4-1B1CAD51B5BF}"/>
              </a:ext>
            </a:extLst>
          </p:cNvPr>
          <p:cNvPicPr>
            <a:picLocks noChangeAspect="1"/>
          </p:cNvPicPr>
          <p:nvPr/>
        </p:nvPicPr>
        <p:blipFill>
          <a:blip r:embed="rId4"/>
          <a:stretch>
            <a:fillRect/>
          </a:stretch>
        </p:blipFill>
        <p:spPr>
          <a:xfrm>
            <a:off x="7256896" y="1639824"/>
            <a:ext cx="3830204" cy="383020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480715"/>
            <a:ext cx="6392703" cy="413445"/>
          </a:xfrm>
          <a:prstGeom prst="rect">
            <a:avLst/>
          </a:prstGeom>
          <a:noFill/>
          <a:ln/>
        </p:spPr>
        <p:txBody>
          <a:bodyPr wrap="none" lIns="0" tIns="0" rIns="0" bIns="0" rtlCol="0" anchor="t"/>
          <a:lstStyle/>
          <a:p>
            <a:pPr marL="0" indent="0" algn="l">
              <a:lnSpc>
                <a:spcPct val="104000"/>
              </a:lnSpc>
              <a:buNone/>
            </a:pPr>
            <a:r>
              <a:rPr lang="en-US" sz="2600" dirty="0">
                <a:solidFill>
                  <a:srgbClr val="FFFFFF"/>
                </a:solidFill>
                <a:latin typeface="Saira Medium" pitchFamily="34" charset="0"/>
                <a:ea typeface="Saira Medium" pitchFamily="34" charset="-122"/>
                <a:cs typeface="Saira Medium" pitchFamily="34" charset="-120"/>
              </a:rPr>
              <a:t>Core Microservices &amp; Containerization</a:t>
            </a:r>
            <a:endParaRPr lang="en-US" sz="2600" dirty="0"/>
          </a:p>
        </p:txBody>
      </p:sp>
      <p:sp>
        <p:nvSpPr>
          <p:cNvPr id="3" name="Text 1"/>
          <p:cNvSpPr/>
          <p:nvPr/>
        </p:nvSpPr>
        <p:spPr>
          <a:xfrm>
            <a:off x="661475" y="1105793"/>
            <a:ext cx="10868745" cy="381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E5E0DF"/>
                </a:solidFill>
                <a:latin typeface="Roboto" pitchFamily="34" charset="0"/>
                <a:ea typeface="Roboto" pitchFamily="34" charset="-122"/>
                <a:cs typeface="Roboto" pitchFamily="34" charset="-120"/>
              </a:rPr>
              <a:t>AeroLink decomposes the monolith into </a:t>
            </a:r>
            <a:r>
              <a:rPr lang="en-US" sz="1000" b="1" dirty="0">
                <a:solidFill>
                  <a:srgbClr val="E5E0DF"/>
                </a:solidFill>
                <a:latin typeface="Roboto" pitchFamily="34" charset="0"/>
                <a:ea typeface="Roboto" pitchFamily="34" charset="-122"/>
                <a:cs typeface="Roboto" pitchFamily="34" charset="-120"/>
              </a:rPr>
              <a:t>five independently deployable microservices</a:t>
            </a:r>
            <a:r>
              <a:rPr lang="en-US" sz="1000" dirty="0">
                <a:solidFill>
                  <a:srgbClr val="E5E0DF"/>
                </a:solidFill>
                <a:latin typeface="Roboto" pitchFamily="34" charset="0"/>
                <a:ea typeface="Roboto" pitchFamily="34" charset="-122"/>
                <a:cs typeface="Roboto" pitchFamily="34" charset="-120"/>
              </a:rPr>
              <a:t>, each owning its domain logic and data. Docker ensures environment parity; Amazon EKS provides production-grade orchestration with auto-scaling and self-healing.</a:t>
            </a:r>
            <a:endParaRPr lang="en-US" sz="1000" dirty="0"/>
          </a:p>
        </p:txBody>
      </p:sp>
      <p:sp>
        <p:nvSpPr>
          <p:cNvPr id="4" name="Shape 2"/>
          <p:cNvSpPr/>
          <p:nvPr/>
        </p:nvSpPr>
        <p:spPr>
          <a:xfrm>
            <a:off x="661475" y="1605855"/>
            <a:ext cx="3552339" cy="1443732"/>
          </a:xfrm>
          <a:prstGeom prst="roundRect">
            <a:avLst>
              <a:gd name="adj" fmla="val 8248"/>
            </a:avLst>
          </a:prstGeom>
          <a:solidFill>
            <a:srgbClr val="030303"/>
          </a:solidFill>
          <a:ln w="12700">
            <a:solidFill>
              <a:srgbClr val="FC8337"/>
            </a:solidFill>
            <a:prstDash val="solid"/>
          </a:ln>
        </p:spPr>
        <p:txBody>
          <a:bodyPr/>
          <a:lstStyle/>
          <a:p>
            <a:endParaRPr lang="en-US"/>
          </a:p>
        </p:txBody>
      </p:sp>
      <p:sp>
        <p:nvSpPr>
          <p:cNvPr id="5" name="Shape 3"/>
          <p:cNvSpPr/>
          <p:nvPr/>
        </p:nvSpPr>
        <p:spPr>
          <a:xfrm>
            <a:off x="806430" y="1750814"/>
            <a:ext cx="396865" cy="396875"/>
          </a:xfrm>
          <a:prstGeom prst="roundRect">
            <a:avLst>
              <a:gd name="adj" fmla="val 19198084"/>
            </a:avLst>
          </a:prstGeom>
          <a:solidFill>
            <a:srgbClr val="FC8337"/>
          </a:solidFill>
          <a:ln/>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568" y="1859955"/>
            <a:ext cx="178589" cy="178594"/>
          </a:xfrm>
          <a:prstGeom prst="rect">
            <a:avLst/>
          </a:prstGeom>
        </p:spPr>
      </p:pic>
      <p:sp>
        <p:nvSpPr>
          <p:cNvPr id="7" name="Text 4"/>
          <p:cNvSpPr/>
          <p:nvPr/>
        </p:nvSpPr>
        <p:spPr>
          <a:xfrm>
            <a:off x="806430" y="2253456"/>
            <a:ext cx="1653836" cy="206673"/>
          </a:xfrm>
          <a:prstGeom prst="rect">
            <a:avLst/>
          </a:prstGeom>
          <a:noFill/>
          <a:ln/>
        </p:spPr>
        <p:txBody>
          <a:bodyPr wrap="none" lIns="0" tIns="0" rIns="0" bIns="0" rtlCol="0" anchor="t"/>
          <a:lstStyle/>
          <a:p>
            <a:pPr marL="0" indent="0" algn="l">
              <a:lnSpc>
                <a:spcPct val="104000"/>
              </a:lnSpc>
              <a:buNone/>
            </a:pPr>
            <a:r>
              <a:rPr lang="en-US" sz="1300" dirty="0">
                <a:solidFill>
                  <a:srgbClr val="E5E0DF"/>
                </a:solidFill>
                <a:latin typeface="Saira Medium" pitchFamily="34" charset="0"/>
                <a:ea typeface="Saira Medium" pitchFamily="34" charset="-122"/>
                <a:cs typeface="Saira Medium" pitchFamily="34" charset="-120"/>
              </a:rPr>
              <a:t>Auth Service</a:t>
            </a:r>
            <a:endParaRPr lang="en-US" sz="1300" dirty="0"/>
          </a:p>
        </p:txBody>
      </p:sp>
      <p:sp>
        <p:nvSpPr>
          <p:cNvPr id="8" name="Text 5"/>
          <p:cNvSpPr/>
          <p:nvPr/>
        </p:nvSpPr>
        <p:spPr>
          <a:xfrm>
            <a:off x="806430" y="2523629"/>
            <a:ext cx="3262429" cy="381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E5E0DF"/>
                </a:solidFill>
                <a:latin typeface="Roboto" pitchFamily="34" charset="0"/>
                <a:ea typeface="Roboto" pitchFamily="34" charset="-122"/>
                <a:cs typeface="Roboto" pitchFamily="34" charset="-120"/>
              </a:rPr>
              <a:t>JWT issuance, refresh tokens, bcrypt password hashing, and RBAC enforcement.</a:t>
            </a:r>
            <a:endParaRPr lang="en-US" sz="1000" dirty="0"/>
          </a:p>
        </p:txBody>
      </p:sp>
      <p:sp>
        <p:nvSpPr>
          <p:cNvPr id="9" name="Shape 6"/>
          <p:cNvSpPr/>
          <p:nvPr/>
        </p:nvSpPr>
        <p:spPr>
          <a:xfrm>
            <a:off x="4319579" y="1605855"/>
            <a:ext cx="3552438" cy="1443732"/>
          </a:xfrm>
          <a:prstGeom prst="roundRect">
            <a:avLst>
              <a:gd name="adj" fmla="val 8248"/>
            </a:avLst>
          </a:prstGeom>
          <a:solidFill>
            <a:srgbClr val="030303"/>
          </a:solidFill>
          <a:ln w="12700">
            <a:solidFill>
              <a:srgbClr val="FC8337"/>
            </a:solidFill>
            <a:prstDash val="solid"/>
          </a:ln>
        </p:spPr>
        <p:txBody>
          <a:bodyPr/>
          <a:lstStyle/>
          <a:p>
            <a:endParaRPr lang="en-US"/>
          </a:p>
        </p:txBody>
      </p:sp>
      <p:sp>
        <p:nvSpPr>
          <p:cNvPr id="10" name="Shape 7"/>
          <p:cNvSpPr/>
          <p:nvPr/>
        </p:nvSpPr>
        <p:spPr>
          <a:xfrm>
            <a:off x="4464534" y="1750814"/>
            <a:ext cx="396865" cy="396875"/>
          </a:xfrm>
          <a:prstGeom prst="roundRect">
            <a:avLst>
              <a:gd name="adj" fmla="val 19198084"/>
            </a:avLst>
          </a:prstGeom>
          <a:solidFill>
            <a:srgbClr val="FC8337"/>
          </a:solidFill>
          <a:ln/>
        </p:spPr>
        <p:txBody>
          <a:bodyPr/>
          <a:lstStyle/>
          <a:p>
            <a:endParaRPr lang="en-US"/>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73672" y="1859955"/>
            <a:ext cx="178589" cy="178594"/>
          </a:xfrm>
          <a:prstGeom prst="rect">
            <a:avLst/>
          </a:prstGeom>
        </p:spPr>
      </p:pic>
      <p:sp>
        <p:nvSpPr>
          <p:cNvPr id="12" name="Text 8"/>
          <p:cNvSpPr/>
          <p:nvPr/>
        </p:nvSpPr>
        <p:spPr>
          <a:xfrm>
            <a:off x="4464534" y="2253456"/>
            <a:ext cx="1653836" cy="206673"/>
          </a:xfrm>
          <a:prstGeom prst="rect">
            <a:avLst/>
          </a:prstGeom>
          <a:noFill/>
          <a:ln/>
        </p:spPr>
        <p:txBody>
          <a:bodyPr wrap="none" lIns="0" tIns="0" rIns="0" bIns="0" rtlCol="0" anchor="t"/>
          <a:lstStyle/>
          <a:p>
            <a:pPr marL="0" indent="0" algn="l">
              <a:lnSpc>
                <a:spcPct val="104000"/>
              </a:lnSpc>
              <a:buNone/>
            </a:pPr>
            <a:r>
              <a:rPr lang="en-US" sz="1300" dirty="0">
                <a:solidFill>
                  <a:srgbClr val="E5E0DF"/>
                </a:solidFill>
                <a:latin typeface="Saira Medium" pitchFamily="34" charset="0"/>
                <a:ea typeface="Saira Medium" pitchFamily="34" charset="-122"/>
                <a:cs typeface="Saira Medium" pitchFamily="34" charset="-120"/>
              </a:rPr>
              <a:t>Flight Service</a:t>
            </a:r>
            <a:endParaRPr lang="en-US" sz="1300" dirty="0"/>
          </a:p>
        </p:txBody>
      </p:sp>
      <p:sp>
        <p:nvSpPr>
          <p:cNvPr id="13" name="Text 9"/>
          <p:cNvSpPr/>
          <p:nvPr/>
        </p:nvSpPr>
        <p:spPr>
          <a:xfrm>
            <a:off x="4464534" y="2523629"/>
            <a:ext cx="3262529" cy="381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E5E0DF"/>
                </a:solidFill>
                <a:latin typeface="Roboto" pitchFamily="34" charset="0"/>
                <a:ea typeface="Roboto" pitchFamily="34" charset="-122"/>
                <a:cs typeface="Roboto" pitchFamily="34" charset="-120"/>
              </a:rPr>
              <a:t>Flight search, schedule management, and availability queries against DynamoDB.</a:t>
            </a:r>
            <a:endParaRPr lang="en-US" sz="1000" dirty="0"/>
          </a:p>
        </p:txBody>
      </p:sp>
      <p:sp>
        <p:nvSpPr>
          <p:cNvPr id="14" name="Shape 10"/>
          <p:cNvSpPr/>
          <p:nvPr/>
        </p:nvSpPr>
        <p:spPr>
          <a:xfrm>
            <a:off x="7977782" y="1605855"/>
            <a:ext cx="3552438" cy="1443732"/>
          </a:xfrm>
          <a:prstGeom prst="roundRect">
            <a:avLst>
              <a:gd name="adj" fmla="val 8248"/>
            </a:avLst>
          </a:prstGeom>
          <a:solidFill>
            <a:srgbClr val="030303"/>
          </a:solidFill>
          <a:ln w="12700">
            <a:solidFill>
              <a:srgbClr val="FC8337"/>
            </a:solidFill>
            <a:prstDash val="solid"/>
          </a:ln>
        </p:spPr>
        <p:txBody>
          <a:bodyPr/>
          <a:lstStyle/>
          <a:p>
            <a:endParaRPr lang="en-US"/>
          </a:p>
        </p:txBody>
      </p:sp>
      <p:sp>
        <p:nvSpPr>
          <p:cNvPr id="15" name="Shape 11"/>
          <p:cNvSpPr/>
          <p:nvPr/>
        </p:nvSpPr>
        <p:spPr>
          <a:xfrm>
            <a:off x="8122737" y="1750814"/>
            <a:ext cx="396865" cy="396875"/>
          </a:xfrm>
          <a:prstGeom prst="roundRect">
            <a:avLst>
              <a:gd name="adj" fmla="val 19198084"/>
            </a:avLst>
          </a:prstGeom>
          <a:solidFill>
            <a:srgbClr val="FC8337"/>
          </a:solidFill>
          <a:ln/>
        </p:spPr>
        <p:txBody>
          <a:bodyPr/>
          <a:lstStyle/>
          <a:p>
            <a:endParaRPr lang="en-US"/>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31875" y="1859955"/>
            <a:ext cx="178589" cy="178594"/>
          </a:xfrm>
          <a:prstGeom prst="rect">
            <a:avLst/>
          </a:prstGeom>
        </p:spPr>
      </p:pic>
      <p:sp>
        <p:nvSpPr>
          <p:cNvPr id="17" name="Text 12"/>
          <p:cNvSpPr/>
          <p:nvPr/>
        </p:nvSpPr>
        <p:spPr>
          <a:xfrm>
            <a:off x="8122737" y="2253456"/>
            <a:ext cx="1653836" cy="206673"/>
          </a:xfrm>
          <a:prstGeom prst="rect">
            <a:avLst/>
          </a:prstGeom>
          <a:noFill/>
          <a:ln/>
        </p:spPr>
        <p:txBody>
          <a:bodyPr wrap="none" lIns="0" tIns="0" rIns="0" bIns="0" rtlCol="0" anchor="t"/>
          <a:lstStyle/>
          <a:p>
            <a:pPr marL="0" indent="0" algn="l">
              <a:lnSpc>
                <a:spcPct val="104000"/>
              </a:lnSpc>
              <a:buNone/>
            </a:pPr>
            <a:r>
              <a:rPr lang="en-US" sz="1300" dirty="0">
                <a:solidFill>
                  <a:srgbClr val="E5E0DF"/>
                </a:solidFill>
                <a:latin typeface="Saira Medium" pitchFamily="34" charset="0"/>
                <a:ea typeface="Saira Medium" pitchFamily="34" charset="-122"/>
                <a:cs typeface="Saira Medium" pitchFamily="34" charset="-120"/>
              </a:rPr>
              <a:t>Booking Service</a:t>
            </a:r>
            <a:endParaRPr lang="en-US" sz="1300" dirty="0"/>
          </a:p>
        </p:txBody>
      </p:sp>
      <p:sp>
        <p:nvSpPr>
          <p:cNvPr id="18" name="Text 13"/>
          <p:cNvSpPr/>
          <p:nvPr/>
        </p:nvSpPr>
        <p:spPr>
          <a:xfrm>
            <a:off x="8122737" y="2523629"/>
            <a:ext cx="3262529" cy="381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E5E0DF"/>
                </a:solidFill>
                <a:latin typeface="Roboto" pitchFamily="34" charset="0"/>
                <a:ea typeface="Roboto" pitchFamily="34" charset="-122"/>
                <a:cs typeface="Roboto" pitchFamily="34" charset="-120"/>
              </a:rPr>
              <a:t>Reservation lifecycle, payment coordination, and Saga-driven distributed transactions.</a:t>
            </a:r>
            <a:endParaRPr lang="en-US" sz="1000" dirty="0"/>
          </a:p>
        </p:txBody>
      </p:sp>
      <p:sp>
        <p:nvSpPr>
          <p:cNvPr id="19" name="Shape 14"/>
          <p:cNvSpPr/>
          <p:nvPr/>
        </p:nvSpPr>
        <p:spPr>
          <a:xfrm>
            <a:off x="661475" y="3155355"/>
            <a:ext cx="5381490" cy="1443732"/>
          </a:xfrm>
          <a:prstGeom prst="roundRect">
            <a:avLst>
              <a:gd name="adj" fmla="val 8248"/>
            </a:avLst>
          </a:prstGeom>
          <a:solidFill>
            <a:srgbClr val="030303"/>
          </a:solidFill>
          <a:ln w="12700">
            <a:solidFill>
              <a:srgbClr val="FC8337"/>
            </a:solidFill>
            <a:prstDash val="solid"/>
          </a:ln>
        </p:spPr>
        <p:txBody>
          <a:bodyPr/>
          <a:lstStyle/>
          <a:p>
            <a:endParaRPr lang="en-US" dirty="0"/>
          </a:p>
        </p:txBody>
      </p:sp>
      <p:sp>
        <p:nvSpPr>
          <p:cNvPr id="20" name="Shape 15"/>
          <p:cNvSpPr/>
          <p:nvPr/>
        </p:nvSpPr>
        <p:spPr>
          <a:xfrm>
            <a:off x="806430" y="3300313"/>
            <a:ext cx="396865" cy="396875"/>
          </a:xfrm>
          <a:prstGeom prst="roundRect">
            <a:avLst>
              <a:gd name="adj" fmla="val 19198084"/>
            </a:avLst>
          </a:prstGeom>
          <a:solidFill>
            <a:srgbClr val="FC8337"/>
          </a:solidFill>
          <a:ln/>
        </p:spPr>
        <p:txBody>
          <a:bodyPr/>
          <a:lstStyle/>
          <a:p>
            <a:endParaRPr lang="en-US" dirty="0"/>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15568" y="3409454"/>
            <a:ext cx="178589" cy="178594"/>
          </a:xfrm>
          <a:prstGeom prst="rect">
            <a:avLst/>
          </a:prstGeom>
        </p:spPr>
      </p:pic>
      <p:sp>
        <p:nvSpPr>
          <p:cNvPr id="22" name="Text 16"/>
          <p:cNvSpPr/>
          <p:nvPr/>
        </p:nvSpPr>
        <p:spPr>
          <a:xfrm>
            <a:off x="806430" y="3802955"/>
            <a:ext cx="1653836" cy="206673"/>
          </a:xfrm>
          <a:prstGeom prst="rect">
            <a:avLst/>
          </a:prstGeom>
          <a:noFill/>
          <a:ln/>
        </p:spPr>
        <p:txBody>
          <a:bodyPr wrap="none" lIns="0" tIns="0" rIns="0" bIns="0" rtlCol="0" anchor="t"/>
          <a:lstStyle/>
          <a:p>
            <a:pPr marL="0" indent="0" algn="l">
              <a:lnSpc>
                <a:spcPct val="104000"/>
              </a:lnSpc>
              <a:buNone/>
            </a:pPr>
            <a:r>
              <a:rPr lang="en-US" sz="1300" dirty="0">
                <a:solidFill>
                  <a:srgbClr val="E5E0DF"/>
                </a:solidFill>
                <a:latin typeface="Saira Medium" pitchFamily="34" charset="0"/>
                <a:ea typeface="Saira Medium" pitchFamily="34" charset="-122"/>
                <a:cs typeface="Saira Medium" pitchFamily="34" charset="-120"/>
              </a:rPr>
              <a:t>Baggage Service</a:t>
            </a:r>
            <a:endParaRPr lang="en-US" sz="1300" dirty="0"/>
          </a:p>
        </p:txBody>
      </p:sp>
      <p:sp>
        <p:nvSpPr>
          <p:cNvPr id="23" name="Text 17"/>
          <p:cNvSpPr/>
          <p:nvPr/>
        </p:nvSpPr>
        <p:spPr>
          <a:xfrm>
            <a:off x="806430" y="4073128"/>
            <a:ext cx="5091580" cy="190500"/>
          </a:xfrm>
          <a:prstGeom prst="rect">
            <a:avLst/>
          </a:prstGeom>
          <a:noFill/>
          <a:ln/>
        </p:spPr>
        <p:txBody>
          <a:bodyPr wrap="none" lIns="0" tIns="0" rIns="0" bIns="0" rtlCol="0" anchor="t"/>
          <a:lstStyle/>
          <a:p>
            <a:pPr marL="0" indent="0" algn="l">
              <a:lnSpc>
                <a:spcPct val="120000"/>
              </a:lnSpc>
              <a:buNone/>
            </a:pPr>
            <a:r>
              <a:rPr lang="en-US" sz="1000" dirty="0">
                <a:solidFill>
                  <a:srgbClr val="E5E0DF"/>
                </a:solidFill>
                <a:latin typeface="Roboto" pitchFamily="34" charset="0"/>
                <a:ea typeface="Roboto" pitchFamily="34" charset="-122"/>
                <a:cs typeface="Roboto" pitchFamily="34" charset="-120"/>
              </a:rPr>
              <a:t>Baggage allowance rules, tracking, and event-driven updates via EventBridge.</a:t>
            </a:r>
            <a:endParaRPr lang="en-US" sz="1000" dirty="0"/>
          </a:p>
        </p:txBody>
      </p:sp>
      <p:sp>
        <p:nvSpPr>
          <p:cNvPr id="24" name="Shape 18"/>
          <p:cNvSpPr/>
          <p:nvPr/>
        </p:nvSpPr>
        <p:spPr>
          <a:xfrm>
            <a:off x="6148730" y="3155355"/>
            <a:ext cx="5381490" cy="1443732"/>
          </a:xfrm>
          <a:prstGeom prst="roundRect">
            <a:avLst>
              <a:gd name="adj" fmla="val 8248"/>
            </a:avLst>
          </a:prstGeom>
          <a:solidFill>
            <a:srgbClr val="030303"/>
          </a:solidFill>
          <a:ln w="12700">
            <a:solidFill>
              <a:srgbClr val="FC8337"/>
            </a:solidFill>
            <a:prstDash val="solid"/>
          </a:ln>
        </p:spPr>
        <p:txBody>
          <a:bodyPr/>
          <a:lstStyle/>
          <a:p>
            <a:endParaRPr lang="en-US"/>
          </a:p>
        </p:txBody>
      </p:sp>
      <p:sp>
        <p:nvSpPr>
          <p:cNvPr id="25" name="Shape 19"/>
          <p:cNvSpPr/>
          <p:nvPr/>
        </p:nvSpPr>
        <p:spPr>
          <a:xfrm>
            <a:off x="6293685" y="3300313"/>
            <a:ext cx="396865" cy="396875"/>
          </a:xfrm>
          <a:prstGeom prst="roundRect">
            <a:avLst>
              <a:gd name="adj" fmla="val 19198084"/>
            </a:avLst>
          </a:prstGeom>
          <a:solidFill>
            <a:srgbClr val="FC8337"/>
          </a:solidFill>
          <a:ln/>
        </p:spPr>
        <p:txBody>
          <a:bodyPr/>
          <a:lstStyle/>
          <a:p>
            <a:endParaRPr lang="en-US"/>
          </a:p>
        </p:txBody>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02823" y="3409454"/>
            <a:ext cx="178589" cy="178594"/>
          </a:xfrm>
          <a:prstGeom prst="rect">
            <a:avLst/>
          </a:prstGeom>
        </p:spPr>
      </p:pic>
      <p:sp>
        <p:nvSpPr>
          <p:cNvPr id="27" name="Text 20"/>
          <p:cNvSpPr/>
          <p:nvPr/>
        </p:nvSpPr>
        <p:spPr>
          <a:xfrm>
            <a:off x="6293685" y="3802955"/>
            <a:ext cx="1653836" cy="206673"/>
          </a:xfrm>
          <a:prstGeom prst="rect">
            <a:avLst/>
          </a:prstGeom>
          <a:noFill/>
          <a:ln/>
        </p:spPr>
        <p:txBody>
          <a:bodyPr wrap="none" lIns="0" tIns="0" rIns="0" bIns="0" rtlCol="0" anchor="t"/>
          <a:lstStyle/>
          <a:p>
            <a:pPr marL="0" indent="0" algn="l">
              <a:lnSpc>
                <a:spcPct val="104000"/>
              </a:lnSpc>
              <a:buNone/>
            </a:pPr>
            <a:r>
              <a:rPr lang="en-US" sz="1300" dirty="0">
                <a:solidFill>
                  <a:srgbClr val="E5E0DF"/>
                </a:solidFill>
                <a:latin typeface="Saira Medium" pitchFamily="34" charset="0"/>
                <a:ea typeface="Saira Medium" pitchFamily="34" charset="-122"/>
                <a:cs typeface="Saira Medium" pitchFamily="34" charset="-120"/>
              </a:rPr>
              <a:t>WebSocket Service</a:t>
            </a:r>
            <a:endParaRPr lang="en-US" sz="1300" dirty="0"/>
          </a:p>
        </p:txBody>
      </p:sp>
      <p:sp>
        <p:nvSpPr>
          <p:cNvPr id="28" name="Text 21"/>
          <p:cNvSpPr/>
          <p:nvPr/>
        </p:nvSpPr>
        <p:spPr>
          <a:xfrm>
            <a:off x="6293685" y="4073128"/>
            <a:ext cx="5091580" cy="381000"/>
          </a:xfrm>
          <a:prstGeom prst="rect">
            <a:avLst/>
          </a:prstGeom>
          <a:noFill/>
          <a:ln/>
        </p:spPr>
        <p:txBody>
          <a:bodyPr wrap="square" lIns="0" tIns="0" rIns="0" bIns="0" rtlCol="0" anchor="t">
            <a:normAutofit/>
          </a:bodyPr>
          <a:lstStyle/>
          <a:p>
            <a:pPr marL="0" indent="0" algn="l">
              <a:lnSpc>
                <a:spcPct val="120000"/>
              </a:lnSpc>
              <a:buNone/>
            </a:pPr>
            <a:r>
              <a:rPr lang="en-US" sz="1000" dirty="0">
                <a:solidFill>
                  <a:srgbClr val="E5E0DF"/>
                </a:solidFill>
                <a:latin typeface="Roboto" pitchFamily="34" charset="0"/>
                <a:ea typeface="Roboto" pitchFamily="34" charset="-122"/>
                <a:cs typeface="Roboto" pitchFamily="34" charset="-120"/>
              </a:rPr>
              <a:t>Real-time seat-map synchronization and live booking notifications without page refresh.</a:t>
            </a:r>
            <a:endParaRPr lang="en-US" sz="1000" dirty="0"/>
          </a:p>
        </p:txBody>
      </p:sp>
      <p:sp>
        <p:nvSpPr>
          <p:cNvPr id="32" name="Rectangle 31">
            <a:extLst>
              <a:ext uri="{FF2B5EF4-FFF2-40B4-BE49-F238E27FC236}">
                <a16:creationId xmlns:a16="http://schemas.microsoft.com/office/drawing/2014/main" id="{B69ED3E8-6A6D-7D31-5062-3210E3C5242F}"/>
              </a:ext>
            </a:extLst>
          </p:cNvPr>
          <p:cNvSpPr/>
          <p:nvPr/>
        </p:nvSpPr>
        <p:spPr>
          <a:xfrm>
            <a:off x="11087100" y="6540500"/>
            <a:ext cx="1047750" cy="24447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33" name="Shape 2">
            <a:extLst>
              <a:ext uri="{FF2B5EF4-FFF2-40B4-BE49-F238E27FC236}">
                <a16:creationId xmlns:a16="http://schemas.microsoft.com/office/drawing/2014/main" id="{AC4A7E5F-C5B0-4B55-F931-1B66BBB83C5A}"/>
              </a:ext>
            </a:extLst>
          </p:cNvPr>
          <p:cNvSpPr/>
          <p:nvPr/>
        </p:nvSpPr>
        <p:spPr>
          <a:xfrm>
            <a:off x="661425" y="4704854"/>
            <a:ext cx="10868745" cy="1983779"/>
          </a:xfrm>
          <a:prstGeom prst="roundRect">
            <a:avLst>
              <a:gd name="adj" fmla="val 8248"/>
            </a:avLst>
          </a:prstGeom>
          <a:solidFill>
            <a:srgbClr val="030303"/>
          </a:solidFill>
          <a:ln w="12700">
            <a:solidFill>
              <a:srgbClr val="FC8337"/>
            </a:solidFill>
            <a:prstDash val="solid"/>
          </a:ln>
        </p:spPr>
        <p:txBody>
          <a:bodyPr/>
          <a:lstStyle/>
          <a:p>
            <a:endParaRPr lang="en-US" dirty="0"/>
          </a:p>
        </p:txBody>
      </p:sp>
      <p:sp>
        <p:nvSpPr>
          <p:cNvPr id="34" name="Text 22"/>
          <p:cNvSpPr/>
          <p:nvPr/>
        </p:nvSpPr>
        <p:spPr>
          <a:xfrm>
            <a:off x="915568" y="4832877"/>
            <a:ext cx="4095557" cy="303610"/>
          </a:xfrm>
          <a:prstGeom prst="rect">
            <a:avLst/>
          </a:prstGeom>
          <a:noFill/>
          <a:ln/>
        </p:spPr>
        <p:txBody>
          <a:bodyPr wrap="none" lIns="0" tIns="0" rIns="0" bIns="0" rtlCol="0" anchor="t"/>
          <a:lstStyle/>
          <a:p>
            <a:pPr marL="0" indent="0" algn="l">
              <a:lnSpc>
                <a:spcPct val="104000"/>
              </a:lnSpc>
              <a:buNone/>
            </a:pPr>
            <a:r>
              <a:rPr lang="en-US" sz="2050" dirty="0">
                <a:solidFill>
                  <a:srgbClr val="FFFFFF"/>
                </a:solidFill>
                <a:latin typeface="Saira Medium" pitchFamily="34" charset="0"/>
                <a:ea typeface="Saira Medium" pitchFamily="34" charset="-122"/>
                <a:cs typeface="Saira Medium" pitchFamily="34" charset="-120"/>
              </a:rPr>
              <a:t>Serverless Notification Service</a:t>
            </a:r>
            <a:endParaRPr lang="en-US" sz="2050" dirty="0"/>
          </a:p>
        </p:txBody>
      </p:sp>
      <p:sp>
        <p:nvSpPr>
          <p:cNvPr id="35" name="Text 23"/>
          <p:cNvSpPr/>
          <p:nvPr/>
        </p:nvSpPr>
        <p:spPr>
          <a:xfrm>
            <a:off x="920666" y="5291131"/>
            <a:ext cx="2133442" cy="189745"/>
          </a:xfrm>
          <a:prstGeom prst="rect">
            <a:avLst/>
          </a:prstGeom>
          <a:noFill/>
          <a:ln/>
        </p:spPr>
        <p:txBody>
          <a:bodyPr wrap="none" lIns="0" tIns="0" rIns="0" bIns="0" rtlCol="0" anchor="t"/>
          <a:lstStyle/>
          <a:p>
            <a:pPr marL="0" indent="0" algn="l">
              <a:lnSpc>
                <a:spcPct val="104000"/>
              </a:lnSpc>
              <a:buNone/>
            </a:pPr>
            <a:r>
              <a:rPr lang="en-US" sz="1300" dirty="0">
                <a:solidFill>
                  <a:srgbClr val="FFFFFF"/>
                </a:solidFill>
                <a:latin typeface="Saira Medium" pitchFamily="34" charset="0"/>
                <a:ea typeface="Saira Medium" pitchFamily="34" charset="-122"/>
                <a:cs typeface="Saira Medium" pitchFamily="34" charset="-120"/>
              </a:rPr>
              <a:t>WebSocket Service</a:t>
            </a:r>
            <a:endParaRPr lang="en-US" sz="1300" dirty="0"/>
          </a:p>
        </p:txBody>
      </p:sp>
      <p:sp>
        <p:nvSpPr>
          <p:cNvPr id="36" name="Text 24"/>
          <p:cNvSpPr/>
          <p:nvPr/>
        </p:nvSpPr>
        <p:spPr>
          <a:xfrm>
            <a:off x="920666" y="5586643"/>
            <a:ext cx="10244597" cy="808898"/>
          </a:xfrm>
          <a:prstGeom prst="rect">
            <a:avLst/>
          </a:prstGeom>
          <a:noFill/>
          <a:ln/>
        </p:spPr>
        <p:txBody>
          <a:bodyPr wrap="square" lIns="0" tIns="0" rIns="0" bIns="0" rtlCol="0" anchor="t"/>
          <a:lstStyle/>
          <a:p>
            <a:pPr marL="0" indent="0" algn="l">
              <a:lnSpc>
                <a:spcPct val="120000"/>
              </a:lnSpc>
              <a:spcAft>
                <a:spcPts val="900"/>
              </a:spcAft>
              <a:buNone/>
            </a:pPr>
            <a:r>
              <a:rPr lang="en-US" sz="1000" dirty="0">
                <a:solidFill>
                  <a:srgbClr val="E5E0DF"/>
                </a:solidFill>
                <a:latin typeface="Roboto" pitchFamily="34" charset="0"/>
                <a:ea typeface="Roboto" pitchFamily="34" charset="-122"/>
                <a:cs typeface="Roboto" pitchFamily="34" charset="-120"/>
              </a:rPr>
              <a:t>Real-time seat-map synchronization and live booking notifications without page refresh.</a:t>
            </a:r>
            <a:endParaRPr lang="en-US" sz="1000" dirty="0"/>
          </a:p>
          <a:p>
            <a:pPr marL="0" indent="0" algn="l">
              <a:lnSpc>
                <a:spcPct val="120000"/>
              </a:lnSpc>
              <a:buNone/>
            </a:pPr>
            <a:r>
              <a:rPr lang="en-US" sz="1000" dirty="0">
                <a:solidFill>
                  <a:srgbClr val="E5E0DF"/>
                </a:solidFill>
                <a:latin typeface="Roboto" pitchFamily="34" charset="0"/>
                <a:ea typeface="Roboto" pitchFamily="34" charset="-122"/>
                <a:cs typeface="Roboto" pitchFamily="34" charset="-120"/>
              </a:rPr>
              <a:t>In parallel with the EKS-based microservices, a </a:t>
            </a:r>
            <a:r>
              <a:rPr lang="en-US" sz="1000" b="1" dirty="0">
                <a:solidFill>
                  <a:srgbClr val="E5E0DF"/>
                </a:solidFill>
                <a:latin typeface="Roboto" pitchFamily="34" charset="0"/>
                <a:ea typeface="Roboto" pitchFamily="34" charset="-122"/>
                <a:cs typeface="Roboto" pitchFamily="34" charset="-120"/>
              </a:rPr>
              <a:t>Serverless Notification Service</a:t>
            </a:r>
            <a:r>
              <a:rPr lang="en-US" sz="1000" dirty="0">
                <a:solidFill>
                  <a:srgbClr val="E5E0DF"/>
                </a:solidFill>
                <a:latin typeface="Roboto" pitchFamily="34" charset="0"/>
                <a:ea typeface="Roboto" pitchFamily="34" charset="-122"/>
                <a:cs typeface="Roboto" pitchFamily="34" charset="-120"/>
              </a:rPr>
              <a:t> runs on </a:t>
            </a:r>
            <a:r>
              <a:rPr lang="en-US" sz="1000" b="1" dirty="0">
                <a:solidFill>
                  <a:srgbClr val="E5E0DF"/>
                </a:solidFill>
                <a:latin typeface="Roboto" pitchFamily="34" charset="0"/>
                <a:ea typeface="Roboto" pitchFamily="34" charset="-122"/>
                <a:cs typeface="Roboto" pitchFamily="34" charset="-120"/>
              </a:rPr>
              <a:t>AWS Lambda</a:t>
            </a:r>
            <a:r>
              <a:rPr lang="en-US" sz="1000" dirty="0">
                <a:solidFill>
                  <a:srgbClr val="E5E0DF"/>
                </a:solidFill>
                <a:latin typeface="Roboto" pitchFamily="34" charset="0"/>
                <a:ea typeface="Roboto" pitchFamily="34" charset="-122"/>
                <a:cs typeface="Roboto" pitchFamily="34" charset="-120"/>
              </a:rPr>
              <a:t> as a lightweight complement to the container platform. EventBridge events trigger Lambda functions to send emails, SMS, and push notifications automatically — without provisioning or managing servers. Because Lambda scales on demand, the notification layer stays responsive during traffic spikes and integrates seamlessly into the event-driven architecture.</a:t>
            </a:r>
            <a:endParaRPr lang="en-US" sz="1000" dirty="0"/>
          </a:p>
        </p:txBody>
      </p:sp>
      <p:sp>
        <p:nvSpPr>
          <p:cNvPr id="38" name="Shape 15">
            <a:extLst>
              <a:ext uri="{FF2B5EF4-FFF2-40B4-BE49-F238E27FC236}">
                <a16:creationId xmlns:a16="http://schemas.microsoft.com/office/drawing/2014/main" id="{DE593F77-1DA3-E32E-52DA-4AB54D3FB0C8}"/>
              </a:ext>
            </a:extLst>
          </p:cNvPr>
          <p:cNvSpPr/>
          <p:nvPr/>
        </p:nvSpPr>
        <p:spPr>
          <a:xfrm>
            <a:off x="4861399" y="4833639"/>
            <a:ext cx="396865" cy="396875"/>
          </a:xfrm>
          <a:prstGeom prst="roundRect">
            <a:avLst>
              <a:gd name="adj" fmla="val 19198084"/>
            </a:avLst>
          </a:prstGeom>
          <a:solidFill>
            <a:srgbClr val="FC8337"/>
          </a:solidFill>
          <a:ln/>
        </p:spPr>
        <p:txBody>
          <a:bodyPr/>
          <a:lstStyle/>
          <a:p>
            <a:endParaRPr lang="en-US" dirty="0"/>
          </a:p>
        </p:txBody>
      </p:sp>
      <p:pic>
        <p:nvPicPr>
          <p:cNvPr id="41" name="Image 3" descr="preencoded.png">
            <a:extLst>
              <a:ext uri="{FF2B5EF4-FFF2-40B4-BE49-F238E27FC236}">
                <a16:creationId xmlns:a16="http://schemas.microsoft.com/office/drawing/2014/main" id="{D0703904-8E7C-171A-C5B1-EA71D1F99DE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70536" y="4934164"/>
            <a:ext cx="178589" cy="17859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15243"/>
            <a:ext cx="6559684" cy="490934"/>
          </a:xfrm>
          <a:prstGeom prst="rect">
            <a:avLst/>
          </a:prstGeom>
          <a:noFill/>
          <a:ln/>
        </p:spPr>
        <p:txBody>
          <a:bodyPr wrap="none" lIns="0" tIns="0" rIns="0" bIns="0" rtlCol="0" anchor="t"/>
          <a:lstStyle/>
          <a:p>
            <a:pPr marL="0" indent="0" algn="l">
              <a:lnSpc>
                <a:spcPct val="104000"/>
              </a:lnSpc>
              <a:buNone/>
            </a:pPr>
            <a:r>
              <a:rPr lang="en-US" sz="3050" dirty="0">
                <a:solidFill>
                  <a:srgbClr val="FFFFFF"/>
                </a:solidFill>
                <a:latin typeface="Saira Medium" pitchFamily="34" charset="0"/>
                <a:ea typeface="Saira Medium" pitchFamily="34" charset="-122"/>
                <a:cs typeface="Saira Medium" pitchFamily="34" charset="-120"/>
              </a:rPr>
              <a:t>Security &amp; Custom Authorization</a:t>
            </a:r>
            <a:endParaRPr lang="en-US" sz="3050" dirty="0"/>
          </a:p>
        </p:txBody>
      </p:sp>
      <p:sp>
        <p:nvSpPr>
          <p:cNvPr id="3" name="Text 1"/>
          <p:cNvSpPr/>
          <p:nvPr/>
        </p:nvSpPr>
        <p:spPr>
          <a:xfrm>
            <a:off x="661475" y="1379240"/>
            <a:ext cx="3579425" cy="245566"/>
          </a:xfrm>
          <a:prstGeom prst="rect">
            <a:avLst/>
          </a:prstGeom>
          <a:noFill/>
          <a:ln/>
        </p:spPr>
        <p:txBody>
          <a:bodyPr wrap="none" lIns="0" tIns="0" rIns="0" bIns="0" rtlCol="0" anchor="t"/>
          <a:lstStyle/>
          <a:p>
            <a:pPr marL="0" indent="0" algn="l">
              <a:lnSpc>
                <a:spcPct val="104000"/>
              </a:lnSpc>
              <a:buNone/>
            </a:pPr>
            <a:r>
              <a:rPr lang="en-US" sz="1500" dirty="0">
                <a:solidFill>
                  <a:srgbClr val="FFFFFF"/>
                </a:solidFill>
                <a:latin typeface="Saira Medium" pitchFamily="34" charset="0"/>
                <a:ea typeface="Saira Medium" pitchFamily="34" charset="-122"/>
                <a:cs typeface="Saira Medium" pitchFamily="34" charset="-120"/>
              </a:rPr>
              <a:t>JWT-Based Authentication Layer</a:t>
            </a:r>
            <a:endParaRPr lang="en-US" sz="1500" dirty="0"/>
          </a:p>
        </p:txBody>
      </p:sp>
      <p:sp>
        <p:nvSpPr>
          <p:cNvPr id="4" name="Text 2"/>
          <p:cNvSpPr/>
          <p:nvPr/>
        </p:nvSpPr>
        <p:spPr>
          <a:xfrm>
            <a:off x="661475" y="1774031"/>
            <a:ext cx="5805243" cy="980678"/>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E5E0DF"/>
                </a:solidFill>
                <a:latin typeface="Roboto" pitchFamily="34" charset="0"/>
                <a:ea typeface="Roboto" pitchFamily="34" charset="-122"/>
                <a:cs typeface="Roboto" pitchFamily="34" charset="-120"/>
              </a:rPr>
              <a:t>AeroLink implements a </a:t>
            </a:r>
            <a:r>
              <a:rPr lang="en-US" sz="1200" b="1" dirty="0">
                <a:solidFill>
                  <a:srgbClr val="E5E0DF"/>
                </a:solidFill>
                <a:latin typeface="Roboto" pitchFamily="34" charset="0"/>
                <a:ea typeface="Roboto" pitchFamily="34" charset="-122"/>
                <a:cs typeface="Roboto" pitchFamily="34" charset="-120"/>
              </a:rPr>
              <a:t>custom-built JWT authentication system</a:t>
            </a:r>
            <a:r>
              <a:rPr lang="en-US" sz="1200" dirty="0">
                <a:solidFill>
                  <a:srgbClr val="E5E0DF"/>
                </a:solidFill>
                <a:latin typeface="Roboto" pitchFamily="34" charset="0"/>
                <a:ea typeface="Roboto" pitchFamily="34" charset="-122"/>
                <a:cs typeface="Roboto" pitchFamily="34" charset="-120"/>
              </a:rPr>
              <a:t> — avoiding vendor lock-in while maintaining full control over token claims, expiration policies, and refresh flows. Tokens are signed using RS256 asymmetric keys, with short-lived access tokens (15 min) and rotating refresh tokens.</a:t>
            </a:r>
            <a:endParaRPr lang="en-US" sz="1200" dirty="0"/>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0409" y="2927499"/>
            <a:ext cx="235639" cy="235645"/>
          </a:xfrm>
          <a:prstGeom prst="rect">
            <a:avLst/>
          </a:prstGeom>
        </p:spPr>
      </p:pic>
      <p:sp>
        <p:nvSpPr>
          <p:cNvPr id="6" name="Text 3"/>
          <p:cNvSpPr/>
          <p:nvPr/>
        </p:nvSpPr>
        <p:spPr>
          <a:xfrm>
            <a:off x="1172042" y="2922588"/>
            <a:ext cx="1963986" cy="245566"/>
          </a:xfrm>
          <a:prstGeom prst="rect">
            <a:avLst/>
          </a:prstGeom>
          <a:noFill/>
          <a:ln/>
        </p:spPr>
        <p:txBody>
          <a:bodyPr wrap="none" lIns="0" tIns="0" rIns="0" bIns="0" rtlCol="0" anchor="t"/>
          <a:lstStyle/>
          <a:p>
            <a:pPr marL="0" indent="0" algn="l">
              <a:lnSpc>
                <a:spcPct val="104000"/>
              </a:lnSpc>
              <a:buNone/>
            </a:pPr>
            <a:r>
              <a:rPr lang="en-US" sz="1500" dirty="0">
                <a:solidFill>
                  <a:srgbClr val="E5E0DF"/>
                </a:solidFill>
                <a:latin typeface="Saira Medium" pitchFamily="34" charset="0"/>
                <a:ea typeface="Saira Medium" pitchFamily="34" charset="-122"/>
                <a:cs typeface="Saira Medium" pitchFamily="34" charset="-120"/>
              </a:rPr>
              <a:t>Password Hashing</a:t>
            </a:r>
            <a:endParaRPr lang="en-US" sz="1500" dirty="0"/>
          </a:p>
        </p:txBody>
      </p:sp>
      <p:sp>
        <p:nvSpPr>
          <p:cNvPr id="7" name="Text 4"/>
          <p:cNvSpPr/>
          <p:nvPr/>
        </p:nvSpPr>
        <p:spPr>
          <a:xfrm>
            <a:off x="1172042" y="3317379"/>
            <a:ext cx="5294676" cy="49033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E5E0DF"/>
                </a:solidFill>
                <a:latin typeface="Roboto" pitchFamily="34" charset="0"/>
                <a:ea typeface="Roboto" pitchFamily="34" charset="-122"/>
                <a:cs typeface="Roboto" pitchFamily="34" charset="-120"/>
              </a:rPr>
              <a:t>All credentials are hashed using </a:t>
            </a:r>
            <a:r>
              <a:rPr lang="en-US" sz="1200" b="1" dirty="0">
                <a:solidFill>
                  <a:srgbClr val="E5E0DF"/>
                </a:solidFill>
                <a:latin typeface="Roboto" pitchFamily="34" charset="0"/>
                <a:ea typeface="Roboto" pitchFamily="34" charset="-122"/>
                <a:cs typeface="Roboto" pitchFamily="34" charset="-120"/>
              </a:rPr>
              <a:t>bcrypt</a:t>
            </a:r>
            <a:r>
              <a:rPr lang="en-US" sz="1200" dirty="0">
                <a:solidFill>
                  <a:srgbClr val="E5E0DF"/>
                </a:solidFill>
                <a:latin typeface="Roboto" pitchFamily="34" charset="0"/>
                <a:ea typeface="Roboto" pitchFamily="34" charset="-122"/>
                <a:cs typeface="Roboto" pitchFamily="34" charset="-120"/>
              </a:rPr>
              <a:t> with a cost factor of 12 before storage in DynamoDB.</a:t>
            </a:r>
            <a:endParaRPr lang="en-US" sz="12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0409" y="4111079"/>
            <a:ext cx="235639" cy="235645"/>
          </a:xfrm>
          <a:prstGeom prst="rect">
            <a:avLst/>
          </a:prstGeom>
        </p:spPr>
      </p:pic>
      <p:sp>
        <p:nvSpPr>
          <p:cNvPr id="9" name="Text 5"/>
          <p:cNvSpPr/>
          <p:nvPr/>
        </p:nvSpPr>
        <p:spPr>
          <a:xfrm>
            <a:off x="1172042" y="4106168"/>
            <a:ext cx="1963986" cy="245566"/>
          </a:xfrm>
          <a:prstGeom prst="rect">
            <a:avLst/>
          </a:prstGeom>
          <a:noFill/>
          <a:ln/>
        </p:spPr>
        <p:txBody>
          <a:bodyPr wrap="none" lIns="0" tIns="0" rIns="0" bIns="0" rtlCol="0" anchor="t"/>
          <a:lstStyle/>
          <a:p>
            <a:pPr marL="0" indent="0" algn="l">
              <a:lnSpc>
                <a:spcPct val="104000"/>
              </a:lnSpc>
              <a:buNone/>
            </a:pPr>
            <a:r>
              <a:rPr lang="en-US" sz="1500" dirty="0">
                <a:solidFill>
                  <a:srgbClr val="E5E0DF"/>
                </a:solidFill>
                <a:latin typeface="Saira Medium" pitchFamily="34" charset="0"/>
                <a:ea typeface="Saira Medium" pitchFamily="34" charset="-122"/>
                <a:cs typeface="Saira Medium" pitchFamily="34" charset="-120"/>
              </a:rPr>
              <a:t>Stateless RBAC</a:t>
            </a:r>
            <a:endParaRPr lang="en-US" sz="1500" dirty="0"/>
          </a:p>
        </p:txBody>
      </p:sp>
      <p:sp>
        <p:nvSpPr>
          <p:cNvPr id="10" name="Text 6"/>
          <p:cNvSpPr/>
          <p:nvPr/>
        </p:nvSpPr>
        <p:spPr>
          <a:xfrm>
            <a:off x="1172042" y="4500959"/>
            <a:ext cx="5294676" cy="49033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E5E0DF"/>
                </a:solidFill>
                <a:latin typeface="Roboto" pitchFamily="34" charset="0"/>
                <a:ea typeface="Roboto" pitchFamily="34" charset="-122"/>
                <a:cs typeface="Roboto" pitchFamily="34" charset="-120"/>
              </a:rPr>
              <a:t>Role-Based Access Control is encoded in JWT claims — each microservice independently validates permissions without a central auth lookup.</a:t>
            </a:r>
            <a:endParaRPr lang="en-US" sz="12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0409" y="5294660"/>
            <a:ext cx="235639" cy="235645"/>
          </a:xfrm>
          <a:prstGeom prst="rect">
            <a:avLst/>
          </a:prstGeom>
        </p:spPr>
      </p:pic>
      <p:sp>
        <p:nvSpPr>
          <p:cNvPr id="12" name="Text 7"/>
          <p:cNvSpPr/>
          <p:nvPr/>
        </p:nvSpPr>
        <p:spPr>
          <a:xfrm>
            <a:off x="1172042" y="5289748"/>
            <a:ext cx="2396668" cy="245566"/>
          </a:xfrm>
          <a:prstGeom prst="rect">
            <a:avLst/>
          </a:prstGeom>
          <a:noFill/>
          <a:ln/>
        </p:spPr>
        <p:txBody>
          <a:bodyPr wrap="none" lIns="0" tIns="0" rIns="0" bIns="0" rtlCol="0" anchor="t"/>
          <a:lstStyle/>
          <a:p>
            <a:pPr marL="0" indent="0" algn="l">
              <a:lnSpc>
                <a:spcPct val="104000"/>
              </a:lnSpc>
              <a:buNone/>
            </a:pPr>
            <a:r>
              <a:rPr lang="en-US" sz="1500" dirty="0">
                <a:solidFill>
                  <a:srgbClr val="E5E0DF"/>
                </a:solidFill>
                <a:latin typeface="Saira Medium" pitchFamily="34" charset="0"/>
                <a:ea typeface="Saira Medium" pitchFamily="34" charset="-122"/>
                <a:cs typeface="Saira Medium" pitchFamily="34" charset="-120"/>
              </a:rPr>
              <a:t>API Gateway Enforcement</a:t>
            </a:r>
            <a:endParaRPr lang="en-US" sz="1500" dirty="0"/>
          </a:p>
        </p:txBody>
      </p:sp>
      <p:sp>
        <p:nvSpPr>
          <p:cNvPr id="13" name="Text 8"/>
          <p:cNvSpPr/>
          <p:nvPr/>
        </p:nvSpPr>
        <p:spPr>
          <a:xfrm>
            <a:off x="1172042" y="5684540"/>
            <a:ext cx="5294676" cy="49033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E5E0DF"/>
                </a:solidFill>
                <a:latin typeface="Roboto" pitchFamily="34" charset="0"/>
                <a:ea typeface="Roboto" pitchFamily="34" charset="-122"/>
                <a:cs typeface="Roboto" pitchFamily="34" charset="-120"/>
              </a:rPr>
              <a:t>NGINX validates JWT signatures at the edge, rejecting unauthorized requests before they reach the EKS cluster.</a:t>
            </a:r>
            <a:endParaRPr lang="en-US" sz="1200" dirty="0"/>
          </a:p>
        </p:txBody>
      </p:sp>
      <p:sp>
        <p:nvSpPr>
          <p:cNvPr id="14" name="Shape 9"/>
          <p:cNvSpPr/>
          <p:nvPr/>
        </p:nvSpPr>
        <p:spPr>
          <a:xfrm>
            <a:off x="6743234" y="1230015"/>
            <a:ext cx="4906443" cy="5112742"/>
          </a:xfrm>
          <a:prstGeom prst="roundRect">
            <a:avLst>
              <a:gd name="adj" fmla="val 4611"/>
            </a:avLst>
          </a:prstGeom>
          <a:solidFill>
            <a:srgbClr val="FC8337">
              <a:alpha val="75000"/>
            </a:srgbClr>
          </a:solidFill>
          <a:ln/>
        </p:spPr>
        <p:txBody>
          <a:bodyPr/>
          <a:lstStyle/>
          <a:p>
            <a:endParaRPr lang="en-US" dirty="0"/>
          </a:p>
        </p:txBody>
      </p:sp>
      <p:sp>
        <p:nvSpPr>
          <p:cNvPr id="15" name="Text 10"/>
          <p:cNvSpPr/>
          <p:nvPr/>
        </p:nvSpPr>
        <p:spPr>
          <a:xfrm>
            <a:off x="6900293" y="1379240"/>
            <a:ext cx="3041971" cy="245566"/>
          </a:xfrm>
          <a:prstGeom prst="rect">
            <a:avLst/>
          </a:prstGeom>
          <a:noFill/>
          <a:ln/>
        </p:spPr>
        <p:txBody>
          <a:bodyPr wrap="none" lIns="0" tIns="0" rIns="0" bIns="0" rtlCol="0" anchor="t"/>
          <a:lstStyle/>
          <a:p>
            <a:pPr marL="0" indent="0" algn="l">
              <a:lnSpc>
                <a:spcPct val="104000"/>
              </a:lnSpc>
              <a:buNone/>
            </a:pPr>
            <a:r>
              <a:rPr lang="en-US" sz="1500" dirty="0">
                <a:solidFill>
                  <a:srgbClr val="000000"/>
                </a:solidFill>
                <a:latin typeface="Saira Medium" pitchFamily="34" charset="0"/>
                <a:ea typeface="Saira Medium" pitchFamily="34" charset="-122"/>
                <a:cs typeface="Saira Medium" pitchFamily="34" charset="-120"/>
              </a:rPr>
              <a:t>Security Principles Applied</a:t>
            </a:r>
            <a:endParaRPr lang="en-US" sz="1500" dirty="0"/>
          </a:p>
        </p:txBody>
      </p:sp>
      <p:sp>
        <p:nvSpPr>
          <p:cNvPr id="16" name="Text 11"/>
          <p:cNvSpPr/>
          <p:nvPr/>
        </p:nvSpPr>
        <p:spPr>
          <a:xfrm>
            <a:off x="6900293" y="1774031"/>
            <a:ext cx="4592324" cy="1434604"/>
          </a:xfrm>
          <a:prstGeom prst="rect">
            <a:avLst/>
          </a:prstGeom>
          <a:noFill/>
          <a:ln/>
        </p:spPr>
        <p:txBody>
          <a:bodyPr wrap="square" lIns="0" tIns="0" rIns="0" bIns="0" rtlCol="0" anchor="t">
            <a:normAutofit/>
          </a:bodyPr>
          <a:lstStyle/>
          <a:p>
            <a:pPr marL="342900" indent="-342900" algn="l">
              <a:lnSpc>
                <a:spcPct val="130000"/>
              </a:lnSpc>
              <a:buSzPct val="100000"/>
              <a:buChar char="•"/>
            </a:pPr>
            <a:r>
              <a:rPr lang="en-US" sz="1200" dirty="0">
                <a:solidFill>
                  <a:srgbClr val="000000"/>
                </a:solidFill>
                <a:latin typeface="Roboto" pitchFamily="34" charset="0"/>
                <a:ea typeface="Roboto" pitchFamily="34" charset="-122"/>
                <a:cs typeface="Roboto" pitchFamily="34" charset="-120"/>
              </a:rPr>
              <a:t>Zero-trust network model</a:t>
            </a:r>
            <a:endParaRPr lang="en-US" sz="1200" dirty="0"/>
          </a:p>
          <a:p>
            <a:pPr marL="342900" indent="-342900" algn="l">
              <a:lnSpc>
                <a:spcPct val="130000"/>
              </a:lnSpc>
              <a:buSzPct val="100000"/>
              <a:buChar char="•"/>
            </a:pPr>
            <a:r>
              <a:rPr lang="en-US" sz="1200" dirty="0">
                <a:solidFill>
                  <a:srgbClr val="000000"/>
                </a:solidFill>
                <a:latin typeface="Roboto" pitchFamily="34" charset="0"/>
                <a:ea typeface="Roboto" pitchFamily="34" charset="-122"/>
                <a:cs typeface="Roboto" pitchFamily="34" charset="-120"/>
              </a:rPr>
              <a:t>Least-privilege IAM roles per service</a:t>
            </a:r>
            <a:endParaRPr lang="en-US" sz="1200" dirty="0"/>
          </a:p>
          <a:p>
            <a:pPr marL="342900" indent="-342900" algn="l">
              <a:lnSpc>
                <a:spcPct val="130000"/>
              </a:lnSpc>
              <a:buSzPct val="100000"/>
              <a:buChar char="•"/>
            </a:pPr>
            <a:r>
              <a:rPr lang="en-US" sz="1200" dirty="0">
                <a:solidFill>
                  <a:srgbClr val="000000"/>
                </a:solidFill>
                <a:latin typeface="Roboto" pitchFamily="34" charset="0"/>
                <a:ea typeface="Roboto" pitchFamily="34" charset="-122"/>
                <a:cs typeface="Roboto" pitchFamily="34" charset="-120"/>
              </a:rPr>
              <a:t>TLS 1.3 in transit</a:t>
            </a:r>
            <a:endParaRPr lang="en-US" sz="1200" dirty="0"/>
          </a:p>
          <a:p>
            <a:pPr marL="342900" indent="-342900" algn="l">
              <a:lnSpc>
                <a:spcPct val="130000"/>
              </a:lnSpc>
              <a:buSzPct val="100000"/>
              <a:buChar char="•"/>
            </a:pPr>
            <a:r>
              <a:rPr lang="en-US" sz="1200" dirty="0">
                <a:solidFill>
                  <a:srgbClr val="000000"/>
                </a:solidFill>
                <a:latin typeface="Roboto" pitchFamily="34" charset="0"/>
                <a:ea typeface="Roboto" pitchFamily="34" charset="-122"/>
                <a:cs typeface="Roboto" pitchFamily="34" charset="-120"/>
              </a:rPr>
              <a:t>Encrypted secrets via AWS Secrets Manager</a:t>
            </a:r>
            <a:endParaRPr lang="en-US" sz="1200" dirty="0"/>
          </a:p>
          <a:p>
            <a:pPr marL="342900" indent="-342900" algn="l">
              <a:lnSpc>
                <a:spcPct val="130000"/>
              </a:lnSpc>
              <a:buSzPct val="100000"/>
              <a:buChar char="•"/>
            </a:pPr>
            <a:r>
              <a:rPr lang="en-US" sz="1200" dirty="0">
                <a:solidFill>
                  <a:srgbClr val="000000"/>
                </a:solidFill>
                <a:latin typeface="Roboto" pitchFamily="34" charset="0"/>
                <a:ea typeface="Roboto" pitchFamily="34" charset="-122"/>
                <a:cs typeface="Roboto" pitchFamily="34" charset="-120"/>
              </a:rPr>
              <a:t>Rate limiting to prevent brute-force attacks</a:t>
            </a:r>
            <a:endParaRPr lang="en-US" sz="1200" dirty="0"/>
          </a:p>
        </p:txBody>
      </p:sp>
      <p:sp>
        <p:nvSpPr>
          <p:cNvPr id="17" name="Rectangle 16">
            <a:extLst>
              <a:ext uri="{FF2B5EF4-FFF2-40B4-BE49-F238E27FC236}">
                <a16:creationId xmlns:a16="http://schemas.microsoft.com/office/drawing/2014/main" id="{29BDBB1E-41FD-79C1-4EAD-C249FD2E6243}"/>
              </a:ext>
            </a:extLst>
          </p:cNvPr>
          <p:cNvSpPr/>
          <p:nvPr/>
        </p:nvSpPr>
        <p:spPr>
          <a:xfrm>
            <a:off x="11087100" y="6540500"/>
            <a:ext cx="1047750" cy="24447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443B0EE4-A4C7-BD16-771B-0BF6470E9FE7}"/>
              </a:ext>
            </a:extLst>
          </p:cNvPr>
          <p:cNvPicPr>
            <a:picLocks noChangeAspect="1"/>
          </p:cNvPicPr>
          <p:nvPr/>
        </p:nvPicPr>
        <p:blipFill>
          <a:blip r:embed="rId4"/>
          <a:stretch>
            <a:fillRect/>
          </a:stretch>
        </p:blipFill>
        <p:spPr>
          <a:xfrm>
            <a:off x="8011285" y="3357860"/>
            <a:ext cx="2689221" cy="268922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601762"/>
            <a:ext cx="6854356" cy="490934"/>
          </a:xfrm>
          <a:prstGeom prst="rect">
            <a:avLst/>
          </a:prstGeom>
          <a:noFill/>
          <a:ln/>
        </p:spPr>
        <p:txBody>
          <a:bodyPr wrap="none" lIns="0" tIns="0" rIns="0" bIns="0" rtlCol="0" anchor="t"/>
          <a:lstStyle/>
          <a:p>
            <a:pPr marL="0" indent="0" algn="l">
              <a:lnSpc>
                <a:spcPct val="104000"/>
              </a:lnSpc>
              <a:buNone/>
            </a:pPr>
            <a:r>
              <a:rPr lang="en-US" sz="3050" dirty="0">
                <a:solidFill>
                  <a:srgbClr val="FFFFFF"/>
                </a:solidFill>
                <a:latin typeface="Saira Medium" pitchFamily="34" charset="0"/>
                <a:ea typeface="Saira Medium" pitchFamily="34" charset="-122"/>
                <a:cs typeface="Saira Medium" pitchFamily="34" charset="-120"/>
              </a:rPr>
              <a:t>Database &amp; Multi-Region Strategy</a:t>
            </a:r>
            <a:endParaRPr lang="en-US" sz="3050" dirty="0"/>
          </a:p>
        </p:txBody>
      </p:sp>
      <p:sp>
        <p:nvSpPr>
          <p:cNvPr id="3" name="Text 1"/>
          <p:cNvSpPr/>
          <p:nvPr/>
        </p:nvSpPr>
        <p:spPr>
          <a:xfrm>
            <a:off x="661475" y="1391146"/>
            <a:ext cx="10868745" cy="490339"/>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E5E0DF"/>
                </a:solidFill>
                <a:latin typeface="Roboto" pitchFamily="34" charset="0"/>
                <a:ea typeface="Roboto" pitchFamily="34" charset="-122"/>
                <a:cs typeface="Roboto" pitchFamily="34" charset="-120"/>
              </a:rPr>
              <a:t>AeroLink uses </a:t>
            </a:r>
            <a:r>
              <a:rPr lang="en-US" sz="1200" b="1" dirty="0">
                <a:solidFill>
                  <a:srgbClr val="E5E0DF"/>
                </a:solidFill>
                <a:latin typeface="Roboto" pitchFamily="34" charset="0"/>
                <a:ea typeface="Roboto" pitchFamily="34" charset="-122"/>
                <a:cs typeface="Roboto" pitchFamily="34" charset="-120"/>
              </a:rPr>
              <a:t>Amazon DynamoDB</a:t>
            </a:r>
            <a:r>
              <a:rPr lang="en-US" sz="1200" dirty="0">
                <a:solidFill>
                  <a:srgbClr val="E5E0DF"/>
                </a:solidFill>
                <a:latin typeface="Roboto" pitchFamily="34" charset="0"/>
                <a:ea typeface="Roboto" pitchFamily="34" charset="-122"/>
                <a:cs typeface="Roboto" pitchFamily="34" charset="-120"/>
              </a:rPr>
              <a:t> as its primary datastore — a fully managed, serverless NoSQL database offering single-digit millisecond latency at any scale. The critical differentiator is </a:t>
            </a:r>
            <a:r>
              <a:rPr lang="en-US" sz="1200" b="1" dirty="0">
                <a:solidFill>
                  <a:srgbClr val="FC8337"/>
                </a:solidFill>
                <a:latin typeface="Roboto" pitchFamily="34" charset="0"/>
                <a:ea typeface="Roboto" pitchFamily="34" charset="-122"/>
                <a:cs typeface="Roboto" pitchFamily="34" charset="-120"/>
              </a:rPr>
              <a:t>DynamoDB Global Tables</a:t>
            </a:r>
            <a:r>
              <a:rPr lang="en-US" sz="1200" dirty="0">
                <a:solidFill>
                  <a:srgbClr val="E5E0DF"/>
                </a:solidFill>
                <a:latin typeface="Roboto" pitchFamily="34" charset="0"/>
                <a:ea typeface="Roboto" pitchFamily="34" charset="-122"/>
                <a:cs typeface="Roboto" pitchFamily="34" charset="-120"/>
              </a:rPr>
              <a:t>, which provide Active-Active multi-region replication.</a:t>
            </a:r>
            <a:endParaRPr lang="en-US" sz="1200" dirty="0"/>
          </a:p>
        </p:txBody>
      </p:sp>
      <p:sp>
        <p:nvSpPr>
          <p:cNvPr id="4" name="Text 2"/>
          <p:cNvSpPr/>
          <p:nvPr/>
        </p:nvSpPr>
        <p:spPr>
          <a:xfrm>
            <a:off x="795020" y="2127845"/>
            <a:ext cx="5074019" cy="518517"/>
          </a:xfrm>
          <a:prstGeom prst="rect">
            <a:avLst/>
          </a:prstGeom>
          <a:noFill/>
          <a:ln/>
        </p:spPr>
        <p:txBody>
          <a:bodyPr wrap="none" lIns="0" tIns="0" rIns="0" bIns="0" rtlCol="0" anchor="t"/>
          <a:lstStyle/>
          <a:p>
            <a:pPr marL="0" indent="0" algn="ctr">
              <a:lnSpc>
                <a:spcPct val="83000"/>
              </a:lnSpc>
              <a:buNone/>
            </a:pPr>
            <a:r>
              <a:rPr lang="en-US" sz="4050" dirty="0">
                <a:solidFill>
                  <a:srgbClr val="E5E0DF"/>
                </a:solidFill>
                <a:latin typeface="Saira Medium" pitchFamily="34" charset="0"/>
                <a:ea typeface="Saira Medium" pitchFamily="34" charset="-122"/>
                <a:cs typeface="Saira Medium" pitchFamily="34" charset="-120"/>
              </a:rPr>
              <a:t>&lt;10ms</a:t>
            </a:r>
            <a:endParaRPr lang="en-US" sz="4050" dirty="0"/>
          </a:p>
        </p:txBody>
      </p:sp>
      <p:sp>
        <p:nvSpPr>
          <p:cNvPr id="5" name="Text 3"/>
          <p:cNvSpPr/>
          <p:nvPr/>
        </p:nvSpPr>
        <p:spPr>
          <a:xfrm>
            <a:off x="2350037" y="2836763"/>
            <a:ext cx="1963986" cy="245566"/>
          </a:xfrm>
          <a:prstGeom prst="rect">
            <a:avLst/>
          </a:prstGeom>
          <a:noFill/>
          <a:ln/>
        </p:spPr>
        <p:txBody>
          <a:bodyPr wrap="none" lIns="0" tIns="0" rIns="0" bIns="0" rtlCol="0" anchor="t"/>
          <a:lstStyle/>
          <a:p>
            <a:pPr marL="0" indent="0" algn="ctr">
              <a:lnSpc>
                <a:spcPct val="104000"/>
              </a:lnSpc>
              <a:buNone/>
            </a:pPr>
            <a:r>
              <a:rPr lang="en-US" sz="1500" dirty="0">
                <a:solidFill>
                  <a:srgbClr val="E5E0DF"/>
                </a:solidFill>
                <a:latin typeface="Saira Medium" pitchFamily="34" charset="0"/>
                <a:ea typeface="Saira Medium" pitchFamily="34" charset="-122"/>
                <a:cs typeface="Saira Medium" pitchFamily="34" charset="-120"/>
              </a:rPr>
              <a:t>Read Latency</a:t>
            </a:r>
            <a:endParaRPr lang="en-US" sz="1500" dirty="0"/>
          </a:p>
        </p:txBody>
      </p:sp>
      <p:sp>
        <p:nvSpPr>
          <p:cNvPr id="6" name="Text 4"/>
          <p:cNvSpPr/>
          <p:nvPr/>
        </p:nvSpPr>
        <p:spPr>
          <a:xfrm>
            <a:off x="661475" y="3171825"/>
            <a:ext cx="5341109" cy="245170"/>
          </a:xfrm>
          <a:prstGeom prst="rect">
            <a:avLst/>
          </a:prstGeom>
          <a:noFill/>
          <a:ln/>
        </p:spPr>
        <p:txBody>
          <a:bodyPr wrap="none" lIns="0" tIns="0" rIns="0" bIns="0" rtlCol="0" anchor="t"/>
          <a:lstStyle/>
          <a:p>
            <a:pPr marL="0" indent="0" algn="ctr">
              <a:lnSpc>
                <a:spcPct val="130000"/>
              </a:lnSpc>
              <a:buNone/>
            </a:pPr>
            <a:r>
              <a:rPr lang="en-US" sz="1200" dirty="0">
                <a:solidFill>
                  <a:srgbClr val="E5E0DF"/>
                </a:solidFill>
                <a:latin typeface="Roboto" pitchFamily="34" charset="0"/>
                <a:ea typeface="Roboto" pitchFamily="34" charset="-122"/>
                <a:cs typeface="Roboto" pitchFamily="34" charset="-120"/>
              </a:rPr>
              <a:t>Local region reads via Global Tables replication</a:t>
            </a:r>
            <a:endParaRPr lang="en-US" sz="1200" dirty="0"/>
          </a:p>
        </p:txBody>
      </p:sp>
      <p:sp>
        <p:nvSpPr>
          <p:cNvPr id="7" name="Text 5"/>
          <p:cNvSpPr/>
          <p:nvPr/>
        </p:nvSpPr>
        <p:spPr>
          <a:xfrm>
            <a:off x="6322656" y="2127845"/>
            <a:ext cx="5074019" cy="518517"/>
          </a:xfrm>
          <a:prstGeom prst="rect">
            <a:avLst/>
          </a:prstGeom>
          <a:noFill/>
          <a:ln/>
        </p:spPr>
        <p:txBody>
          <a:bodyPr wrap="none" lIns="0" tIns="0" rIns="0" bIns="0" rtlCol="0" anchor="t"/>
          <a:lstStyle/>
          <a:p>
            <a:pPr marL="0" indent="0" algn="ctr">
              <a:lnSpc>
                <a:spcPct val="83000"/>
              </a:lnSpc>
              <a:buNone/>
            </a:pPr>
            <a:r>
              <a:rPr lang="en-US" sz="4050" dirty="0">
                <a:solidFill>
                  <a:srgbClr val="E5E0DF"/>
                </a:solidFill>
                <a:latin typeface="Saira Medium" pitchFamily="34" charset="0"/>
                <a:ea typeface="Saira Medium" pitchFamily="34" charset="-122"/>
                <a:cs typeface="Saira Medium" pitchFamily="34" charset="-120"/>
              </a:rPr>
              <a:t>99.999%</a:t>
            </a:r>
            <a:endParaRPr lang="en-US" sz="4050" dirty="0"/>
          </a:p>
        </p:txBody>
      </p:sp>
      <p:sp>
        <p:nvSpPr>
          <p:cNvPr id="8" name="Text 6"/>
          <p:cNvSpPr/>
          <p:nvPr/>
        </p:nvSpPr>
        <p:spPr>
          <a:xfrm>
            <a:off x="7877672" y="2836763"/>
            <a:ext cx="1963986" cy="245566"/>
          </a:xfrm>
          <a:prstGeom prst="rect">
            <a:avLst/>
          </a:prstGeom>
          <a:noFill/>
          <a:ln/>
        </p:spPr>
        <p:txBody>
          <a:bodyPr wrap="none" lIns="0" tIns="0" rIns="0" bIns="0" rtlCol="0" anchor="t"/>
          <a:lstStyle/>
          <a:p>
            <a:pPr marL="0" indent="0" algn="ctr">
              <a:lnSpc>
                <a:spcPct val="104000"/>
              </a:lnSpc>
              <a:buNone/>
            </a:pPr>
            <a:r>
              <a:rPr lang="en-US" sz="1500" dirty="0">
                <a:solidFill>
                  <a:srgbClr val="E5E0DF"/>
                </a:solidFill>
                <a:latin typeface="Saira Medium" pitchFamily="34" charset="0"/>
                <a:ea typeface="Saira Medium" pitchFamily="34" charset="-122"/>
                <a:cs typeface="Saira Medium" pitchFamily="34" charset="-120"/>
              </a:rPr>
              <a:t>Availability SLA</a:t>
            </a:r>
            <a:endParaRPr lang="en-US" sz="1500" dirty="0"/>
          </a:p>
        </p:txBody>
      </p:sp>
      <p:sp>
        <p:nvSpPr>
          <p:cNvPr id="9" name="Text 7"/>
          <p:cNvSpPr/>
          <p:nvPr/>
        </p:nvSpPr>
        <p:spPr>
          <a:xfrm>
            <a:off x="6189111" y="3171825"/>
            <a:ext cx="5341109" cy="245170"/>
          </a:xfrm>
          <a:prstGeom prst="rect">
            <a:avLst/>
          </a:prstGeom>
          <a:noFill/>
          <a:ln/>
        </p:spPr>
        <p:txBody>
          <a:bodyPr wrap="none" lIns="0" tIns="0" rIns="0" bIns="0" rtlCol="0" anchor="t"/>
          <a:lstStyle/>
          <a:p>
            <a:pPr marL="0" indent="0" algn="ctr">
              <a:lnSpc>
                <a:spcPct val="130000"/>
              </a:lnSpc>
              <a:buNone/>
            </a:pPr>
            <a:r>
              <a:rPr lang="en-US" sz="1200" dirty="0">
                <a:solidFill>
                  <a:srgbClr val="E5E0DF"/>
                </a:solidFill>
                <a:latin typeface="Roboto" pitchFamily="34" charset="0"/>
                <a:ea typeface="Roboto" pitchFamily="34" charset="-122"/>
                <a:cs typeface="Roboto" pitchFamily="34" charset="-120"/>
              </a:rPr>
              <a:t>Multi-AZ + multi-region redundancy</a:t>
            </a:r>
            <a:endParaRPr lang="en-US" sz="1200" dirty="0"/>
          </a:p>
        </p:txBody>
      </p:sp>
      <p:sp>
        <p:nvSpPr>
          <p:cNvPr id="10" name="Text 8"/>
          <p:cNvSpPr/>
          <p:nvPr/>
        </p:nvSpPr>
        <p:spPr>
          <a:xfrm>
            <a:off x="795020" y="3793927"/>
            <a:ext cx="5074019" cy="518517"/>
          </a:xfrm>
          <a:prstGeom prst="rect">
            <a:avLst/>
          </a:prstGeom>
          <a:noFill/>
          <a:ln/>
        </p:spPr>
        <p:txBody>
          <a:bodyPr wrap="none" lIns="0" tIns="0" rIns="0" bIns="0" rtlCol="0" anchor="t"/>
          <a:lstStyle/>
          <a:p>
            <a:pPr marL="0" indent="0" algn="ctr">
              <a:lnSpc>
                <a:spcPct val="83000"/>
              </a:lnSpc>
              <a:buNone/>
            </a:pPr>
            <a:r>
              <a:rPr lang="en-US" sz="4050" dirty="0">
                <a:solidFill>
                  <a:srgbClr val="E5E0DF"/>
                </a:solidFill>
                <a:latin typeface="Saira Medium" pitchFamily="34" charset="0"/>
                <a:ea typeface="Saira Medium" pitchFamily="34" charset="-122"/>
                <a:cs typeface="Saira Medium" pitchFamily="34" charset="-120"/>
              </a:rPr>
              <a:t>3</a:t>
            </a:r>
            <a:endParaRPr lang="en-US" sz="4050" dirty="0"/>
          </a:p>
        </p:txBody>
      </p:sp>
      <p:sp>
        <p:nvSpPr>
          <p:cNvPr id="11" name="Text 9"/>
          <p:cNvSpPr/>
          <p:nvPr/>
        </p:nvSpPr>
        <p:spPr>
          <a:xfrm>
            <a:off x="2350037" y="4502845"/>
            <a:ext cx="1963986" cy="245566"/>
          </a:xfrm>
          <a:prstGeom prst="rect">
            <a:avLst/>
          </a:prstGeom>
          <a:noFill/>
          <a:ln/>
        </p:spPr>
        <p:txBody>
          <a:bodyPr wrap="none" lIns="0" tIns="0" rIns="0" bIns="0" rtlCol="0" anchor="t"/>
          <a:lstStyle/>
          <a:p>
            <a:pPr marL="0" indent="0" algn="ctr">
              <a:lnSpc>
                <a:spcPct val="104000"/>
              </a:lnSpc>
              <a:buNone/>
            </a:pPr>
            <a:r>
              <a:rPr lang="en-US" sz="1500" dirty="0">
                <a:solidFill>
                  <a:srgbClr val="E5E0DF"/>
                </a:solidFill>
                <a:latin typeface="Saira Medium" pitchFamily="34" charset="0"/>
                <a:ea typeface="Saira Medium" pitchFamily="34" charset="-122"/>
                <a:cs typeface="Saira Medium" pitchFamily="34" charset="-120"/>
              </a:rPr>
              <a:t>Regions Active</a:t>
            </a:r>
            <a:endParaRPr lang="en-US" sz="1500" dirty="0"/>
          </a:p>
        </p:txBody>
      </p:sp>
      <p:sp>
        <p:nvSpPr>
          <p:cNvPr id="12" name="Text 10"/>
          <p:cNvSpPr/>
          <p:nvPr/>
        </p:nvSpPr>
        <p:spPr>
          <a:xfrm>
            <a:off x="661475" y="4837906"/>
            <a:ext cx="5341109" cy="245170"/>
          </a:xfrm>
          <a:prstGeom prst="rect">
            <a:avLst/>
          </a:prstGeom>
          <a:noFill/>
          <a:ln/>
        </p:spPr>
        <p:txBody>
          <a:bodyPr wrap="none" lIns="0" tIns="0" rIns="0" bIns="0" rtlCol="0" anchor="t"/>
          <a:lstStyle/>
          <a:p>
            <a:pPr marL="0" indent="0" algn="ctr">
              <a:lnSpc>
                <a:spcPct val="130000"/>
              </a:lnSpc>
              <a:buNone/>
            </a:pPr>
            <a:r>
              <a:rPr lang="en-US" sz="1200" dirty="0">
                <a:solidFill>
                  <a:srgbClr val="E5E0DF"/>
                </a:solidFill>
                <a:latin typeface="Roboto" pitchFamily="34" charset="0"/>
                <a:ea typeface="Roboto" pitchFamily="34" charset="-122"/>
                <a:cs typeface="Roboto" pitchFamily="34" charset="-120"/>
              </a:rPr>
              <a:t>us-east-1, eu-west-1, ap-southeast-1</a:t>
            </a:r>
            <a:endParaRPr lang="en-US" sz="1200" dirty="0"/>
          </a:p>
        </p:txBody>
      </p:sp>
      <p:sp>
        <p:nvSpPr>
          <p:cNvPr id="13" name="Text 11"/>
          <p:cNvSpPr/>
          <p:nvPr/>
        </p:nvSpPr>
        <p:spPr>
          <a:xfrm>
            <a:off x="6322656" y="3793927"/>
            <a:ext cx="5074019" cy="518517"/>
          </a:xfrm>
          <a:prstGeom prst="rect">
            <a:avLst/>
          </a:prstGeom>
          <a:noFill/>
          <a:ln/>
        </p:spPr>
        <p:txBody>
          <a:bodyPr wrap="none" lIns="0" tIns="0" rIns="0" bIns="0" rtlCol="0" anchor="t"/>
          <a:lstStyle/>
          <a:p>
            <a:pPr marL="0" indent="0" algn="ctr">
              <a:lnSpc>
                <a:spcPct val="83000"/>
              </a:lnSpc>
              <a:buNone/>
            </a:pPr>
            <a:r>
              <a:rPr lang="en-US" sz="4050" dirty="0">
                <a:solidFill>
                  <a:srgbClr val="E5E0DF"/>
                </a:solidFill>
                <a:latin typeface="Saira Medium" pitchFamily="34" charset="0"/>
                <a:ea typeface="Saira Medium" pitchFamily="34" charset="-122"/>
                <a:cs typeface="Saira Medium" pitchFamily="34" charset="-120"/>
              </a:rPr>
              <a:t>0</a:t>
            </a:r>
            <a:endParaRPr lang="en-US" sz="4050" dirty="0"/>
          </a:p>
        </p:txBody>
      </p:sp>
      <p:sp>
        <p:nvSpPr>
          <p:cNvPr id="14" name="Text 12"/>
          <p:cNvSpPr/>
          <p:nvPr/>
        </p:nvSpPr>
        <p:spPr>
          <a:xfrm>
            <a:off x="7854158" y="4502845"/>
            <a:ext cx="2011015" cy="245566"/>
          </a:xfrm>
          <a:prstGeom prst="rect">
            <a:avLst/>
          </a:prstGeom>
          <a:noFill/>
          <a:ln/>
        </p:spPr>
        <p:txBody>
          <a:bodyPr wrap="none" lIns="0" tIns="0" rIns="0" bIns="0" rtlCol="0" anchor="t"/>
          <a:lstStyle/>
          <a:p>
            <a:pPr marL="0" indent="0" algn="ctr">
              <a:lnSpc>
                <a:spcPct val="104000"/>
              </a:lnSpc>
              <a:buNone/>
            </a:pPr>
            <a:r>
              <a:rPr lang="en-US" sz="1500" dirty="0">
                <a:solidFill>
                  <a:srgbClr val="E5E0DF"/>
                </a:solidFill>
                <a:latin typeface="Saira Medium" pitchFamily="34" charset="0"/>
                <a:ea typeface="Saira Medium" pitchFamily="34" charset="-122"/>
                <a:cs typeface="Saira Medium" pitchFamily="34" charset="-120"/>
              </a:rPr>
              <a:t>Downtime for Failover</a:t>
            </a:r>
            <a:endParaRPr lang="en-US" sz="1500" dirty="0"/>
          </a:p>
        </p:txBody>
      </p:sp>
      <p:sp>
        <p:nvSpPr>
          <p:cNvPr id="15" name="Text 13"/>
          <p:cNvSpPr/>
          <p:nvPr/>
        </p:nvSpPr>
        <p:spPr>
          <a:xfrm>
            <a:off x="6189111" y="4837906"/>
            <a:ext cx="5341109" cy="245170"/>
          </a:xfrm>
          <a:prstGeom prst="rect">
            <a:avLst/>
          </a:prstGeom>
          <a:noFill/>
          <a:ln/>
        </p:spPr>
        <p:txBody>
          <a:bodyPr wrap="none" lIns="0" tIns="0" rIns="0" bIns="0" rtlCol="0" anchor="t"/>
          <a:lstStyle/>
          <a:p>
            <a:pPr marL="0" indent="0" algn="ctr">
              <a:lnSpc>
                <a:spcPct val="130000"/>
              </a:lnSpc>
              <a:buNone/>
            </a:pPr>
            <a:r>
              <a:rPr lang="en-US" sz="1200" dirty="0">
                <a:solidFill>
                  <a:srgbClr val="E5E0DF"/>
                </a:solidFill>
                <a:latin typeface="Roboto" pitchFamily="34" charset="0"/>
                <a:ea typeface="Roboto" pitchFamily="34" charset="-122"/>
                <a:cs typeface="Roboto" pitchFamily="34" charset="-120"/>
              </a:rPr>
              <a:t>Automatic cross-region failover via Global Tables</a:t>
            </a:r>
            <a:endParaRPr lang="en-US" sz="1200" dirty="0"/>
          </a:p>
        </p:txBody>
      </p:sp>
      <p:sp>
        <p:nvSpPr>
          <p:cNvPr id="16" name="Shape 14"/>
          <p:cNvSpPr/>
          <p:nvPr/>
        </p:nvSpPr>
        <p:spPr>
          <a:xfrm>
            <a:off x="661475" y="5250954"/>
            <a:ext cx="10868745" cy="837406"/>
          </a:xfrm>
          <a:prstGeom prst="roundRect">
            <a:avLst>
              <a:gd name="adj" fmla="val 16887"/>
            </a:avLst>
          </a:prstGeom>
          <a:solidFill>
            <a:srgbClr val="022349"/>
          </a:solidFill>
          <a:ln/>
        </p:spPr>
        <p:txBody>
          <a:bodyPr/>
          <a:lstStyle/>
          <a:p>
            <a:endParaRPr lang="en-US"/>
          </a:p>
        </p:txBody>
      </p:sp>
      <p:pic>
        <p:nvPicPr>
          <p:cNvPr id="17" name="Image 0" descr="preencoded.png"/>
          <p:cNvPicPr>
            <a:picLocks noChangeAspect="1"/>
          </p:cNvPicPr>
          <p:nvPr/>
        </p:nvPicPr>
        <p:blipFill>
          <a:blip r:embed="rId3"/>
          <a:stretch>
            <a:fillRect/>
          </a:stretch>
        </p:blipFill>
        <p:spPr>
          <a:xfrm>
            <a:off x="818534" y="5474791"/>
            <a:ext cx="196349" cy="157063"/>
          </a:xfrm>
          <a:prstGeom prst="rect">
            <a:avLst/>
          </a:prstGeom>
        </p:spPr>
      </p:pic>
      <p:sp>
        <p:nvSpPr>
          <p:cNvPr id="18" name="Text 15"/>
          <p:cNvSpPr/>
          <p:nvPr/>
        </p:nvSpPr>
        <p:spPr>
          <a:xfrm>
            <a:off x="1171943" y="5424488"/>
            <a:ext cx="10201218" cy="490339"/>
          </a:xfrm>
          <a:prstGeom prst="rect">
            <a:avLst/>
          </a:prstGeom>
          <a:noFill/>
          <a:ln/>
        </p:spPr>
        <p:txBody>
          <a:bodyPr wrap="square" lIns="0" tIns="0" rIns="0" bIns="0" rtlCol="0" anchor="t">
            <a:normAutofit/>
          </a:bodyPr>
          <a:lstStyle/>
          <a:p>
            <a:pPr marL="0" indent="0" algn="l">
              <a:lnSpc>
                <a:spcPct val="130000"/>
              </a:lnSpc>
              <a:buNone/>
            </a:pPr>
            <a:r>
              <a:rPr lang="en-US" sz="1200" b="1" dirty="0">
                <a:solidFill>
                  <a:srgbClr val="FFFFFF"/>
                </a:solidFill>
                <a:latin typeface="Roboto" pitchFamily="34" charset="0"/>
                <a:ea typeface="Roboto" pitchFamily="34" charset="-122"/>
                <a:cs typeface="Roboto" pitchFamily="34" charset="-120"/>
              </a:rPr>
              <a:t>Why Global Tables?</a:t>
            </a:r>
            <a:r>
              <a:rPr lang="en-US" sz="1200" dirty="0">
                <a:solidFill>
                  <a:srgbClr val="FFFFFF"/>
                </a:solidFill>
                <a:latin typeface="Roboto" pitchFamily="34" charset="0"/>
                <a:ea typeface="Roboto" pitchFamily="34" charset="-122"/>
                <a:cs typeface="Roboto" pitchFamily="34" charset="-120"/>
              </a:rPr>
              <a:t> Passengers in London, Singapore, and New York all write to their nearest region. Changes replicate asynchronously within seconds, eliminating cross-ocean latency for booking operations.</a:t>
            </a:r>
            <a:endParaRPr lang="en-US" sz="1200" dirty="0"/>
          </a:p>
        </p:txBody>
      </p:sp>
      <p:sp>
        <p:nvSpPr>
          <p:cNvPr id="19" name="Rectangle 18">
            <a:extLst>
              <a:ext uri="{FF2B5EF4-FFF2-40B4-BE49-F238E27FC236}">
                <a16:creationId xmlns:a16="http://schemas.microsoft.com/office/drawing/2014/main" id="{9F947E61-61A4-6B37-2EF4-CDFCBAA39906}"/>
              </a:ext>
            </a:extLst>
          </p:cNvPr>
          <p:cNvSpPr/>
          <p:nvPr/>
        </p:nvSpPr>
        <p:spPr>
          <a:xfrm>
            <a:off x="11087100" y="6540500"/>
            <a:ext cx="1047750" cy="24447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629345"/>
            <a:ext cx="5075904" cy="387648"/>
          </a:xfrm>
          <a:prstGeom prst="rect">
            <a:avLst/>
          </a:prstGeom>
          <a:noFill/>
          <a:ln/>
        </p:spPr>
        <p:txBody>
          <a:bodyPr wrap="none" lIns="0" tIns="0" rIns="0" bIns="0" rtlCol="0" anchor="t"/>
          <a:lstStyle/>
          <a:p>
            <a:pPr marL="0" indent="0" algn="l">
              <a:lnSpc>
                <a:spcPct val="104000"/>
              </a:lnSpc>
              <a:buNone/>
            </a:pPr>
            <a:r>
              <a:rPr lang="en-US" sz="2400" dirty="0">
                <a:solidFill>
                  <a:srgbClr val="FFFFFF"/>
                </a:solidFill>
                <a:latin typeface="Saira Medium" pitchFamily="34" charset="0"/>
                <a:ea typeface="Saira Medium" pitchFamily="34" charset="-122"/>
                <a:cs typeface="Saira Medium" pitchFamily="34" charset="-120"/>
              </a:rPr>
              <a:t>Event-Driven &amp; Real-Time Sync</a:t>
            </a:r>
            <a:endParaRPr lang="en-US" sz="2400" dirty="0"/>
          </a:p>
        </p:txBody>
      </p:sp>
      <p:sp>
        <p:nvSpPr>
          <p:cNvPr id="3" name="Text 1"/>
          <p:cNvSpPr/>
          <p:nvPr/>
        </p:nvSpPr>
        <p:spPr>
          <a:xfrm>
            <a:off x="661475" y="1249462"/>
            <a:ext cx="3289515" cy="193774"/>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Saira Medium" pitchFamily="34" charset="0"/>
                <a:ea typeface="Saira Medium" pitchFamily="34" charset="-122"/>
                <a:cs typeface="Saira Medium" pitchFamily="34" charset="-120"/>
              </a:rPr>
              <a:t>AWS EventBridge — Async Event Bus</a:t>
            </a:r>
            <a:endParaRPr lang="en-US" sz="1200" dirty="0"/>
          </a:p>
        </p:txBody>
      </p:sp>
      <p:sp>
        <p:nvSpPr>
          <p:cNvPr id="4" name="Text 2"/>
          <p:cNvSpPr/>
          <p:nvPr/>
        </p:nvSpPr>
        <p:spPr>
          <a:xfrm>
            <a:off x="661475" y="1536204"/>
            <a:ext cx="5283068" cy="105459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E5E0DF"/>
                </a:solidFill>
                <a:latin typeface="Roboto" pitchFamily="34" charset="0"/>
                <a:ea typeface="Roboto" pitchFamily="34" charset="-122"/>
                <a:cs typeface="Roboto" pitchFamily="34" charset="-120"/>
              </a:rPr>
              <a:t>AeroLink uses </a:t>
            </a:r>
            <a:r>
              <a:rPr lang="en-US" sz="950" b="1" dirty="0">
                <a:solidFill>
                  <a:srgbClr val="E5E0DF"/>
                </a:solidFill>
                <a:latin typeface="Roboto" pitchFamily="34" charset="0"/>
                <a:ea typeface="Roboto" pitchFamily="34" charset="-122"/>
                <a:cs typeface="Roboto" pitchFamily="34" charset="-120"/>
              </a:rPr>
              <a:t>Amazon EventBridge</a:t>
            </a:r>
            <a:r>
              <a:rPr lang="en-US" sz="950" dirty="0">
                <a:solidFill>
                  <a:srgbClr val="E5E0DF"/>
                </a:solidFill>
                <a:latin typeface="Roboto" pitchFamily="34" charset="0"/>
                <a:ea typeface="Roboto" pitchFamily="34" charset="-122"/>
                <a:cs typeface="Roboto" pitchFamily="34" charset="-120"/>
              </a:rPr>
              <a:t> as a central event bus to decouple services. When a flight status changes, the Flight Service publishes an event — Booking, Baggage, and Notification services consume it independently without direct coupling.</a:t>
            </a:r>
            <a:endParaRPr lang="en-US" sz="950" dirty="0"/>
          </a:p>
        </p:txBody>
      </p:sp>
      <p:sp>
        <p:nvSpPr>
          <p:cNvPr id="5" name="Shape 3"/>
          <p:cNvSpPr/>
          <p:nvPr/>
        </p:nvSpPr>
        <p:spPr>
          <a:xfrm>
            <a:off x="518711" y="3110011"/>
            <a:ext cx="2595001" cy="907455"/>
          </a:xfrm>
          <a:prstGeom prst="roundRect">
            <a:avLst>
              <a:gd name="adj" fmla="val 12302"/>
            </a:avLst>
          </a:prstGeom>
          <a:solidFill>
            <a:srgbClr val="030303">
              <a:alpha val="75000"/>
            </a:srgbClr>
          </a:solidFill>
          <a:ln w="12700">
            <a:solidFill>
              <a:srgbClr val="FC8337"/>
            </a:solidFill>
            <a:prstDash val="solid"/>
          </a:ln>
        </p:spPr>
        <p:txBody>
          <a:bodyPr/>
          <a:lstStyle/>
          <a:p>
            <a:endParaRPr lang="en-US"/>
          </a:p>
        </p:txBody>
      </p:sp>
      <p:sp>
        <p:nvSpPr>
          <p:cNvPr id="6" name="Text 4"/>
          <p:cNvSpPr/>
          <p:nvPr/>
        </p:nvSpPr>
        <p:spPr>
          <a:xfrm>
            <a:off x="655431" y="3246734"/>
            <a:ext cx="1550750" cy="193774"/>
          </a:xfrm>
          <a:prstGeom prst="rect">
            <a:avLst/>
          </a:prstGeom>
          <a:noFill/>
          <a:ln/>
        </p:spPr>
        <p:txBody>
          <a:bodyPr wrap="none" lIns="0" tIns="0" rIns="0" bIns="0" rtlCol="0" anchor="t"/>
          <a:lstStyle/>
          <a:p>
            <a:pPr marL="0" indent="0" algn="l">
              <a:lnSpc>
                <a:spcPct val="104000"/>
              </a:lnSpc>
              <a:buNone/>
            </a:pPr>
            <a:r>
              <a:rPr lang="en-US" sz="1200" dirty="0">
                <a:solidFill>
                  <a:srgbClr val="E5E0DF"/>
                </a:solidFill>
                <a:latin typeface="Saira Medium" pitchFamily="34" charset="0"/>
                <a:ea typeface="Saira Medium" pitchFamily="34" charset="-122"/>
                <a:cs typeface="Saira Medium" pitchFamily="34" charset="-120"/>
              </a:rPr>
              <a:t>Flight Status Updates</a:t>
            </a:r>
            <a:endParaRPr lang="en-US" sz="1200" dirty="0"/>
          </a:p>
        </p:txBody>
      </p:sp>
      <p:sp>
        <p:nvSpPr>
          <p:cNvPr id="7" name="Text 5"/>
          <p:cNvSpPr/>
          <p:nvPr/>
        </p:nvSpPr>
        <p:spPr>
          <a:xfrm>
            <a:off x="655431" y="3533477"/>
            <a:ext cx="2321561"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E5E0DF"/>
                </a:solidFill>
                <a:latin typeface="Roboto" pitchFamily="34" charset="0"/>
                <a:ea typeface="Roboto" pitchFamily="34" charset="-122"/>
                <a:cs typeface="Roboto" pitchFamily="34" charset="-120"/>
              </a:rPr>
              <a:t>Propagated to all dependent services asynchronously</a:t>
            </a:r>
            <a:endParaRPr lang="en-US" sz="950" dirty="0"/>
          </a:p>
        </p:txBody>
      </p:sp>
      <p:sp>
        <p:nvSpPr>
          <p:cNvPr id="8" name="Shape 6"/>
          <p:cNvSpPr/>
          <p:nvPr/>
        </p:nvSpPr>
        <p:spPr>
          <a:xfrm>
            <a:off x="3206678" y="3110011"/>
            <a:ext cx="2595101" cy="907455"/>
          </a:xfrm>
          <a:prstGeom prst="roundRect">
            <a:avLst>
              <a:gd name="adj" fmla="val 12302"/>
            </a:avLst>
          </a:prstGeom>
          <a:solidFill>
            <a:srgbClr val="030303">
              <a:alpha val="75000"/>
            </a:srgbClr>
          </a:solidFill>
          <a:ln w="12700">
            <a:solidFill>
              <a:srgbClr val="FC8337"/>
            </a:solidFill>
            <a:prstDash val="solid"/>
          </a:ln>
        </p:spPr>
        <p:txBody>
          <a:bodyPr/>
          <a:lstStyle/>
          <a:p>
            <a:endParaRPr lang="en-US"/>
          </a:p>
        </p:txBody>
      </p:sp>
      <p:sp>
        <p:nvSpPr>
          <p:cNvPr id="9" name="Text 7"/>
          <p:cNvSpPr/>
          <p:nvPr/>
        </p:nvSpPr>
        <p:spPr>
          <a:xfrm>
            <a:off x="3343398" y="3246734"/>
            <a:ext cx="1640144" cy="193774"/>
          </a:xfrm>
          <a:prstGeom prst="rect">
            <a:avLst/>
          </a:prstGeom>
          <a:noFill/>
          <a:ln/>
        </p:spPr>
        <p:txBody>
          <a:bodyPr wrap="none" lIns="0" tIns="0" rIns="0" bIns="0" rtlCol="0" anchor="t"/>
          <a:lstStyle/>
          <a:p>
            <a:pPr marL="0" indent="0" algn="l">
              <a:lnSpc>
                <a:spcPct val="104000"/>
              </a:lnSpc>
              <a:buNone/>
            </a:pPr>
            <a:r>
              <a:rPr lang="en-US" sz="1200" dirty="0">
                <a:solidFill>
                  <a:srgbClr val="E5E0DF"/>
                </a:solidFill>
                <a:latin typeface="Saira Medium" pitchFamily="34" charset="0"/>
                <a:ea typeface="Saira Medium" pitchFamily="34" charset="-122"/>
                <a:cs typeface="Saira Medium" pitchFamily="34" charset="-120"/>
              </a:rPr>
              <a:t>Booking Confirmations</a:t>
            </a:r>
            <a:endParaRPr lang="en-US" sz="1200" dirty="0"/>
          </a:p>
        </p:txBody>
      </p:sp>
      <p:sp>
        <p:nvSpPr>
          <p:cNvPr id="10" name="Text 8"/>
          <p:cNvSpPr/>
          <p:nvPr/>
        </p:nvSpPr>
        <p:spPr>
          <a:xfrm>
            <a:off x="3343398" y="3533477"/>
            <a:ext cx="2321661" cy="347266"/>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E5E0DF"/>
                </a:solidFill>
                <a:latin typeface="Roboto" pitchFamily="34" charset="0"/>
                <a:ea typeface="Roboto" pitchFamily="34" charset="-122"/>
                <a:cs typeface="Roboto" pitchFamily="34" charset="-120"/>
              </a:rPr>
              <a:t>Triggers baggage allocation and email notifications</a:t>
            </a:r>
            <a:endParaRPr lang="en-US" sz="950" dirty="0"/>
          </a:p>
        </p:txBody>
      </p:sp>
      <p:sp>
        <p:nvSpPr>
          <p:cNvPr id="11" name="Shape 9"/>
          <p:cNvSpPr/>
          <p:nvPr/>
        </p:nvSpPr>
        <p:spPr>
          <a:xfrm>
            <a:off x="518711" y="4110434"/>
            <a:ext cx="5283068" cy="733822"/>
          </a:xfrm>
          <a:prstGeom prst="roundRect">
            <a:avLst>
              <a:gd name="adj" fmla="val 15213"/>
            </a:avLst>
          </a:prstGeom>
          <a:solidFill>
            <a:srgbClr val="030303">
              <a:alpha val="75000"/>
            </a:srgbClr>
          </a:solidFill>
          <a:ln w="12700">
            <a:solidFill>
              <a:srgbClr val="FC8337"/>
            </a:solidFill>
            <a:prstDash val="solid"/>
          </a:ln>
        </p:spPr>
        <p:txBody>
          <a:bodyPr/>
          <a:lstStyle/>
          <a:p>
            <a:endParaRPr lang="en-US"/>
          </a:p>
        </p:txBody>
      </p:sp>
      <p:sp>
        <p:nvSpPr>
          <p:cNvPr id="12" name="Text 10"/>
          <p:cNvSpPr/>
          <p:nvPr/>
        </p:nvSpPr>
        <p:spPr>
          <a:xfrm>
            <a:off x="655431" y="4247157"/>
            <a:ext cx="1550453" cy="193774"/>
          </a:xfrm>
          <a:prstGeom prst="rect">
            <a:avLst/>
          </a:prstGeom>
          <a:noFill/>
          <a:ln/>
        </p:spPr>
        <p:txBody>
          <a:bodyPr wrap="none" lIns="0" tIns="0" rIns="0" bIns="0" rtlCol="0" anchor="t"/>
          <a:lstStyle/>
          <a:p>
            <a:pPr marL="0" indent="0" algn="l">
              <a:lnSpc>
                <a:spcPct val="104000"/>
              </a:lnSpc>
              <a:buNone/>
            </a:pPr>
            <a:r>
              <a:rPr lang="en-US" sz="1200" dirty="0">
                <a:solidFill>
                  <a:srgbClr val="E5E0DF"/>
                </a:solidFill>
                <a:latin typeface="Saira Medium" pitchFamily="34" charset="0"/>
                <a:ea typeface="Saira Medium" pitchFamily="34" charset="-122"/>
                <a:cs typeface="Saira Medium" pitchFamily="34" charset="-120"/>
              </a:rPr>
              <a:t>Dead Letter Queues</a:t>
            </a:r>
            <a:endParaRPr lang="en-US" sz="1200" dirty="0"/>
          </a:p>
        </p:txBody>
      </p:sp>
      <p:sp>
        <p:nvSpPr>
          <p:cNvPr id="13" name="Text 11"/>
          <p:cNvSpPr/>
          <p:nvPr/>
        </p:nvSpPr>
        <p:spPr>
          <a:xfrm>
            <a:off x="655431" y="4533899"/>
            <a:ext cx="5009628" cy="173633"/>
          </a:xfrm>
          <a:prstGeom prst="rect">
            <a:avLst/>
          </a:prstGeom>
          <a:noFill/>
          <a:ln/>
        </p:spPr>
        <p:txBody>
          <a:bodyPr wrap="none" lIns="0" tIns="0" rIns="0" bIns="0" rtlCol="0" anchor="t"/>
          <a:lstStyle/>
          <a:p>
            <a:pPr marL="0" indent="0" algn="l">
              <a:lnSpc>
                <a:spcPct val="117000"/>
              </a:lnSpc>
              <a:buNone/>
            </a:pPr>
            <a:r>
              <a:rPr lang="en-US" sz="950" dirty="0">
                <a:solidFill>
                  <a:srgbClr val="E5E0DF"/>
                </a:solidFill>
                <a:latin typeface="Roboto" pitchFamily="34" charset="0"/>
                <a:ea typeface="Roboto" pitchFamily="34" charset="-122"/>
                <a:cs typeface="Roboto" pitchFamily="34" charset="-120"/>
              </a:rPr>
              <a:t>Failed events captured for replay and audit</a:t>
            </a:r>
            <a:endParaRPr lang="en-US" sz="950" dirty="0"/>
          </a:p>
        </p:txBody>
      </p:sp>
      <p:sp>
        <p:nvSpPr>
          <p:cNvPr id="14" name="Text 12"/>
          <p:cNvSpPr/>
          <p:nvPr/>
        </p:nvSpPr>
        <p:spPr>
          <a:xfrm>
            <a:off x="6253502" y="1249462"/>
            <a:ext cx="3047527" cy="193774"/>
          </a:xfrm>
          <a:prstGeom prst="rect">
            <a:avLst/>
          </a:prstGeom>
          <a:noFill/>
          <a:ln/>
        </p:spPr>
        <p:txBody>
          <a:bodyPr wrap="none" lIns="0" tIns="0" rIns="0" bIns="0" rtlCol="0" anchor="t"/>
          <a:lstStyle/>
          <a:p>
            <a:pPr marL="0" indent="0" algn="l">
              <a:lnSpc>
                <a:spcPct val="104000"/>
              </a:lnSpc>
              <a:buNone/>
            </a:pPr>
            <a:r>
              <a:rPr lang="en-US" sz="1200" dirty="0">
                <a:solidFill>
                  <a:srgbClr val="FFFFFF"/>
                </a:solidFill>
                <a:latin typeface="Saira Medium" pitchFamily="34" charset="0"/>
                <a:ea typeface="Saira Medium" pitchFamily="34" charset="-122"/>
                <a:cs typeface="Saira Medium" pitchFamily="34" charset="-120"/>
              </a:rPr>
              <a:t>WebSocket — Live Seat-Map Sync</a:t>
            </a:r>
            <a:endParaRPr lang="en-US" sz="1200" dirty="0"/>
          </a:p>
        </p:txBody>
      </p:sp>
      <p:sp>
        <p:nvSpPr>
          <p:cNvPr id="15" name="Text 13"/>
          <p:cNvSpPr/>
          <p:nvPr/>
        </p:nvSpPr>
        <p:spPr>
          <a:xfrm>
            <a:off x="6253502" y="1536204"/>
            <a:ext cx="5283068" cy="520898"/>
          </a:xfrm>
          <a:prstGeom prst="rect">
            <a:avLst/>
          </a:prstGeom>
          <a:noFill/>
          <a:ln/>
        </p:spPr>
        <p:txBody>
          <a:bodyPr wrap="square" lIns="0" tIns="0" rIns="0" bIns="0" rtlCol="0" anchor="t">
            <a:normAutofit/>
          </a:bodyPr>
          <a:lstStyle/>
          <a:p>
            <a:pPr marL="0" indent="0" algn="l">
              <a:lnSpc>
                <a:spcPct val="117000"/>
              </a:lnSpc>
              <a:buNone/>
            </a:pPr>
            <a:r>
              <a:rPr lang="en-US" sz="950" dirty="0">
                <a:solidFill>
                  <a:srgbClr val="E5E0DF"/>
                </a:solidFill>
                <a:latin typeface="Roboto" pitchFamily="34" charset="0"/>
                <a:ea typeface="Roboto" pitchFamily="34" charset="-122"/>
                <a:cs typeface="Roboto" pitchFamily="34" charset="-120"/>
              </a:rPr>
              <a:t>The dedicated </a:t>
            </a:r>
            <a:r>
              <a:rPr lang="en-US" sz="950" b="1" dirty="0">
                <a:solidFill>
                  <a:srgbClr val="E5E0DF"/>
                </a:solidFill>
                <a:latin typeface="Roboto" pitchFamily="34" charset="0"/>
                <a:ea typeface="Roboto" pitchFamily="34" charset="-122"/>
                <a:cs typeface="Roboto" pitchFamily="34" charset="-120"/>
              </a:rPr>
              <a:t>WebSocket Service</a:t>
            </a:r>
            <a:r>
              <a:rPr lang="en-US" sz="950" dirty="0">
                <a:solidFill>
                  <a:srgbClr val="E5E0DF"/>
                </a:solidFill>
                <a:latin typeface="Roboto" pitchFamily="34" charset="0"/>
                <a:ea typeface="Roboto" pitchFamily="34" charset="-122"/>
                <a:cs typeface="Roboto" pitchFamily="34" charset="-120"/>
              </a:rPr>
              <a:t> maintains persistent connections with clients. When a passenger selects a seat, the change broadcasts in real time to all other viewers of that flight — no polling, no page refresh.</a:t>
            </a:r>
            <a:endParaRPr lang="en-US" sz="950" dirty="0"/>
          </a:p>
        </p:txBody>
      </p:sp>
      <p:pic>
        <p:nvPicPr>
          <p:cNvPr id="16" name="Image 0" descr="preencoded.png"/>
          <p:cNvPicPr>
            <a:picLocks noChangeAspect="1"/>
          </p:cNvPicPr>
          <p:nvPr/>
        </p:nvPicPr>
        <p:blipFill>
          <a:blip r:embed="rId3"/>
          <a:stretch>
            <a:fillRect/>
          </a:stretch>
        </p:blipFill>
        <p:spPr>
          <a:xfrm>
            <a:off x="6253502" y="2161679"/>
            <a:ext cx="3962301" cy="3962400"/>
          </a:xfrm>
          <a:prstGeom prst="rect">
            <a:avLst/>
          </a:prstGeom>
        </p:spPr>
      </p:pic>
      <p:sp>
        <p:nvSpPr>
          <p:cNvPr id="17" name="Rectangle 16">
            <a:extLst>
              <a:ext uri="{FF2B5EF4-FFF2-40B4-BE49-F238E27FC236}">
                <a16:creationId xmlns:a16="http://schemas.microsoft.com/office/drawing/2014/main" id="{47EFFB52-44C7-D77E-C4D1-33A531F731C7}"/>
              </a:ext>
            </a:extLst>
          </p:cNvPr>
          <p:cNvSpPr/>
          <p:nvPr/>
        </p:nvSpPr>
        <p:spPr>
          <a:xfrm>
            <a:off x="11087100" y="6540500"/>
            <a:ext cx="1047750" cy="24447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51156" y="463848"/>
            <a:ext cx="4303010" cy="356195"/>
          </a:xfrm>
          <a:prstGeom prst="rect">
            <a:avLst/>
          </a:prstGeom>
          <a:noFill/>
          <a:ln/>
        </p:spPr>
        <p:txBody>
          <a:bodyPr wrap="none" lIns="0" tIns="0" rIns="0" bIns="0" rtlCol="0" anchor="t"/>
          <a:lstStyle/>
          <a:p>
            <a:pPr marL="0" indent="0" algn="l">
              <a:lnSpc>
                <a:spcPct val="104000"/>
              </a:lnSpc>
              <a:buNone/>
            </a:pPr>
            <a:r>
              <a:rPr lang="en-US" sz="2200" dirty="0">
                <a:solidFill>
                  <a:srgbClr val="FFFFFF"/>
                </a:solidFill>
                <a:latin typeface="Saira Medium" pitchFamily="34" charset="0"/>
                <a:ea typeface="Saira Medium" pitchFamily="34" charset="-122"/>
                <a:cs typeface="Saira Medium" pitchFamily="34" charset="-120"/>
              </a:rPr>
              <a:t>Resilience &amp; Fault Tolerance</a:t>
            </a:r>
            <a:endParaRPr lang="en-US" sz="2200" dirty="0"/>
          </a:p>
        </p:txBody>
      </p:sp>
      <p:sp>
        <p:nvSpPr>
          <p:cNvPr id="3" name="Text 1"/>
          <p:cNvSpPr/>
          <p:nvPr/>
        </p:nvSpPr>
        <p:spPr>
          <a:xfrm>
            <a:off x="651156" y="977007"/>
            <a:ext cx="11498967" cy="153987"/>
          </a:xfrm>
          <a:prstGeom prst="rect">
            <a:avLst/>
          </a:prstGeom>
          <a:noFill/>
          <a:ln/>
        </p:spPr>
        <p:txBody>
          <a:bodyPr wrap="none" lIns="0" tIns="0" rIns="0" bIns="0" rtlCol="0" anchor="t"/>
          <a:lstStyle/>
          <a:p>
            <a:pPr marL="0" indent="0" algn="l">
              <a:lnSpc>
                <a:spcPct val="113000"/>
              </a:lnSpc>
              <a:buNone/>
            </a:pPr>
            <a:r>
              <a:rPr lang="en-US" sz="850" dirty="0">
                <a:solidFill>
                  <a:srgbClr val="E5E0DF"/>
                </a:solidFill>
                <a:latin typeface="Roboto" pitchFamily="34" charset="0"/>
                <a:ea typeface="Roboto" pitchFamily="34" charset="-122"/>
                <a:cs typeface="Roboto" pitchFamily="34" charset="-120"/>
              </a:rPr>
              <a:t>Distributed systems introduce failure modes that monoliths never faced. AeroLink implements two critical patterns to ensure graceful degradation and data consistency under partial failure.</a:t>
            </a:r>
            <a:endParaRPr lang="en-US" sz="850" dirty="0"/>
          </a:p>
        </p:txBody>
      </p:sp>
      <p:sp>
        <p:nvSpPr>
          <p:cNvPr id="4" name="Shape 2"/>
          <p:cNvSpPr/>
          <p:nvPr/>
        </p:nvSpPr>
        <p:spPr>
          <a:xfrm>
            <a:off x="651156" y="1219299"/>
            <a:ext cx="10889382" cy="1094284"/>
          </a:xfrm>
          <a:prstGeom prst="roundRect">
            <a:avLst>
              <a:gd name="adj" fmla="val 9373"/>
            </a:avLst>
          </a:prstGeom>
          <a:solidFill>
            <a:srgbClr val="030303"/>
          </a:solidFill>
          <a:ln w="12700">
            <a:solidFill>
              <a:srgbClr val="FC8337"/>
            </a:solidFill>
            <a:prstDash val="solid"/>
          </a:ln>
        </p:spPr>
        <p:txBody>
          <a:bodyPr/>
          <a:lstStyle/>
          <a:p>
            <a:endParaRPr lang="en-US"/>
          </a:p>
        </p:txBody>
      </p:sp>
      <p:sp>
        <p:nvSpPr>
          <p:cNvPr id="5" name="Shape 3"/>
          <p:cNvSpPr/>
          <p:nvPr/>
        </p:nvSpPr>
        <p:spPr>
          <a:xfrm>
            <a:off x="663856" y="1231999"/>
            <a:ext cx="5431991" cy="1068884"/>
          </a:xfrm>
          <a:prstGeom prst="roundRect">
            <a:avLst>
              <a:gd name="adj" fmla="val 9596"/>
            </a:avLst>
          </a:prstGeom>
          <a:solidFill>
            <a:srgbClr val="030303"/>
          </a:solidFill>
          <a:ln/>
        </p:spPr>
        <p:txBody>
          <a:bodyPr/>
          <a:lstStyle/>
          <a:p>
            <a:endParaRPr lang="en-US"/>
          </a:p>
        </p:txBody>
      </p:sp>
      <p:sp>
        <p:nvSpPr>
          <p:cNvPr id="6" name="Text 4"/>
          <p:cNvSpPr/>
          <p:nvPr/>
        </p:nvSpPr>
        <p:spPr>
          <a:xfrm>
            <a:off x="777756" y="1345902"/>
            <a:ext cx="2672589" cy="178098"/>
          </a:xfrm>
          <a:prstGeom prst="rect">
            <a:avLst/>
          </a:prstGeom>
          <a:noFill/>
          <a:ln/>
        </p:spPr>
        <p:txBody>
          <a:bodyPr wrap="none" lIns="0" tIns="0" rIns="0" bIns="0" rtlCol="0" anchor="t"/>
          <a:lstStyle/>
          <a:p>
            <a:pPr marL="0" indent="0" algn="l">
              <a:lnSpc>
                <a:spcPct val="104000"/>
              </a:lnSpc>
              <a:buNone/>
            </a:pPr>
            <a:r>
              <a:rPr lang="en-US" sz="1100" dirty="0">
                <a:solidFill>
                  <a:srgbClr val="E5E0DF"/>
                </a:solidFill>
                <a:latin typeface="Saira Medium" pitchFamily="34" charset="0"/>
                <a:ea typeface="Saira Medium" pitchFamily="34" charset="-122"/>
                <a:cs typeface="Saira Medium" pitchFamily="34" charset="-120"/>
              </a:rPr>
              <a:t>Saga Pattern — Distributed Transactions</a:t>
            </a:r>
            <a:endParaRPr lang="en-US" sz="1100" dirty="0"/>
          </a:p>
        </p:txBody>
      </p:sp>
      <p:sp>
        <p:nvSpPr>
          <p:cNvPr id="7" name="Text 5"/>
          <p:cNvSpPr/>
          <p:nvPr/>
        </p:nvSpPr>
        <p:spPr>
          <a:xfrm>
            <a:off x="777756" y="1571030"/>
            <a:ext cx="5204191" cy="461963"/>
          </a:xfrm>
          <a:prstGeom prst="rect">
            <a:avLst/>
          </a:prstGeom>
          <a:noFill/>
          <a:ln/>
        </p:spPr>
        <p:txBody>
          <a:bodyPr wrap="square" lIns="0" tIns="0" rIns="0" bIns="0" rtlCol="0" anchor="t">
            <a:normAutofit/>
          </a:bodyPr>
          <a:lstStyle/>
          <a:p>
            <a:pPr marL="0" indent="0" algn="l">
              <a:lnSpc>
                <a:spcPct val="113000"/>
              </a:lnSpc>
              <a:buNone/>
            </a:pPr>
            <a:r>
              <a:rPr lang="en-US" sz="850" dirty="0">
                <a:solidFill>
                  <a:srgbClr val="E5E0DF"/>
                </a:solidFill>
                <a:latin typeface="Roboto" pitchFamily="34" charset="0"/>
                <a:ea typeface="Roboto" pitchFamily="34" charset="-122"/>
                <a:cs typeface="Roboto" pitchFamily="34" charset="-120"/>
              </a:rPr>
              <a:t>Booking a flight involves multiple services (Flight → Booking → Payment → Baggage). If any step fails, compensating transactions roll back prior steps — e.g., releasing a held seat if payment fails. Sagas are orchestrated via EventBridge with explicit compensation logic in each service.</a:t>
            </a:r>
            <a:endParaRPr lang="en-US" sz="850" dirty="0"/>
          </a:p>
        </p:txBody>
      </p:sp>
      <p:sp>
        <p:nvSpPr>
          <p:cNvPr id="8" name="Shape 6"/>
          <p:cNvSpPr/>
          <p:nvPr/>
        </p:nvSpPr>
        <p:spPr>
          <a:xfrm>
            <a:off x="6095848" y="1231999"/>
            <a:ext cx="5431991" cy="1068884"/>
          </a:xfrm>
          <a:prstGeom prst="rect">
            <a:avLst/>
          </a:prstGeom>
          <a:solidFill>
            <a:srgbClr val="030303"/>
          </a:solidFill>
          <a:ln/>
        </p:spPr>
        <p:txBody>
          <a:bodyPr/>
          <a:lstStyle/>
          <a:p>
            <a:endParaRPr lang="en-US"/>
          </a:p>
        </p:txBody>
      </p:sp>
      <p:sp>
        <p:nvSpPr>
          <p:cNvPr id="9" name="Shape 7"/>
          <p:cNvSpPr/>
          <p:nvPr/>
        </p:nvSpPr>
        <p:spPr>
          <a:xfrm>
            <a:off x="6095848" y="1231999"/>
            <a:ext cx="12700" cy="1068884"/>
          </a:xfrm>
          <a:prstGeom prst="roundRect">
            <a:avLst>
              <a:gd name="adj" fmla="val 807628"/>
            </a:avLst>
          </a:prstGeom>
          <a:solidFill>
            <a:srgbClr val="E2691D"/>
          </a:solidFill>
          <a:ln/>
        </p:spPr>
        <p:txBody>
          <a:bodyPr/>
          <a:lstStyle/>
          <a:p>
            <a:endParaRPr lang="en-US"/>
          </a:p>
        </p:txBody>
      </p:sp>
      <p:sp>
        <p:nvSpPr>
          <p:cNvPr id="10" name="Text 8"/>
          <p:cNvSpPr/>
          <p:nvPr/>
        </p:nvSpPr>
        <p:spPr>
          <a:xfrm>
            <a:off x="6209748" y="1345902"/>
            <a:ext cx="3068263" cy="178098"/>
          </a:xfrm>
          <a:prstGeom prst="rect">
            <a:avLst/>
          </a:prstGeom>
          <a:noFill/>
          <a:ln/>
        </p:spPr>
        <p:txBody>
          <a:bodyPr wrap="none" lIns="0" tIns="0" rIns="0" bIns="0" rtlCol="0" anchor="t"/>
          <a:lstStyle/>
          <a:p>
            <a:pPr marL="0" indent="0" algn="l">
              <a:lnSpc>
                <a:spcPct val="104000"/>
              </a:lnSpc>
              <a:buNone/>
            </a:pPr>
            <a:r>
              <a:rPr lang="en-US" sz="1100" dirty="0">
                <a:solidFill>
                  <a:srgbClr val="E5E0DF"/>
                </a:solidFill>
                <a:latin typeface="Saira Medium" pitchFamily="34" charset="0"/>
                <a:ea typeface="Saira Medium" pitchFamily="34" charset="-122"/>
                <a:cs typeface="Saira Medium" pitchFamily="34" charset="-120"/>
              </a:rPr>
              <a:t>Circuit Breaker — Cascading Failure Prevention</a:t>
            </a:r>
            <a:endParaRPr lang="en-US" sz="1100" dirty="0"/>
          </a:p>
        </p:txBody>
      </p:sp>
      <p:sp>
        <p:nvSpPr>
          <p:cNvPr id="11" name="Text 9"/>
          <p:cNvSpPr/>
          <p:nvPr/>
        </p:nvSpPr>
        <p:spPr>
          <a:xfrm>
            <a:off x="6209748" y="1571030"/>
            <a:ext cx="5204191" cy="615950"/>
          </a:xfrm>
          <a:prstGeom prst="rect">
            <a:avLst/>
          </a:prstGeom>
          <a:noFill/>
          <a:ln/>
        </p:spPr>
        <p:txBody>
          <a:bodyPr wrap="square" lIns="0" tIns="0" rIns="0" bIns="0" rtlCol="0" anchor="t">
            <a:normAutofit/>
          </a:bodyPr>
          <a:lstStyle/>
          <a:p>
            <a:pPr marL="0" indent="0" algn="l">
              <a:lnSpc>
                <a:spcPct val="113000"/>
              </a:lnSpc>
              <a:buNone/>
            </a:pPr>
            <a:r>
              <a:rPr lang="en-US" sz="850" dirty="0">
                <a:solidFill>
                  <a:srgbClr val="E5E0DF"/>
                </a:solidFill>
                <a:latin typeface="Roboto" pitchFamily="34" charset="0"/>
                <a:ea typeface="Roboto" pitchFamily="34" charset="-122"/>
                <a:cs typeface="Roboto" pitchFamily="34" charset="-120"/>
              </a:rPr>
              <a:t>Using the </a:t>
            </a:r>
            <a:r>
              <a:rPr lang="en-US" sz="850" b="1" dirty="0">
                <a:solidFill>
                  <a:srgbClr val="E5E0DF"/>
                </a:solidFill>
                <a:latin typeface="Roboto" pitchFamily="34" charset="0"/>
                <a:ea typeface="Roboto" pitchFamily="34" charset="-122"/>
                <a:cs typeface="Roboto" pitchFamily="34" charset="-120"/>
              </a:rPr>
              <a:t>opossum</a:t>
            </a:r>
            <a:r>
              <a:rPr lang="en-US" sz="850" dirty="0">
                <a:solidFill>
                  <a:srgbClr val="E5E0DF"/>
                </a:solidFill>
                <a:latin typeface="Roboto" pitchFamily="34" charset="0"/>
                <a:ea typeface="Roboto" pitchFamily="34" charset="-122"/>
                <a:cs typeface="Roboto" pitchFamily="34" charset="-120"/>
              </a:rPr>
              <a:t> library, each service wraps outbound calls with a circuit breaker. When a downstream service exceeds an error threshold, the circuit opens — returning a cached response or graceful fallback instead of waiting on a failing dependency. This prevents a single degraded service from collapsing the entire platform.</a:t>
            </a:r>
            <a:endParaRPr lang="en-US" sz="850" dirty="0"/>
          </a:p>
        </p:txBody>
      </p:sp>
      <p:pic>
        <p:nvPicPr>
          <p:cNvPr id="12" name="Image 0" descr="preencoded.png"/>
          <p:cNvPicPr>
            <a:picLocks noChangeAspect="1"/>
          </p:cNvPicPr>
          <p:nvPr/>
        </p:nvPicPr>
        <p:blipFill>
          <a:blip r:embed="rId3"/>
          <a:stretch>
            <a:fillRect/>
          </a:stretch>
        </p:blipFill>
        <p:spPr>
          <a:xfrm>
            <a:off x="2417504" y="2401888"/>
            <a:ext cx="7356589" cy="3595985"/>
          </a:xfrm>
          <a:prstGeom prst="rect">
            <a:avLst/>
          </a:prstGeom>
        </p:spPr>
      </p:pic>
      <p:sp>
        <p:nvSpPr>
          <p:cNvPr id="13" name="Text 10"/>
          <p:cNvSpPr/>
          <p:nvPr/>
        </p:nvSpPr>
        <p:spPr>
          <a:xfrm>
            <a:off x="2974464" y="3639145"/>
            <a:ext cx="1715027" cy="214384"/>
          </a:xfrm>
          <a:prstGeom prst="rect">
            <a:avLst/>
          </a:prstGeom>
          <a:noFill/>
          <a:ln/>
        </p:spPr>
        <p:txBody>
          <a:bodyPr wrap="none" lIns="0" tIns="0" rIns="0" bIns="0" rtlCol="0" anchor="t"/>
          <a:lstStyle/>
          <a:p>
            <a:pPr marL="0" indent="0" algn="ctr">
              <a:lnSpc>
                <a:spcPct val="104000"/>
              </a:lnSpc>
              <a:buNone/>
            </a:pPr>
            <a:r>
              <a:rPr lang="en-US" sz="1350" dirty="0">
                <a:solidFill>
                  <a:srgbClr val="E5E0DF"/>
                </a:solidFill>
                <a:latin typeface="Saira Medium" pitchFamily="34" charset="0"/>
                <a:ea typeface="Saira Medium" pitchFamily="34" charset="-122"/>
                <a:cs typeface="Saira Medium" pitchFamily="34" charset="-120"/>
              </a:rPr>
              <a:t>Closed</a:t>
            </a:r>
            <a:endParaRPr lang="en-US" sz="1350" dirty="0"/>
          </a:p>
        </p:txBody>
      </p:sp>
      <p:sp>
        <p:nvSpPr>
          <p:cNvPr id="14" name="Text 11"/>
          <p:cNvSpPr/>
          <p:nvPr/>
        </p:nvSpPr>
        <p:spPr>
          <a:xfrm>
            <a:off x="6656055" y="2815912"/>
            <a:ext cx="1715028" cy="214384"/>
          </a:xfrm>
          <a:prstGeom prst="rect">
            <a:avLst/>
          </a:prstGeom>
          <a:noFill/>
          <a:ln/>
        </p:spPr>
        <p:txBody>
          <a:bodyPr wrap="none" lIns="0" tIns="0" rIns="0" bIns="0" rtlCol="0" anchor="t"/>
          <a:lstStyle/>
          <a:p>
            <a:pPr marL="0" indent="0" algn="ctr">
              <a:lnSpc>
                <a:spcPct val="104000"/>
              </a:lnSpc>
              <a:buNone/>
            </a:pPr>
            <a:r>
              <a:rPr lang="en-US" sz="1350" dirty="0">
                <a:solidFill>
                  <a:srgbClr val="E5E0DF"/>
                </a:solidFill>
                <a:latin typeface="Saira Medium" pitchFamily="34" charset="0"/>
                <a:ea typeface="Saira Medium" pitchFamily="34" charset="-122"/>
                <a:cs typeface="Saira Medium" pitchFamily="34" charset="-120"/>
              </a:rPr>
              <a:t>Open</a:t>
            </a:r>
            <a:endParaRPr lang="en-US" sz="1350" dirty="0"/>
          </a:p>
        </p:txBody>
      </p:sp>
      <p:sp>
        <p:nvSpPr>
          <p:cNvPr id="15" name="Text 12"/>
          <p:cNvSpPr/>
          <p:nvPr/>
        </p:nvSpPr>
        <p:spPr>
          <a:xfrm>
            <a:off x="7502016" y="4508114"/>
            <a:ext cx="1715027" cy="214384"/>
          </a:xfrm>
          <a:prstGeom prst="rect">
            <a:avLst/>
          </a:prstGeom>
          <a:noFill/>
          <a:ln/>
        </p:spPr>
        <p:txBody>
          <a:bodyPr wrap="none" lIns="0" tIns="0" rIns="0" bIns="0" rtlCol="0" anchor="t"/>
          <a:lstStyle/>
          <a:p>
            <a:pPr marL="0" indent="0" algn="ctr">
              <a:lnSpc>
                <a:spcPct val="104000"/>
              </a:lnSpc>
              <a:buNone/>
            </a:pPr>
            <a:r>
              <a:rPr lang="en-US" sz="1350" dirty="0">
                <a:solidFill>
                  <a:srgbClr val="E5E0DF"/>
                </a:solidFill>
                <a:latin typeface="Saira Medium" pitchFamily="34" charset="0"/>
                <a:ea typeface="Saira Medium" pitchFamily="34" charset="-122"/>
                <a:cs typeface="Saira Medium" pitchFamily="34" charset="-120"/>
              </a:rPr>
              <a:t>Half-Open</a:t>
            </a:r>
            <a:endParaRPr lang="en-US" sz="1350" dirty="0"/>
          </a:p>
        </p:txBody>
      </p:sp>
      <p:sp>
        <p:nvSpPr>
          <p:cNvPr id="16" name="Text 13"/>
          <p:cNvSpPr/>
          <p:nvPr/>
        </p:nvSpPr>
        <p:spPr>
          <a:xfrm>
            <a:off x="3812921" y="5346593"/>
            <a:ext cx="1715027" cy="214384"/>
          </a:xfrm>
          <a:prstGeom prst="rect">
            <a:avLst/>
          </a:prstGeom>
          <a:noFill/>
          <a:ln/>
        </p:spPr>
        <p:txBody>
          <a:bodyPr wrap="none" lIns="0" tIns="0" rIns="0" bIns="0" rtlCol="0" anchor="t"/>
          <a:lstStyle/>
          <a:p>
            <a:pPr marL="0" indent="0" algn="ctr">
              <a:lnSpc>
                <a:spcPct val="104000"/>
              </a:lnSpc>
              <a:buNone/>
            </a:pPr>
            <a:r>
              <a:rPr lang="en-US" sz="1350" dirty="0">
                <a:solidFill>
                  <a:srgbClr val="E5E0DF"/>
                </a:solidFill>
                <a:latin typeface="Saira Medium" pitchFamily="34" charset="0"/>
                <a:ea typeface="Saira Medium" pitchFamily="34" charset="-122"/>
                <a:cs typeface="Saira Medium" pitchFamily="34" charset="-120"/>
              </a:rPr>
              <a:t>Monitor</a:t>
            </a:r>
            <a:endParaRPr lang="en-US" sz="1350" dirty="0"/>
          </a:p>
        </p:txBody>
      </p:sp>
      <p:sp>
        <p:nvSpPr>
          <p:cNvPr id="17" name="Text 14"/>
          <p:cNvSpPr/>
          <p:nvPr/>
        </p:nvSpPr>
        <p:spPr>
          <a:xfrm>
            <a:off x="651156" y="6086177"/>
            <a:ext cx="10889382" cy="307975"/>
          </a:xfrm>
          <a:prstGeom prst="rect">
            <a:avLst/>
          </a:prstGeom>
          <a:noFill/>
          <a:ln/>
        </p:spPr>
        <p:txBody>
          <a:bodyPr wrap="square" lIns="0" tIns="0" rIns="0" bIns="0" rtlCol="0" anchor="t">
            <a:normAutofit/>
          </a:bodyPr>
          <a:lstStyle/>
          <a:p>
            <a:pPr marL="0" indent="0" algn="l">
              <a:lnSpc>
                <a:spcPct val="113000"/>
              </a:lnSpc>
              <a:buNone/>
            </a:pPr>
            <a:r>
              <a:rPr lang="en-US" sz="850" dirty="0">
                <a:solidFill>
                  <a:srgbClr val="E5E0DF"/>
                </a:solidFill>
                <a:latin typeface="Roboto" pitchFamily="34" charset="0"/>
                <a:ea typeface="Roboto" pitchFamily="34" charset="-122"/>
                <a:cs typeface="Roboto" pitchFamily="34" charset="-120"/>
              </a:rPr>
              <a:t>The circuit breaker transitions through three states — Closed during normal operation, Open when failures exceed the threshold, and Half-Open to probe for recovery — ensuring the system self-heals without manual intervention.</a:t>
            </a:r>
            <a:endParaRPr lang="en-US" sz="850" dirty="0"/>
          </a:p>
        </p:txBody>
      </p:sp>
      <p:sp>
        <p:nvSpPr>
          <p:cNvPr id="18" name="Rectangle 17">
            <a:extLst>
              <a:ext uri="{FF2B5EF4-FFF2-40B4-BE49-F238E27FC236}">
                <a16:creationId xmlns:a16="http://schemas.microsoft.com/office/drawing/2014/main" id="{ED39221B-9B0B-BFCA-A28E-6B28C1A53D8C}"/>
              </a:ext>
            </a:extLst>
          </p:cNvPr>
          <p:cNvSpPr/>
          <p:nvPr/>
        </p:nvSpPr>
        <p:spPr>
          <a:xfrm>
            <a:off x="11087100" y="6540500"/>
            <a:ext cx="1047750" cy="24447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783" y="488752"/>
            <a:ext cx="6060527" cy="452636"/>
          </a:xfrm>
          <a:prstGeom prst="rect">
            <a:avLst/>
          </a:prstGeom>
          <a:noFill/>
          <a:ln/>
        </p:spPr>
        <p:txBody>
          <a:bodyPr wrap="none" lIns="0" tIns="0" rIns="0" bIns="0" rtlCol="0" anchor="t"/>
          <a:lstStyle/>
          <a:p>
            <a:pPr marL="0" indent="0" algn="l">
              <a:lnSpc>
                <a:spcPct val="104000"/>
              </a:lnSpc>
              <a:buNone/>
            </a:pPr>
            <a:r>
              <a:rPr lang="en-US" sz="2850" dirty="0">
                <a:solidFill>
                  <a:srgbClr val="FFFFFF"/>
                </a:solidFill>
                <a:latin typeface="Saira Medium" pitchFamily="34" charset="0"/>
                <a:ea typeface="Saira Medium" pitchFamily="34" charset="-122"/>
                <a:cs typeface="Saira Medium" pitchFamily="34" charset="-120"/>
              </a:rPr>
              <a:t>DevOps &amp; Infrastructure as Code</a:t>
            </a:r>
            <a:endParaRPr lang="en-US" sz="2850" dirty="0"/>
          </a:p>
        </p:txBody>
      </p:sp>
      <p:sp>
        <p:nvSpPr>
          <p:cNvPr id="3" name="Text 1"/>
          <p:cNvSpPr/>
          <p:nvPr/>
        </p:nvSpPr>
        <p:spPr>
          <a:xfrm>
            <a:off x="609783" y="1195090"/>
            <a:ext cx="10972129" cy="434578"/>
          </a:xfrm>
          <a:prstGeom prst="rect">
            <a:avLst/>
          </a:prstGeom>
          <a:noFill/>
          <a:ln/>
        </p:spPr>
        <p:txBody>
          <a:bodyPr wrap="square" lIns="0" tIns="0" rIns="0" bIns="0" rtlCol="0" anchor="t">
            <a:normAutofit/>
          </a:bodyPr>
          <a:lstStyle/>
          <a:p>
            <a:pPr marL="0" indent="0" algn="l">
              <a:lnSpc>
                <a:spcPct val="125000"/>
              </a:lnSpc>
              <a:buNone/>
            </a:pPr>
            <a:r>
              <a:rPr lang="en-US" sz="1100" dirty="0">
                <a:solidFill>
                  <a:srgbClr val="E5E0DF"/>
                </a:solidFill>
                <a:latin typeface="Roboto" pitchFamily="34" charset="0"/>
                <a:ea typeface="Roboto" pitchFamily="34" charset="-122"/>
                <a:cs typeface="Roboto" pitchFamily="34" charset="-120"/>
              </a:rPr>
              <a:t>AeroLink's entire AWS infrastructure is provisioned via </a:t>
            </a:r>
            <a:r>
              <a:rPr lang="en-US" sz="1100" b="1" dirty="0">
                <a:solidFill>
                  <a:srgbClr val="E5E0DF"/>
                </a:solidFill>
                <a:latin typeface="Roboto" pitchFamily="34" charset="0"/>
                <a:ea typeface="Roboto" pitchFamily="34" charset="-122"/>
                <a:cs typeface="Roboto" pitchFamily="34" charset="-120"/>
              </a:rPr>
              <a:t>Terraform</a:t>
            </a:r>
            <a:r>
              <a:rPr lang="en-US" sz="1100" dirty="0">
                <a:solidFill>
                  <a:srgbClr val="E5E0DF"/>
                </a:solidFill>
                <a:latin typeface="Roboto" pitchFamily="34" charset="0"/>
                <a:ea typeface="Roboto" pitchFamily="34" charset="-122"/>
                <a:cs typeface="Roboto" pitchFamily="34" charset="-120"/>
              </a:rPr>
              <a:t>, enabling reproducible, version-controlled environments. The GitOps pipeline automates everything from code commit to production deployment.</a:t>
            </a:r>
            <a:endParaRPr lang="en-US" sz="1100" dirty="0"/>
          </a:p>
        </p:txBody>
      </p:sp>
      <p:sp>
        <p:nvSpPr>
          <p:cNvPr id="4" name="Text 2"/>
          <p:cNvSpPr/>
          <p:nvPr/>
        </p:nvSpPr>
        <p:spPr>
          <a:xfrm>
            <a:off x="609783" y="1772345"/>
            <a:ext cx="289612" cy="180975"/>
          </a:xfrm>
          <a:prstGeom prst="rect">
            <a:avLst/>
          </a:prstGeom>
          <a:noFill/>
          <a:ln/>
        </p:spPr>
        <p:txBody>
          <a:bodyPr wrap="none" lIns="0" tIns="0" rIns="0" bIns="0" rtlCol="0" anchor="ctr"/>
          <a:lstStyle/>
          <a:p>
            <a:pPr marL="0" indent="0" algn="l">
              <a:lnSpc>
                <a:spcPct val="100000"/>
              </a:lnSpc>
              <a:buNone/>
            </a:pPr>
            <a:r>
              <a:rPr lang="en-US" sz="1100" dirty="0">
                <a:solidFill>
                  <a:srgbClr val="E5E0DF"/>
                </a:solidFill>
                <a:latin typeface="Saira Light" pitchFamily="34" charset="0"/>
                <a:ea typeface="Saira Light" pitchFamily="34" charset="-122"/>
                <a:cs typeface="Saira Light" pitchFamily="34" charset="-120"/>
              </a:rPr>
              <a:t>01</a:t>
            </a:r>
            <a:endParaRPr lang="en-US" sz="1100" dirty="0"/>
          </a:p>
        </p:txBody>
      </p:sp>
      <p:sp>
        <p:nvSpPr>
          <p:cNvPr id="5" name="Shape 3"/>
          <p:cNvSpPr/>
          <p:nvPr/>
        </p:nvSpPr>
        <p:spPr>
          <a:xfrm>
            <a:off x="609783" y="1999258"/>
            <a:ext cx="5422665" cy="19050"/>
          </a:xfrm>
          <a:prstGeom prst="rect">
            <a:avLst/>
          </a:prstGeom>
          <a:solidFill>
            <a:srgbClr val="FC8337"/>
          </a:solidFill>
          <a:ln/>
        </p:spPr>
        <p:txBody>
          <a:bodyPr/>
          <a:lstStyle/>
          <a:p>
            <a:endParaRPr lang="en-US"/>
          </a:p>
        </p:txBody>
      </p:sp>
      <p:sp>
        <p:nvSpPr>
          <p:cNvPr id="6" name="Text 4"/>
          <p:cNvSpPr/>
          <p:nvPr/>
        </p:nvSpPr>
        <p:spPr>
          <a:xfrm>
            <a:off x="609783" y="2109688"/>
            <a:ext cx="1810498" cy="226318"/>
          </a:xfrm>
          <a:prstGeom prst="rect">
            <a:avLst/>
          </a:prstGeom>
          <a:noFill/>
          <a:ln/>
        </p:spPr>
        <p:txBody>
          <a:bodyPr wrap="none" lIns="0" tIns="0" rIns="0" bIns="0" rtlCol="0" anchor="t"/>
          <a:lstStyle/>
          <a:p>
            <a:pPr marL="0" indent="0" algn="l">
              <a:lnSpc>
                <a:spcPct val="104000"/>
              </a:lnSpc>
              <a:buNone/>
            </a:pPr>
            <a:r>
              <a:rPr lang="en-US" sz="1400" dirty="0">
                <a:solidFill>
                  <a:srgbClr val="E5E0DF"/>
                </a:solidFill>
                <a:latin typeface="Saira Medium" pitchFamily="34" charset="0"/>
                <a:ea typeface="Saira Medium" pitchFamily="34" charset="-122"/>
                <a:cs typeface="Saira Medium" pitchFamily="34" charset="-120"/>
              </a:rPr>
              <a:t>Code Commit</a:t>
            </a:r>
            <a:endParaRPr lang="en-US" sz="1400" dirty="0"/>
          </a:p>
        </p:txBody>
      </p:sp>
      <p:sp>
        <p:nvSpPr>
          <p:cNvPr id="7" name="Text 5"/>
          <p:cNvSpPr/>
          <p:nvPr/>
        </p:nvSpPr>
        <p:spPr>
          <a:xfrm>
            <a:off x="609783" y="2412107"/>
            <a:ext cx="5422665" cy="223639"/>
          </a:xfrm>
          <a:prstGeom prst="rect">
            <a:avLst/>
          </a:prstGeom>
          <a:noFill/>
          <a:ln/>
        </p:spPr>
        <p:txBody>
          <a:bodyPr wrap="none" lIns="0" tIns="0" rIns="0" bIns="0" rtlCol="0" anchor="t"/>
          <a:lstStyle/>
          <a:p>
            <a:pPr marL="0" indent="0" algn="l">
              <a:lnSpc>
                <a:spcPct val="125000"/>
              </a:lnSpc>
              <a:buNone/>
            </a:pPr>
            <a:r>
              <a:rPr lang="en-US" sz="1100" dirty="0">
                <a:solidFill>
                  <a:srgbClr val="E5E0DF"/>
                </a:solidFill>
                <a:latin typeface="Roboto" pitchFamily="34" charset="0"/>
                <a:ea typeface="Roboto" pitchFamily="34" charset="-122"/>
                <a:cs typeface="Roboto" pitchFamily="34" charset="-120"/>
              </a:rPr>
              <a:t>Developer pushes to GitHub — pipeline triggers on </a:t>
            </a:r>
            <a:r>
              <a:rPr lang="en-US" sz="1100" dirty="0">
                <a:solidFill>
                  <a:srgbClr val="E5E0DF"/>
                </a:solidFill>
                <a:highlight>
                  <a:srgbClr val="101010"/>
                </a:highlight>
                <a:latin typeface="Consolas" pitchFamily="34" charset="0"/>
                <a:ea typeface="Consolas" pitchFamily="34" charset="-122"/>
                <a:cs typeface="Consolas" pitchFamily="34" charset="-120"/>
              </a:rPr>
              <a:t>main</a:t>
            </a:r>
            <a:r>
              <a:rPr lang="en-US" sz="1100" dirty="0">
                <a:solidFill>
                  <a:srgbClr val="E5E0DF"/>
                </a:solidFill>
                <a:latin typeface="Roboto" pitchFamily="34" charset="0"/>
                <a:ea typeface="Roboto" pitchFamily="34" charset="-122"/>
                <a:cs typeface="Roboto" pitchFamily="34" charset="-120"/>
              </a:rPr>
              <a:t> branch.</a:t>
            </a:r>
            <a:endParaRPr lang="en-US" sz="1100" dirty="0"/>
          </a:p>
        </p:txBody>
      </p:sp>
      <p:sp>
        <p:nvSpPr>
          <p:cNvPr id="8" name="Text 6"/>
          <p:cNvSpPr/>
          <p:nvPr/>
        </p:nvSpPr>
        <p:spPr>
          <a:xfrm>
            <a:off x="6159247" y="1772345"/>
            <a:ext cx="289612" cy="180975"/>
          </a:xfrm>
          <a:prstGeom prst="rect">
            <a:avLst/>
          </a:prstGeom>
          <a:noFill/>
          <a:ln/>
        </p:spPr>
        <p:txBody>
          <a:bodyPr wrap="none" lIns="0" tIns="0" rIns="0" bIns="0" rtlCol="0" anchor="ctr"/>
          <a:lstStyle/>
          <a:p>
            <a:pPr marL="0" indent="0" algn="l">
              <a:lnSpc>
                <a:spcPct val="100000"/>
              </a:lnSpc>
              <a:buNone/>
            </a:pPr>
            <a:r>
              <a:rPr lang="en-US" sz="1100" dirty="0">
                <a:solidFill>
                  <a:srgbClr val="E5E0DF"/>
                </a:solidFill>
                <a:latin typeface="Saira Light" pitchFamily="34" charset="0"/>
                <a:ea typeface="Saira Light" pitchFamily="34" charset="-122"/>
                <a:cs typeface="Saira Light" pitchFamily="34" charset="-120"/>
              </a:rPr>
              <a:t>02</a:t>
            </a:r>
            <a:endParaRPr lang="en-US" sz="1100" dirty="0"/>
          </a:p>
        </p:txBody>
      </p:sp>
      <p:sp>
        <p:nvSpPr>
          <p:cNvPr id="9" name="Shape 7"/>
          <p:cNvSpPr/>
          <p:nvPr/>
        </p:nvSpPr>
        <p:spPr>
          <a:xfrm>
            <a:off x="6159247" y="1999258"/>
            <a:ext cx="5422665" cy="19050"/>
          </a:xfrm>
          <a:prstGeom prst="rect">
            <a:avLst/>
          </a:prstGeom>
          <a:solidFill>
            <a:srgbClr val="FC8337"/>
          </a:solidFill>
          <a:ln/>
        </p:spPr>
        <p:txBody>
          <a:bodyPr/>
          <a:lstStyle/>
          <a:p>
            <a:endParaRPr lang="en-US"/>
          </a:p>
        </p:txBody>
      </p:sp>
      <p:sp>
        <p:nvSpPr>
          <p:cNvPr id="10" name="Text 8"/>
          <p:cNvSpPr/>
          <p:nvPr/>
        </p:nvSpPr>
        <p:spPr>
          <a:xfrm>
            <a:off x="6159247" y="2109688"/>
            <a:ext cx="1810498" cy="226318"/>
          </a:xfrm>
          <a:prstGeom prst="rect">
            <a:avLst/>
          </a:prstGeom>
          <a:noFill/>
          <a:ln/>
        </p:spPr>
        <p:txBody>
          <a:bodyPr wrap="none" lIns="0" tIns="0" rIns="0" bIns="0" rtlCol="0" anchor="t"/>
          <a:lstStyle/>
          <a:p>
            <a:pPr marL="0" indent="0" algn="l">
              <a:lnSpc>
                <a:spcPct val="104000"/>
              </a:lnSpc>
              <a:buNone/>
            </a:pPr>
            <a:r>
              <a:rPr lang="en-US" sz="1400" dirty="0">
                <a:solidFill>
                  <a:srgbClr val="E5E0DF"/>
                </a:solidFill>
                <a:latin typeface="Saira Medium" pitchFamily="34" charset="0"/>
                <a:ea typeface="Saira Medium" pitchFamily="34" charset="-122"/>
                <a:cs typeface="Saira Medium" pitchFamily="34" charset="-120"/>
              </a:rPr>
              <a:t>Build, Scan &amp; Publish</a:t>
            </a:r>
            <a:endParaRPr lang="en-US" sz="1400" dirty="0"/>
          </a:p>
        </p:txBody>
      </p:sp>
      <p:sp>
        <p:nvSpPr>
          <p:cNvPr id="11" name="Text 9"/>
          <p:cNvSpPr/>
          <p:nvPr/>
        </p:nvSpPr>
        <p:spPr>
          <a:xfrm>
            <a:off x="6159247" y="2412107"/>
            <a:ext cx="5422665" cy="434578"/>
          </a:xfrm>
          <a:prstGeom prst="rect">
            <a:avLst/>
          </a:prstGeom>
          <a:noFill/>
          <a:ln/>
        </p:spPr>
        <p:txBody>
          <a:bodyPr wrap="square" lIns="0" tIns="0" rIns="0" bIns="0" rtlCol="0" anchor="t">
            <a:normAutofit/>
          </a:bodyPr>
          <a:lstStyle/>
          <a:p>
            <a:pPr marL="0" indent="0" algn="l">
              <a:lnSpc>
                <a:spcPct val="125000"/>
              </a:lnSpc>
              <a:buNone/>
            </a:pPr>
            <a:r>
              <a:rPr lang="en-US" sz="1100" dirty="0">
                <a:solidFill>
                  <a:srgbClr val="E5E0DF"/>
                </a:solidFill>
                <a:latin typeface="Roboto" pitchFamily="34" charset="0"/>
                <a:ea typeface="Roboto" pitchFamily="34" charset="-122"/>
                <a:cs typeface="Roboto" pitchFamily="34" charset="-120"/>
              </a:rPr>
              <a:t>GitHub Actions builds Docker images, runs </a:t>
            </a:r>
            <a:r>
              <a:rPr lang="en-US" sz="1100" b="1" dirty="0">
                <a:solidFill>
                  <a:srgbClr val="E5E0DF"/>
                </a:solidFill>
                <a:latin typeface="Roboto" pitchFamily="34" charset="0"/>
                <a:ea typeface="Roboto" pitchFamily="34" charset="-122"/>
                <a:cs typeface="Roboto" pitchFamily="34" charset="-120"/>
              </a:rPr>
              <a:t>Trivy</a:t>
            </a:r>
            <a:r>
              <a:rPr lang="en-US" sz="1100" dirty="0">
                <a:solidFill>
                  <a:srgbClr val="E5E0DF"/>
                </a:solidFill>
                <a:latin typeface="Roboto" pitchFamily="34" charset="0"/>
                <a:ea typeface="Roboto" pitchFamily="34" charset="-122"/>
                <a:cs typeface="Roboto" pitchFamily="34" charset="-120"/>
              </a:rPr>
              <a:t> security scans, and pushes approved images to </a:t>
            </a:r>
            <a:r>
              <a:rPr lang="en-US" sz="1100" b="1" dirty="0">
                <a:solidFill>
                  <a:srgbClr val="E5E0DF"/>
                </a:solidFill>
                <a:latin typeface="Roboto" pitchFamily="34" charset="0"/>
                <a:ea typeface="Roboto" pitchFamily="34" charset="-122"/>
                <a:cs typeface="Roboto" pitchFamily="34" charset="-120"/>
              </a:rPr>
              <a:t>Amazon ECR</a:t>
            </a:r>
            <a:r>
              <a:rPr lang="en-US" sz="1100" dirty="0">
                <a:solidFill>
                  <a:srgbClr val="E5E0DF"/>
                </a:solidFill>
                <a:latin typeface="Roboto" pitchFamily="34" charset="0"/>
                <a:ea typeface="Roboto" pitchFamily="34" charset="-122"/>
                <a:cs typeface="Roboto" pitchFamily="34" charset="-120"/>
              </a:rPr>
              <a:t>.</a:t>
            </a:r>
            <a:endParaRPr lang="en-US" sz="1100" dirty="0"/>
          </a:p>
        </p:txBody>
      </p:sp>
      <p:sp>
        <p:nvSpPr>
          <p:cNvPr id="12" name="Text 10"/>
          <p:cNvSpPr/>
          <p:nvPr/>
        </p:nvSpPr>
        <p:spPr>
          <a:xfrm>
            <a:off x="609783" y="3082032"/>
            <a:ext cx="289612" cy="180975"/>
          </a:xfrm>
          <a:prstGeom prst="rect">
            <a:avLst/>
          </a:prstGeom>
          <a:noFill/>
          <a:ln/>
        </p:spPr>
        <p:txBody>
          <a:bodyPr wrap="none" lIns="0" tIns="0" rIns="0" bIns="0" rtlCol="0" anchor="ctr"/>
          <a:lstStyle/>
          <a:p>
            <a:pPr marL="0" indent="0" algn="l">
              <a:lnSpc>
                <a:spcPct val="100000"/>
              </a:lnSpc>
              <a:buNone/>
            </a:pPr>
            <a:r>
              <a:rPr lang="en-US" sz="1100" dirty="0">
                <a:solidFill>
                  <a:srgbClr val="E5E0DF"/>
                </a:solidFill>
                <a:latin typeface="Saira Light" pitchFamily="34" charset="0"/>
                <a:ea typeface="Saira Light" pitchFamily="34" charset="-122"/>
                <a:cs typeface="Saira Light" pitchFamily="34" charset="-120"/>
              </a:rPr>
              <a:t>03</a:t>
            </a:r>
            <a:endParaRPr lang="en-US" sz="1100" dirty="0"/>
          </a:p>
        </p:txBody>
      </p:sp>
      <p:sp>
        <p:nvSpPr>
          <p:cNvPr id="13" name="Shape 11"/>
          <p:cNvSpPr/>
          <p:nvPr/>
        </p:nvSpPr>
        <p:spPr>
          <a:xfrm>
            <a:off x="609783" y="3308945"/>
            <a:ext cx="5422665" cy="19050"/>
          </a:xfrm>
          <a:prstGeom prst="rect">
            <a:avLst/>
          </a:prstGeom>
          <a:solidFill>
            <a:srgbClr val="FC8337"/>
          </a:solidFill>
          <a:ln/>
        </p:spPr>
        <p:txBody>
          <a:bodyPr/>
          <a:lstStyle/>
          <a:p>
            <a:endParaRPr lang="en-US"/>
          </a:p>
        </p:txBody>
      </p:sp>
      <p:sp>
        <p:nvSpPr>
          <p:cNvPr id="14" name="Text 12"/>
          <p:cNvSpPr/>
          <p:nvPr/>
        </p:nvSpPr>
        <p:spPr>
          <a:xfrm>
            <a:off x="609783" y="3419376"/>
            <a:ext cx="1917751" cy="226318"/>
          </a:xfrm>
          <a:prstGeom prst="rect">
            <a:avLst/>
          </a:prstGeom>
          <a:noFill/>
          <a:ln/>
        </p:spPr>
        <p:txBody>
          <a:bodyPr wrap="none" lIns="0" tIns="0" rIns="0" bIns="0" rtlCol="0" anchor="t"/>
          <a:lstStyle/>
          <a:p>
            <a:pPr marL="0" indent="0" algn="l">
              <a:lnSpc>
                <a:spcPct val="104000"/>
              </a:lnSpc>
              <a:buNone/>
            </a:pPr>
            <a:r>
              <a:rPr lang="en-US" sz="1400" dirty="0">
                <a:solidFill>
                  <a:srgbClr val="E5E0DF"/>
                </a:solidFill>
                <a:latin typeface="Saira Medium" pitchFamily="34" charset="0"/>
                <a:ea typeface="Saira Medium" pitchFamily="34" charset="-122"/>
                <a:cs typeface="Saira Medium" pitchFamily="34" charset="-120"/>
              </a:rPr>
              <a:t>Terraform Provisioning</a:t>
            </a:r>
            <a:endParaRPr lang="en-US" sz="1400" dirty="0"/>
          </a:p>
        </p:txBody>
      </p:sp>
      <p:sp>
        <p:nvSpPr>
          <p:cNvPr id="15" name="Text 13"/>
          <p:cNvSpPr/>
          <p:nvPr/>
        </p:nvSpPr>
        <p:spPr>
          <a:xfrm>
            <a:off x="609783" y="3721795"/>
            <a:ext cx="5422665" cy="651867"/>
          </a:xfrm>
          <a:prstGeom prst="rect">
            <a:avLst/>
          </a:prstGeom>
          <a:noFill/>
          <a:ln/>
        </p:spPr>
        <p:txBody>
          <a:bodyPr wrap="square" lIns="0" tIns="0" rIns="0" bIns="0" rtlCol="0" anchor="t">
            <a:normAutofit/>
          </a:bodyPr>
          <a:lstStyle/>
          <a:p>
            <a:pPr marL="0" indent="0" algn="l">
              <a:lnSpc>
                <a:spcPct val="125000"/>
              </a:lnSpc>
              <a:buNone/>
            </a:pPr>
            <a:r>
              <a:rPr lang="en-US" sz="1100" dirty="0">
                <a:solidFill>
                  <a:srgbClr val="E5E0DF"/>
                </a:solidFill>
                <a:latin typeface="Roboto" pitchFamily="34" charset="0"/>
                <a:ea typeface="Roboto" pitchFamily="34" charset="-122"/>
                <a:cs typeface="Roboto" pitchFamily="34" charset="-120"/>
              </a:rPr>
              <a:t>Terraform defines and provisions AWS resources such as </a:t>
            </a:r>
            <a:r>
              <a:rPr lang="en-US" sz="1100" b="1" dirty="0">
                <a:solidFill>
                  <a:srgbClr val="E5E0DF"/>
                </a:solidFill>
                <a:latin typeface="Roboto" pitchFamily="34" charset="0"/>
                <a:ea typeface="Roboto" pitchFamily="34" charset="-122"/>
                <a:cs typeface="Roboto" pitchFamily="34" charset="-120"/>
              </a:rPr>
              <a:t>VPC</a:t>
            </a:r>
            <a:r>
              <a:rPr lang="en-US" sz="1100" dirty="0">
                <a:solidFill>
                  <a:srgbClr val="E5E0DF"/>
                </a:solidFill>
                <a:latin typeface="Roboto" pitchFamily="34" charset="0"/>
                <a:ea typeface="Roboto" pitchFamily="34" charset="-122"/>
                <a:cs typeface="Roboto" pitchFamily="34" charset="-120"/>
              </a:rPr>
              <a:t>, </a:t>
            </a:r>
            <a:r>
              <a:rPr lang="en-US" sz="1100" b="1" dirty="0">
                <a:solidFill>
                  <a:srgbClr val="E5E0DF"/>
                </a:solidFill>
                <a:latin typeface="Roboto" pitchFamily="34" charset="0"/>
                <a:ea typeface="Roboto" pitchFamily="34" charset="-122"/>
                <a:cs typeface="Roboto" pitchFamily="34" charset="-120"/>
              </a:rPr>
              <a:t>EKS</a:t>
            </a:r>
            <a:r>
              <a:rPr lang="en-US" sz="1100" dirty="0">
                <a:solidFill>
                  <a:srgbClr val="E5E0DF"/>
                </a:solidFill>
                <a:latin typeface="Roboto" pitchFamily="34" charset="0"/>
                <a:ea typeface="Roboto" pitchFamily="34" charset="-122"/>
                <a:cs typeface="Roboto" pitchFamily="34" charset="-120"/>
              </a:rPr>
              <a:t>, </a:t>
            </a:r>
            <a:r>
              <a:rPr lang="en-US" sz="1100" b="1" dirty="0">
                <a:solidFill>
                  <a:srgbClr val="E5E0DF"/>
                </a:solidFill>
                <a:latin typeface="Roboto" pitchFamily="34" charset="0"/>
                <a:ea typeface="Roboto" pitchFamily="34" charset="-122"/>
                <a:cs typeface="Roboto" pitchFamily="34" charset="-120"/>
              </a:rPr>
              <a:t>DynamoDB</a:t>
            </a:r>
            <a:r>
              <a:rPr lang="en-US" sz="1100" dirty="0">
                <a:solidFill>
                  <a:srgbClr val="E5E0DF"/>
                </a:solidFill>
                <a:latin typeface="Roboto" pitchFamily="34" charset="0"/>
                <a:ea typeface="Roboto" pitchFamily="34" charset="-122"/>
                <a:cs typeface="Roboto" pitchFamily="34" charset="-120"/>
              </a:rPr>
              <a:t>, </a:t>
            </a:r>
            <a:r>
              <a:rPr lang="en-US" sz="1100" b="1" dirty="0">
                <a:solidFill>
                  <a:srgbClr val="E5E0DF"/>
                </a:solidFill>
                <a:latin typeface="Roboto" pitchFamily="34" charset="0"/>
                <a:ea typeface="Roboto" pitchFamily="34" charset="-122"/>
                <a:cs typeface="Roboto" pitchFamily="34" charset="-120"/>
              </a:rPr>
              <a:t>EventBridge</a:t>
            </a:r>
            <a:r>
              <a:rPr lang="en-US" sz="1100" dirty="0">
                <a:solidFill>
                  <a:srgbClr val="E5E0DF"/>
                </a:solidFill>
                <a:latin typeface="Roboto" pitchFamily="34" charset="0"/>
                <a:ea typeface="Roboto" pitchFamily="34" charset="-122"/>
                <a:cs typeface="Roboto" pitchFamily="34" charset="-120"/>
              </a:rPr>
              <a:t>, and supporting IAM and networking components. State is managed centrally so infrastructure changes are repeatable, reviewed, and reproducible.</a:t>
            </a:r>
            <a:endParaRPr lang="en-US" sz="1100" dirty="0"/>
          </a:p>
        </p:txBody>
      </p:sp>
      <p:sp>
        <p:nvSpPr>
          <p:cNvPr id="16" name="Text 14"/>
          <p:cNvSpPr/>
          <p:nvPr/>
        </p:nvSpPr>
        <p:spPr>
          <a:xfrm>
            <a:off x="6159247" y="3082032"/>
            <a:ext cx="289612" cy="180975"/>
          </a:xfrm>
          <a:prstGeom prst="rect">
            <a:avLst/>
          </a:prstGeom>
          <a:noFill/>
          <a:ln/>
        </p:spPr>
        <p:txBody>
          <a:bodyPr wrap="none" lIns="0" tIns="0" rIns="0" bIns="0" rtlCol="0" anchor="ctr"/>
          <a:lstStyle/>
          <a:p>
            <a:pPr marL="0" indent="0" algn="l">
              <a:lnSpc>
                <a:spcPct val="100000"/>
              </a:lnSpc>
              <a:buNone/>
            </a:pPr>
            <a:r>
              <a:rPr lang="en-US" sz="1100" dirty="0">
                <a:solidFill>
                  <a:srgbClr val="E5E0DF"/>
                </a:solidFill>
                <a:latin typeface="Saira Light" pitchFamily="34" charset="0"/>
                <a:ea typeface="Saira Light" pitchFamily="34" charset="-122"/>
                <a:cs typeface="Saira Light" pitchFamily="34" charset="-120"/>
              </a:rPr>
              <a:t>04</a:t>
            </a:r>
            <a:endParaRPr lang="en-US" sz="1100" dirty="0"/>
          </a:p>
        </p:txBody>
      </p:sp>
      <p:sp>
        <p:nvSpPr>
          <p:cNvPr id="17" name="Shape 15"/>
          <p:cNvSpPr/>
          <p:nvPr/>
        </p:nvSpPr>
        <p:spPr>
          <a:xfrm>
            <a:off x="6159247" y="3308945"/>
            <a:ext cx="5422665" cy="19050"/>
          </a:xfrm>
          <a:prstGeom prst="rect">
            <a:avLst/>
          </a:prstGeom>
          <a:solidFill>
            <a:srgbClr val="FC8337"/>
          </a:solidFill>
          <a:ln/>
        </p:spPr>
        <p:txBody>
          <a:bodyPr/>
          <a:lstStyle/>
          <a:p>
            <a:endParaRPr lang="en-US"/>
          </a:p>
        </p:txBody>
      </p:sp>
      <p:sp>
        <p:nvSpPr>
          <p:cNvPr id="18" name="Text 16"/>
          <p:cNvSpPr/>
          <p:nvPr/>
        </p:nvSpPr>
        <p:spPr>
          <a:xfrm>
            <a:off x="6159247" y="3419376"/>
            <a:ext cx="1810498" cy="226318"/>
          </a:xfrm>
          <a:prstGeom prst="rect">
            <a:avLst/>
          </a:prstGeom>
          <a:noFill/>
          <a:ln/>
        </p:spPr>
        <p:txBody>
          <a:bodyPr wrap="none" lIns="0" tIns="0" rIns="0" bIns="0" rtlCol="0" anchor="t"/>
          <a:lstStyle/>
          <a:p>
            <a:pPr marL="0" indent="0" algn="l">
              <a:lnSpc>
                <a:spcPct val="104000"/>
              </a:lnSpc>
              <a:buNone/>
            </a:pPr>
            <a:r>
              <a:rPr lang="en-US" sz="1400" dirty="0">
                <a:solidFill>
                  <a:srgbClr val="E5E0DF"/>
                </a:solidFill>
                <a:latin typeface="Saira Medium" pitchFamily="34" charset="0"/>
                <a:ea typeface="Saira Medium" pitchFamily="34" charset="-122"/>
                <a:cs typeface="Saira Medium" pitchFamily="34" charset="-120"/>
              </a:rPr>
              <a:t>ArgoCD Sync</a:t>
            </a:r>
            <a:endParaRPr lang="en-US" sz="1400" dirty="0"/>
          </a:p>
        </p:txBody>
      </p:sp>
      <p:sp>
        <p:nvSpPr>
          <p:cNvPr id="19" name="Text 17"/>
          <p:cNvSpPr/>
          <p:nvPr/>
        </p:nvSpPr>
        <p:spPr>
          <a:xfrm>
            <a:off x="6159247" y="3721795"/>
            <a:ext cx="5422665" cy="434578"/>
          </a:xfrm>
          <a:prstGeom prst="rect">
            <a:avLst/>
          </a:prstGeom>
          <a:noFill/>
          <a:ln/>
        </p:spPr>
        <p:txBody>
          <a:bodyPr wrap="square" lIns="0" tIns="0" rIns="0" bIns="0" rtlCol="0" anchor="t">
            <a:normAutofit/>
          </a:bodyPr>
          <a:lstStyle/>
          <a:p>
            <a:pPr marL="0" indent="0" algn="l">
              <a:lnSpc>
                <a:spcPct val="125000"/>
              </a:lnSpc>
              <a:buNone/>
            </a:pPr>
            <a:r>
              <a:rPr lang="en-US" sz="1100" dirty="0">
                <a:solidFill>
                  <a:srgbClr val="E5E0DF"/>
                </a:solidFill>
                <a:latin typeface="Roboto" pitchFamily="34" charset="0"/>
                <a:ea typeface="Roboto" pitchFamily="34" charset="-122"/>
                <a:cs typeface="Roboto" pitchFamily="34" charset="-120"/>
              </a:rPr>
              <a:t>ArgoCD follows a declarative GitOps model, automatically syncing Kubernetes manifests from Git to the cluster so the live state matches the repository.</a:t>
            </a:r>
            <a:endParaRPr lang="en-US" sz="1100" dirty="0"/>
          </a:p>
        </p:txBody>
      </p:sp>
      <p:sp>
        <p:nvSpPr>
          <p:cNvPr id="20" name="Text 18"/>
          <p:cNvSpPr/>
          <p:nvPr/>
        </p:nvSpPr>
        <p:spPr>
          <a:xfrm>
            <a:off x="609783" y="4609009"/>
            <a:ext cx="289612" cy="180975"/>
          </a:xfrm>
          <a:prstGeom prst="rect">
            <a:avLst/>
          </a:prstGeom>
          <a:noFill/>
          <a:ln/>
        </p:spPr>
        <p:txBody>
          <a:bodyPr wrap="none" lIns="0" tIns="0" rIns="0" bIns="0" rtlCol="0" anchor="ctr"/>
          <a:lstStyle/>
          <a:p>
            <a:pPr marL="0" indent="0" algn="l">
              <a:lnSpc>
                <a:spcPct val="100000"/>
              </a:lnSpc>
              <a:buNone/>
            </a:pPr>
            <a:r>
              <a:rPr lang="en-US" sz="1100" dirty="0">
                <a:solidFill>
                  <a:srgbClr val="E5E0DF"/>
                </a:solidFill>
                <a:latin typeface="Saira Light" pitchFamily="34" charset="0"/>
                <a:ea typeface="Saira Light" pitchFamily="34" charset="-122"/>
                <a:cs typeface="Saira Light" pitchFamily="34" charset="-120"/>
              </a:rPr>
              <a:t>05</a:t>
            </a:r>
            <a:endParaRPr lang="en-US" sz="1100" dirty="0"/>
          </a:p>
        </p:txBody>
      </p:sp>
      <p:sp>
        <p:nvSpPr>
          <p:cNvPr id="21" name="Shape 19"/>
          <p:cNvSpPr/>
          <p:nvPr/>
        </p:nvSpPr>
        <p:spPr>
          <a:xfrm>
            <a:off x="609783" y="4835922"/>
            <a:ext cx="10972129" cy="19050"/>
          </a:xfrm>
          <a:prstGeom prst="rect">
            <a:avLst/>
          </a:prstGeom>
          <a:solidFill>
            <a:srgbClr val="FC8337"/>
          </a:solidFill>
          <a:ln/>
        </p:spPr>
        <p:txBody>
          <a:bodyPr/>
          <a:lstStyle/>
          <a:p>
            <a:endParaRPr lang="en-US"/>
          </a:p>
        </p:txBody>
      </p:sp>
      <p:sp>
        <p:nvSpPr>
          <p:cNvPr id="22" name="Text 20"/>
          <p:cNvSpPr/>
          <p:nvPr/>
        </p:nvSpPr>
        <p:spPr>
          <a:xfrm>
            <a:off x="609783" y="4946352"/>
            <a:ext cx="1984226" cy="226318"/>
          </a:xfrm>
          <a:prstGeom prst="rect">
            <a:avLst/>
          </a:prstGeom>
          <a:noFill/>
          <a:ln/>
        </p:spPr>
        <p:txBody>
          <a:bodyPr wrap="none" lIns="0" tIns="0" rIns="0" bIns="0" rtlCol="0" anchor="t"/>
          <a:lstStyle/>
          <a:p>
            <a:pPr marL="0" indent="0" algn="l">
              <a:lnSpc>
                <a:spcPct val="104000"/>
              </a:lnSpc>
              <a:buNone/>
            </a:pPr>
            <a:r>
              <a:rPr lang="en-US" sz="1400" dirty="0">
                <a:solidFill>
                  <a:srgbClr val="E5E0DF"/>
                </a:solidFill>
                <a:latin typeface="Saira Medium" pitchFamily="34" charset="0"/>
                <a:ea typeface="Saira Medium" pitchFamily="34" charset="-122"/>
                <a:cs typeface="Saira Medium" pitchFamily="34" charset="-120"/>
              </a:rPr>
              <a:t>Production Deployment</a:t>
            </a:r>
            <a:endParaRPr lang="en-US" sz="1400" dirty="0"/>
          </a:p>
        </p:txBody>
      </p:sp>
      <p:sp>
        <p:nvSpPr>
          <p:cNvPr id="23" name="Text 21"/>
          <p:cNvSpPr/>
          <p:nvPr/>
        </p:nvSpPr>
        <p:spPr>
          <a:xfrm>
            <a:off x="609783" y="5248771"/>
            <a:ext cx="10972129" cy="434578"/>
          </a:xfrm>
          <a:prstGeom prst="rect">
            <a:avLst/>
          </a:prstGeom>
          <a:noFill/>
          <a:ln/>
        </p:spPr>
        <p:txBody>
          <a:bodyPr wrap="square" lIns="0" tIns="0" rIns="0" bIns="0" rtlCol="0" anchor="t">
            <a:normAutofit/>
          </a:bodyPr>
          <a:lstStyle/>
          <a:p>
            <a:pPr marL="0" indent="0" algn="l">
              <a:lnSpc>
                <a:spcPct val="125000"/>
              </a:lnSpc>
              <a:buNone/>
            </a:pPr>
            <a:r>
              <a:rPr lang="en-US" sz="1100" dirty="0">
                <a:solidFill>
                  <a:srgbClr val="E5E0DF"/>
                </a:solidFill>
                <a:latin typeface="Roboto" pitchFamily="34" charset="0"/>
                <a:ea typeface="Roboto" pitchFamily="34" charset="-122"/>
                <a:cs typeface="Roboto" pitchFamily="34" charset="-120"/>
              </a:rPr>
              <a:t>ArgoCD keeps the cluster continuously aligned with Git, supports rollbacks to a known-good revision, and ensures infrastructure and application versions remain consistent across environments.</a:t>
            </a:r>
            <a:endParaRPr lang="en-US" sz="1100" dirty="0"/>
          </a:p>
        </p:txBody>
      </p:sp>
      <p:sp>
        <p:nvSpPr>
          <p:cNvPr id="24" name="Text 22"/>
          <p:cNvSpPr/>
          <p:nvPr/>
        </p:nvSpPr>
        <p:spPr>
          <a:xfrm>
            <a:off x="609783" y="5934571"/>
            <a:ext cx="10972129" cy="434578"/>
          </a:xfrm>
          <a:prstGeom prst="rect">
            <a:avLst/>
          </a:prstGeom>
          <a:noFill/>
          <a:ln/>
        </p:spPr>
        <p:txBody>
          <a:bodyPr wrap="square" lIns="0" tIns="0" rIns="0" bIns="0" rtlCol="0" anchor="t">
            <a:normAutofit/>
          </a:bodyPr>
          <a:lstStyle/>
          <a:p>
            <a:pPr marL="0" indent="0" algn="l">
              <a:lnSpc>
                <a:spcPct val="125000"/>
              </a:lnSpc>
              <a:buNone/>
            </a:pPr>
            <a:r>
              <a:rPr lang="en-US" sz="1100" b="1" dirty="0">
                <a:solidFill>
                  <a:srgbClr val="E5E0DF"/>
                </a:solidFill>
                <a:latin typeface="Roboto" pitchFamily="34" charset="0"/>
                <a:ea typeface="Roboto" pitchFamily="34" charset="-122"/>
                <a:cs typeface="Roboto" pitchFamily="34" charset="-120"/>
              </a:rPr>
              <a:t>How it works:</a:t>
            </a:r>
            <a:r>
              <a:rPr lang="en-US" sz="1100" dirty="0">
                <a:solidFill>
                  <a:srgbClr val="E5E0DF"/>
                </a:solidFill>
                <a:latin typeface="Roboto" pitchFamily="34" charset="0"/>
                <a:ea typeface="Roboto" pitchFamily="34" charset="-122"/>
                <a:cs typeface="Roboto" pitchFamily="34" charset="-120"/>
              </a:rPr>
              <a:t> Terraform manages infrastructure state and versioning for AWS resources, while ArgoCD continuously reconciles Kubernetes workloads with the Git repository. Together, they provide a fully reproducible platform from commit to production.</a:t>
            </a:r>
            <a:endParaRPr lang="en-US" sz="1100" dirty="0"/>
          </a:p>
        </p:txBody>
      </p:sp>
      <p:sp>
        <p:nvSpPr>
          <p:cNvPr id="25" name="Rectangle 24">
            <a:extLst>
              <a:ext uri="{FF2B5EF4-FFF2-40B4-BE49-F238E27FC236}">
                <a16:creationId xmlns:a16="http://schemas.microsoft.com/office/drawing/2014/main" id="{7F7D3CFC-717C-9D8C-B01D-DD0B9C94B8DA}"/>
              </a:ext>
            </a:extLst>
          </p:cNvPr>
          <p:cNvSpPr/>
          <p:nvPr/>
        </p:nvSpPr>
        <p:spPr>
          <a:xfrm>
            <a:off x="11087100" y="6540500"/>
            <a:ext cx="1047750" cy="24447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44489" y="357485"/>
            <a:ext cx="3483186" cy="225723"/>
          </a:xfrm>
          <a:prstGeom prst="rect">
            <a:avLst/>
          </a:prstGeom>
          <a:noFill/>
          <a:ln/>
        </p:spPr>
        <p:txBody>
          <a:bodyPr wrap="none" lIns="0" tIns="0" rIns="0" bIns="0" rtlCol="0" anchor="t"/>
          <a:lstStyle/>
          <a:p>
            <a:pPr marL="0" indent="0" algn="l">
              <a:lnSpc>
                <a:spcPct val="104000"/>
              </a:lnSpc>
              <a:buNone/>
            </a:pPr>
            <a:r>
              <a:rPr lang="en-US" sz="1400" dirty="0">
                <a:solidFill>
                  <a:srgbClr val="FFFFFF"/>
                </a:solidFill>
                <a:latin typeface="Saira Medium" pitchFamily="34" charset="0"/>
                <a:ea typeface="Saira Medium" pitchFamily="34" charset="-122"/>
                <a:cs typeface="Saira Medium" pitchFamily="34" charset="-120"/>
              </a:rPr>
              <a:t>Performance Testing &amp; Monitoring</a:t>
            </a:r>
            <a:endParaRPr lang="en-US" sz="1400" dirty="0"/>
          </a:p>
        </p:txBody>
      </p:sp>
      <p:sp>
        <p:nvSpPr>
          <p:cNvPr id="3" name="Text 1"/>
          <p:cNvSpPr/>
          <p:nvPr/>
        </p:nvSpPr>
        <p:spPr>
          <a:xfrm>
            <a:off x="444489" y="595809"/>
            <a:ext cx="1708504" cy="112812"/>
          </a:xfrm>
          <a:prstGeom prst="rect">
            <a:avLst/>
          </a:prstGeom>
          <a:noFill/>
          <a:ln/>
        </p:spPr>
        <p:txBody>
          <a:bodyPr wrap="none" lIns="0" tIns="0" rIns="0" bIns="0" rtlCol="0" anchor="t"/>
          <a:lstStyle/>
          <a:p>
            <a:pPr marL="0" indent="0" algn="l">
              <a:lnSpc>
                <a:spcPct val="104000"/>
              </a:lnSpc>
              <a:buNone/>
            </a:pPr>
            <a:r>
              <a:rPr lang="en-US" sz="700" dirty="0">
                <a:solidFill>
                  <a:srgbClr val="FFFFFF"/>
                </a:solidFill>
                <a:latin typeface="Saira Medium" pitchFamily="34" charset="0"/>
                <a:ea typeface="Saira Medium" pitchFamily="34" charset="-122"/>
                <a:cs typeface="Saira Medium" pitchFamily="34" charset="-120"/>
              </a:rPr>
              <a:t>Load Testing with Artillery</a:t>
            </a:r>
            <a:endParaRPr lang="en-US" sz="700" dirty="0"/>
          </a:p>
        </p:txBody>
      </p:sp>
      <p:sp>
        <p:nvSpPr>
          <p:cNvPr id="4" name="Text 2"/>
          <p:cNvSpPr/>
          <p:nvPr/>
        </p:nvSpPr>
        <p:spPr>
          <a:xfrm>
            <a:off x="444489" y="755848"/>
            <a:ext cx="11747206" cy="82947"/>
          </a:xfrm>
          <a:prstGeom prst="rect">
            <a:avLst/>
          </a:prstGeom>
          <a:noFill/>
          <a:ln/>
        </p:spPr>
        <p:txBody>
          <a:bodyPr wrap="none" lIns="0" tIns="0" rIns="0" bIns="0" rtlCol="0" anchor="t"/>
          <a:lstStyle/>
          <a:p>
            <a:pPr marL="0" indent="0" algn="l">
              <a:lnSpc>
                <a:spcPct val="96000"/>
              </a:lnSpc>
              <a:buNone/>
            </a:pPr>
            <a:r>
              <a:rPr lang="en-US" sz="550" dirty="0">
                <a:solidFill>
                  <a:srgbClr val="E5E0DF"/>
                </a:solidFill>
                <a:latin typeface="Roboto" pitchFamily="34" charset="0"/>
                <a:ea typeface="Roboto" pitchFamily="34" charset="-122"/>
                <a:cs typeface="Roboto" pitchFamily="34" charset="-120"/>
              </a:rPr>
              <a:t>AeroLink conducted extensive load testing using </a:t>
            </a:r>
            <a:r>
              <a:rPr lang="en-US" sz="550" b="1" dirty="0">
                <a:solidFill>
                  <a:srgbClr val="E5E0DF"/>
                </a:solidFill>
                <a:latin typeface="Roboto" pitchFamily="34" charset="0"/>
                <a:ea typeface="Roboto" pitchFamily="34" charset="-122"/>
                <a:cs typeface="Roboto" pitchFamily="34" charset="-120"/>
              </a:rPr>
              <a:t>Artillery</a:t>
            </a:r>
            <a:r>
              <a:rPr lang="en-US" sz="550" dirty="0">
                <a:solidFill>
                  <a:srgbClr val="E5E0DF"/>
                </a:solidFill>
                <a:latin typeface="Roboto" pitchFamily="34" charset="0"/>
                <a:ea typeface="Roboto" pitchFamily="34" charset="-122"/>
                <a:cs typeface="Roboto" pitchFamily="34" charset="-120"/>
              </a:rPr>
              <a:t> to simulate real-world traffic patterns and peak booking scenarios. Tests simulated concurrent users during holiday seasons, flash sales, and global traffic spikes.</a:t>
            </a:r>
            <a:endParaRPr lang="en-US" sz="550" dirty="0"/>
          </a:p>
        </p:txBody>
      </p:sp>
      <p:sp>
        <p:nvSpPr>
          <p:cNvPr id="5" name="Text 3"/>
          <p:cNvSpPr/>
          <p:nvPr/>
        </p:nvSpPr>
        <p:spPr>
          <a:xfrm>
            <a:off x="444489" y="886023"/>
            <a:ext cx="1549560" cy="112812"/>
          </a:xfrm>
          <a:prstGeom prst="rect">
            <a:avLst/>
          </a:prstGeom>
          <a:noFill/>
          <a:ln/>
        </p:spPr>
        <p:txBody>
          <a:bodyPr wrap="none" lIns="0" tIns="0" rIns="0" bIns="0" rtlCol="0" anchor="t"/>
          <a:lstStyle/>
          <a:p>
            <a:pPr marL="0" indent="0" algn="l">
              <a:lnSpc>
                <a:spcPct val="104000"/>
              </a:lnSpc>
              <a:buNone/>
            </a:pPr>
            <a:r>
              <a:rPr lang="en-US" sz="700" dirty="0">
                <a:solidFill>
                  <a:srgbClr val="FFFFFF"/>
                </a:solidFill>
                <a:latin typeface="Saira Medium" pitchFamily="34" charset="0"/>
                <a:ea typeface="Saira Medium" pitchFamily="34" charset="-122"/>
                <a:cs typeface="Saira Medium" pitchFamily="34" charset="-120"/>
              </a:rPr>
              <a:t>Key Load Test Results:</a:t>
            </a:r>
            <a:endParaRPr lang="en-US" sz="700" dirty="0"/>
          </a:p>
        </p:txBody>
      </p:sp>
      <p:sp>
        <p:nvSpPr>
          <p:cNvPr id="6" name="Text 4"/>
          <p:cNvSpPr/>
          <p:nvPr/>
        </p:nvSpPr>
        <p:spPr>
          <a:xfrm>
            <a:off x="1870822" y="1515566"/>
            <a:ext cx="888382" cy="180578"/>
          </a:xfrm>
          <a:prstGeom prst="rect">
            <a:avLst/>
          </a:prstGeom>
          <a:noFill/>
          <a:ln/>
        </p:spPr>
        <p:txBody>
          <a:bodyPr wrap="none" lIns="0" tIns="0" rIns="0" bIns="0" rtlCol="0" anchor="t"/>
          <a:lstStyle/>
          <a:p>
            <a:pPr marL="0" indent="0" algn="ctr">
              <a:lnSpc>
                <a:spcPct val="83000"/>
              </a:lnSpc>
              <a:buNone/>
            </a:pPr>
            <a:r>
              <a:rPr lang="en-US" sz="1400" dirty="0">
                <a:solidFill>
                  <a:srgbClr val="E5E0DF"/>
                </a:solidFill>
                <a:latin typeface="Saira Medium" pitchFamily="34" charset="0"/>
                <a:ea typeface="Saira Medium" pitchFamily="34" charset="-122"/>
                <a:cs typeface="Saira Medium" pitchFamily="34" charset="-120"/>
              </a:rPr>
              <a:t>10,000%</a:t>
            </a:r>
            <a:endParaRPr lang="en-US" sz="1400" dirty="0"/>
          </a:p>
        </p:txBody>
      </p:sp>
      <p:pic>
        <p:nvPicPr>
          <p:cNvPr id="7" name="Image 0" descr="preencoded.png"/>
          <p:cNvPicPr>
            <a:picLocks noChangeAspect="1"/>
          </p:cNvPicPr>
          <p:nvPr/>
        </p:nvPicPr>
        <p:blipFill>
          <a:blip r:embed="rId3"/>
          <a:stretch>
            <a:fillRect/>
          </a:stretch>
        </p:blipFill>
        <p:spPr>
          <a:xfrm>
            <a:off x="1773392" y="1064121"/>
            <a:ext cx="1083442" cy="1083469"/>
          </a:xfrm>
          <a:prstGeom prst="rect">
            <a:avLst/>
          </a:prstGeom>
        </p:spPr>
      </p:pic>
      <p:sp>
        <p:nvSpPr>
          <p:cNvPr id="8" name="Text 5"/>
          <p:cNvSpPr/>
          <p:nvPr/>
        </p:nvSpPr>
        <p:spPr>
          <a:xfrm>
            <a:off x="1863678" y="2197100"/>
            <a:ext cx="902868" cy="112812"/>
          </a:xfrm>
          <a:prstGeom prst="rect">
            <a:avLst/>
          </a:prstGeom>
          <a:noFill/>
          <a:ln/>
        </p:spPr>
        <p:txBody>
          <a:bodyPr wrap="none" lIns="0" tIns="0" rIns="0" bIns="0" rtlCol="0" anchor="t"/>
          <a:lstStyle/>
          <a:p>
            <a:pPr marL="0" indent="0" algn="ctr">
              <a:lnSpc>
                <a:spcPct val="104000"/>
              </a:lnSpc>
              <a:buNone/>
            </a:pPr>
            <a:r>
              <a:rPr lang="en-US" sz="700" dirty="0">
                <a:solidFill>
                  <a:srgbClr val="E5E0DF"/>
                </a:solidFill>
                <a:latin typeface="Saira Medium" pitchFamily="34" charset="0"/>
                <a:ea typeface="Saira Medium" pitchFamily="34" charset="-122"/>
                <a:cs typeface="Saira Medium" pitchFamily="34" charset="-120"/>
              </a:rPr>
              <a:t>Concurrent Users</a:t>
            </a:r>
            <a:endParaRPr lang="en-US" sz="700" dirty="0"/>
          </a:p>
        </p:txBody>
      </p:sp>
      <p:sp>
        <p:nvSpPr>
          <p:cNvPr id="9" name="Text 6"/>
          <p:cNvSpPr/>
          <p:nvPr/>
        </p:nvSpPr>
        <p:spPr>
          <a:xfrm>
            <a:off x="444489" y="2328763"/>
            <a:ext cx="3741247" cy="82947"/>
          </a:xfrm>
          <a:prstGeom prst="rect">
            <a:avLst/>
          </a:prstGeom>
          <a:noFill/>
          <a:ln/>
        </p:spPr>
        <p:txBody>
          <a:bodyPr wrap="none" lIns="0" tIns="0" rIns="0" bIns="0" rtlCol="0" anchor="t"/>
          <a:lstStyle/>
          <a:p>
            <a:pPr marL="0" indent="0" algn="ctr">
              <a:lnSpc>
                <a:spcPct val="96000"/>
              </a:lnSpc>
              <a:buNone/>
            </a:pPr>
            <a:r>
              <a:rPr lang="en-US" sz="550" dirty="0">
                <a:solidFill>
                  <a:srgbClr val="E5E0DF"/>
                </a:solidFill>
                <a:latin typeface="Roboto" pitchFamily="34" charset="0"/>
                <a:ea typeface="Roboto" pitchFamily="34" charset="-122"/>
                <a:cs typeface="Roboto" pitchFamily="34" charset="-120"/>
              </a:rPr>
              <a:t>Sustained for 30 minutes</a:t>
            </a:r>
            <a:endParaRPr lang="en-US" sz="550" dirty="0"/>
          </a:p>
        </p:txBody>
      </p:sp>
      <p:sp>
        <p:nvSpPr>
          <p:cNvPr id="10" name="Text 7"/>
          <p:cNvSpPr/>
          <p:nvPr/>
        </p:nvSpPr>
        <p:spPr>
          <a:xfrm>
            <a:off x="5651458" y="1515566"/>
            <a:ext cx="888382" cy="180578"/>
          </a:xfrm>
          <a:prstGeom prst="rect">
            <a:avLst/>
          </a:prstGeom>
          <a:noFill/>
          <a:ln/>
        </p:spPr>
        <p:txBody>
          <a:bodyPr wrap="none" lIns="0" tIns="0" rIns="0" bIns="0" rtlCol="0" anchor="t"/>
          <a:lstStyle/>
          <a:p>
            <a:pPr marL="0" indent="0" algn="ctr">
              <a:lnSpc>
                <a:spcPct val="83000"/>
              </a:lnSpc>
              <a:buNone/>
            </a:pPr>
            <a:r>
              <a:rPr lang="en-US" sz="1400" dirty="0">
                <a:solidFill>
                  <a:srgbClr val="E5E0DF"/>
                </a:solidFill>
                <a:latin typeface="Saira Medium" pitchFamily="34" charset="0"/>
                <a:ea typeface="Saira Medium" pitchFamily="34" charset="-122"/>
                <a:cs typeface="Saira Medium" pitchFamily="34" charset="-120"/>
              </a:rPr>
              <a:t>45%</a:t>
            </a:r>
            <a:endParaRPr lang="en-US" sz="1400" dirty="0"/>
          </a:p>
        </p:txBody>
      </p:sp>
      <p:pic>
        <p:nvPicPr>
          <p:cNvPr id="11" name="Image 1" descr="preencoded.png"/>
          <p:cNvPicPr>
            <a:picLocks noChangeAspect="1"/>
          </p:cNvPicPr>
          <p:nvPr/>
        </p:nvPicPr>
        <p:blipFill>
          <a:blip r:embed="rId4"/>
          <a:stretch>
            <a:fillRect/>
          </a:stretch>
        </p:blipFill>
        <p:spPr>
          <a:xfrm>
            <a:off x="5554027" y="1064121"/>
            <a:ext cx="1083442" cy="1083469"/>
          </a:xfrm>
          <a:prstGeom prst="rect">
            <a:avLst/>
          </a:prstGeom>
        </p:spPr>
      </p:pic>
      <p:sp>
        <p:nvSpPr>
          <p:cNvPr id="12" name="Text 8"/>
          <p:cNvSpPr/>
          <p:nvPr/>
        </p:nvSpPr>
        <p:spPr>
          <a:xfrm>
            <a:off x="5611474" y="2197100"/>
            <a:ext cx="968549" cy="112812"/>
          </a:xfrm>
          <a:prstGeom prst="rect">
            <a:avLst/>
          </a:prstGeom>
          <a:noFill/>
          <a:ln/>
        </p:spPr>
        <p:txBody>
          <a:bodyPr wrap="none" lIns="0" tIns="0" rIns="0" bIns="0" rtlCol="0" anchor="t"/>
          <a:lstStyle/>
          <a:p>
            <a:pPr marL="0" indent="0" algn="ctr">
              <a:lnSpc>
                <a:spcPct val="104000"/>
              </a:lnSpc>
              <a:buNone/>
            </a:pPr>
            <a:r>
              <a:rPr lang="en-US" sz="700" dirty="0">
                <a:solidFill>
                  <a:srgbClr val="E5E0DF"/>
                </a:solidFill>
                <a:latin typeface="Saira Medium" pitchFamily="34" charset="0"/>
                <a:ea typeface="Saira Medium" pitchFamily="34" charset="-122"/>
                <a:cs typeface="Saira Medium" pitchFamily="34" charset="-120"/>
              </a:rPr>
              <a:t>Avg. Response Latency</a:t>
            </a:r>
            <a:endParaRPr lang="en-US" sz="700" dirty="0"/>
          </a:p>
        </p:txBody>
      </p:sp>
      <p:sp>
        <p:nvSpPr>
          <p:cNvPr id="13" name="Text 9"/>
          <p:cNvSpPr/>
          <p:nvPr/>
        </p:nvSpPr>
        <p:spPr>
          <a:xfrm>
            <a:off x="4225125" y="2328763"/>
            <a:ext cx="3741346" cy="82947"/>
          </a:xfrm>
          <a:prstGeom prst="rect">
            <a:avLst/>
          </a:prstGeom>
          <a:noFill/>
          <a:ln/>
        </p:spPr>
        <p:txBody>
          <a:bodyPr wrap="none" lIns="0" tIns="0" rIns="0" bIns="0" rtlCol="0" anchor="t"/>
          <a:lstStyle/>
          <a:p>
            <a:pPr marL="0" indent="0" algn="ctr">
              <a:lnSpc>
                <a:spcPct val="96000"/>
              </a:lnSpc>
              <a:buNone/>
            </a:pPr>
            <a:r>
              <a:rPr lang="en-US" sz="550" dirty="0">
                <a:solidFill>
                  <a:srgbClr val="E5E0DF"/>
                </a:solidFill>
                <a:latin typeface="Roboto" pitchFamily="34" charset="0"/>
                <a:ea typeface="Roboto" pitchFamily="34" charset="-122"/>
                <a:cs typeface="Roboto" pitchFamily="34" charset="-120"/>
              </a:rPr>
              <a:t>(p95: 120ms, p99: 250ms)</a:t>
            </a:r>
            <a:endParaRPr lang="en-US" sz="550" dirty="0"/>
          </a:p>
        </p:txBody>
      </p:sp>
      <p:sp>
        <p:nvSpPr>
          <p:cNvPr id="14" name="Text 10"/>
          <p:cNvSpPr/>
          <p:nvPr/>
        </p:nvSpPr>
        <p:spPr>
          <a:xfrm>
            <a:off x="9432193" y="1515566"/>
            <a:ext cx="888382" cy="180578"/>
          </a:xfrm>
          <a:prstGeom prst="rect">
            <a:avLst/>
          </a:prstGeom>
          <a:noFill/>
          <a:ln/>
        </p:spPr>
        <p:txBody>
          <a:bodyPr wrap="none" lIns="0" tIns="0" rIns="0" bIns="0" rtlCol="0" anchor="t"/>
          <a:lstStyle/>
          <a:p>
            <a:pPr marL="0" indent="0" algn="ctr">
              <a:lnSpc>
                <a:spcPct val="83000"/>
              </a:lnSpc>
              <a:buNone/>
            </a:pPr>
            <a:r>
              <a:rPr lang="en-US" sz="1400" dirty="0">
                <a:solidFill>
                  <a:srgbClr val="E5E0DF"/>
                </a:solidFill>
                <a:latin typeface="Saira Medium" pitchFamily="34" charset="0"/>
                <a:ea typeface="Saira Medium" pitchFamily="34" charset="-122"/>
                <a:cs typeface="Saira Medium" pitchFamily="34" charset="-120"/>
              </a:rPr>
              <a:t>50,000%</a:t>
            </a:r>
            <a:endParaRPr lang="en-US" sz="1400" dirty="0"/>
          </a:p>
        </p:txBody>
      </p:sp>
      <p:pic>
        <p:nvPicPr>
          <p:cNvPr id="15" name="Image 2" descr="preencoded.png"/>
          <p:cNvPicPr>
            <a:picLocks noChangeAspect="1"/>
          </p:cNvPicPr>
          <p:nvPr/>
        </p:nvPicPr>
        <p:blipFill>
          <a:blip r:embed="rId3"/>
          <a:stretch>
            <a:fillRect/>
          </a:stretch>
        </p:blipFill>
        <p:spPr>
          <a:xfrm>
            <a:off x="9334763" y="1064121"/>
            <a:ext cx="1083442" cy="1083469"/>
          </a:xfrm>
          <a:prstGeom prst="rect">
            <a:avLst/>
          </a:prstGeom>
        </p:spPr>
      </p:pic>
      <p:sp>
        <p:nvSpPr>
          <p:cNvPr id="16" name="Text 11"/>
          <p:cNvSpPr/>
          <p:nvPr/>
        </p:nvSpPr>
        <p:spPr>
          <a:xfrm>
            <a:off x="9425049" y="2197100"/>
            <a:ext cx="902868" cy="112812"/>
          </a:xfrm>
          <a:prstGeom prst="rect">
            <a:avLst/>
          </a:prstGeom>
          <a:noFill/>
          <a:ln/>
        </p:spPr>
        <p:txBody>
          <a:bodyPr wrap="none" lIns="0" tIns="0" rIns="0" bIns="0" rtlCol="0" anchor="t"/>
          <a:lstStyle/>
          <a:p>
            <a:pPr marL="0" indent="0" algn="ctr">
              <a:lnSpc>
                <a:spcPct val="104000"/>
              </a:lnSpc>
              <a:buNone/>
            </a:pPr>
            <a:r>
              <a:rPr lang="en-US" sz="700" dirty="0">
                <a:solidFill>
                  <a:srgbClr val="E5E0DF"/>
                </a:solidFill>
                <a:latin typeface="Saira Medium" pitchFamily="34" charset="0"/>
                <a:ea typeface="Saira Medium" pitchFamily="34" charset="-122"/>
                <a:cs typeface="Saira Medium" pitchFamily="34" charset="-120"/>
              </a:rPr>
              <a:t>Requests/Second</a:t>
            </a:r>
            <a:endParaRPr lang="en-US" sz="700" dirty="0"/>
          </a:p>
        </p:txBody>
      </p:sp>
      <p:sp>
        <p:nvSpPr>
          <p:cNvPr id="17" name="Text 12"/>
          <p:cNvSpPr/>
          <p:nvPr/>
        </p:nvSpPr>
        <p:spPr>
          <a:xfrm>
            <a:off x="8005860" y="2328763"/>
            <a:ext cx="3741247" cy="82947"/>
          </a:xfrm>
          <a:prstGeom prst="rect">
            <a:avLst/>
          </a:prstGeom>
          <a:noFill/>
          <a:ln/>
        </p:spPr>
        <p:txBody>
          <a:bodyPr wrap="none" lIns="0" tIns="0" rIns="0" bIns="0" rtlCol="0" anchor="t"/>
          <a:lstStyle/>
          <a:p>
            <a:pPr marL="0" indent="0" algn="ctr">
              <a:lnSpc>
                <a:spcPct val="96000"/>
              </a:lnSpc>
              <a:buNone/>
            </a:pPr>
            <a:r>
              <a:rPr lang="en-US" sz="550" dirty="0">
                <a:solidFill>
                  <a:srgbClr val="E5E0DF"/>
                </a:solidFill>
                <a:latin typeface="Roboto" pitchFamily="34" charset="0"/>
                <a:ea typeface="Roboto" pitchFamily="34" charset="-122"/>
                <a:cs typeface="Roboto" pitchFamily="34" charset="-120"/>
              </a:rPr>
              <a:t>Peak throughput</a:t>
            </a:r>
            <a:endParaRPr lang="en-US" sz="550" dirty="0"/>
          </a:p>
        </p:txBody>
      </p:sp>
      <p:sp>
        <p:nvSpPr>
          <p:cNvPr id="18" name="Text 13"/>
          <p:cNvSpPr/>
          <p:nvPr/>
        </p:nvSpPr>
        <p:spPr>
          <a:xfrm>
            <a:off x="3761090" y="2944217"/>
            <a:ext cx="888382" cy="180578"/>
          </a:xfrm>
          <a:prstGeom prst="rect">
            <a:avLst/>
          </a:prstGeom>
          <a:noFill/>
          <a:ln/>
        </p:spPr>
        <p:txBody>
          <a:bodyPr wrap="none" lIns="0" tIns="0" rIns="0" bIns="0" rtlCol="0" anchor="t"/>
          <a:lstStyle/>
          <a:p>
            <a:pPr marL="0" indent="0" algn="ctr">
              <a:lnSpc>
                <a:spcPct val="83000"/>
              </a:lnSpc>
              <a:buNone/>
            </a:pPr>
            <a:r>
              <a:rPr lang="en-US" sz="1400" dirty="0">
                <a:solidFill>
                  <a:srgbClr val="E5E0DF"/>
                </a:solidFill>
                <a:latin typeface="Saira Medium" pitchFamily="34" charset="0"/>
                <a:ea typeface="Saira Medium" pitchFamily="34" charset="-122"/>
                <a:cs typeface="Saira Medium" pitchFamily="34" charset="-120"/>
              </a:rPr>
              <a:t>0%</a:t>
            </a:r>
            <a:endParaRPr lang="en-US" sz="1400" dirty="0"/>
          </a:p>
        </p:txBody>
      </p:sp>
      <p:pic>
        <p:nvPicPr>
          <p:cNvPr id="19" name="Image 3" descr="preencoded.png"/>
          <p:cNvPicPr>
            <a:picLocks noChangeAspect="1"/>
          </p:cNvPicPr>
          <p:nvPr/>
        </p:nvPicPr>
        <p:blipFill>
          <a:blip r:embed="rId5"/>
          <a:stretch>
            <a:fillRect/>
          </a:stretch>
        </p:blipFill>
        <p:spPr>
          <a:xfrm>
            <a:off x="3663660" y="2492772"/>
            <a:ext cx="1083442" cy="1083469"/>
          </a:xfrm>
          <a:prstGeom prst="rect">
            <a:avLst/>
          </a:prstGeom>
        </p:spPr>
      </p:pic>
      <p:sp>
        <p:nvSpPr>
          <p:cNvPr id="20" name="Text 14"/>
          <p:cNvSpPr/>
          <p:nvPr/>
        </p:nvSpPr>
        <p:spPr>
          <a:xfrm>
            <a:off x="3753947" y="3625751"/>
            <a:ext cx="902868" cy="112812"/>
          </a:xfrm>
          <a:prstGeom prst="rect">
            <a:avLst/>
          </a:prstGeom>
          <a:noFill/>
          <a:ln/>
        </p:spPr>
        <p:txBody>
          <a:bodyPr wrap="none" lIns="0" tIns="0" rIns="0" bIns="0" rtlCol="0" anchor="t"/>
          <a:lstStyle/>
          <a:p>
            <a:pPr marL="0" indent="0" algn="ctr">
              <a:lnSpc>
                <a:spcPct val="104000"/>
              </a:lnSpc>
              <a:buNone/>
            </a:pPr>
            <a:r>
              <a:rPr lang="en-US" sz="700" dirty="0">
                <a:solidFill>
                  <a:srgbClr val="E5E0DF"/>
                </a:solidFill>
                <a:latin typeface="Saira Medium" pitchFamily="34" charset="0"/>
                <a:ea typeface="Saira Medium" pitchFamily="34" charset="-122"/>
                <a:cs typeface="Saira Medium" pitchFamily="34" charset="-120"/>
              </a:rPr>
              <a:t>Errors Under Load</a:t>
            </a:r>
            <a:endParaRPr lang="en-US" sz="700" dirty="0"/>
          </a:p>
        </p:txBody>
      </p:sp>
      <p:sp>
        <p:nvSpPr>
          <p:cNvPr id="21" name="Text 15"/>
          <p:cNvSpPr/>
          <p:nvPr/>
        </p:nvSpPr>
        <p:spPr>
          <a:xfrm>
            <a:off x="2334757" y="3757414"/>
            <a:ext cx="3741346" cy="82947"/>
          </a:xfrm>
          <a:prstGeom prst="rect">
            <a:avLst/>
          </a:prstGeom>
          <a:noFill/>
          <a:ln/>
        </p:spPr>
        <p:txBody>
          <a:bodyPr wrap="none" lIns="0" tIns="0" rIns="0" bIns="0" rtlCol="0" anchor="t"/>
          <a:lstStyle/>
          <a:p>
            <a:pPr marL="0" indent="0" algn="ctr">
              <a:lnSpc>
                <a:spcPct val="96000"/>
              </a:lnSpc>
              <a:buNone/>
            </a:pPr>
            <a:r>
              <a:rPr lang="en-US" sz="550" dirty="0">
                <a:solidFill>
                  <a:srgbClr val="E5E0DF"/>
                </a:solidFill>
                <a:latin typeface="Roboto" pitchFamily="34" charset="0"/>
                <a:ea typeface="Roboto" pitchFamily="34" charset="-122"/>
                <a:cs typeface="Roboto" pitchFamily="34" charset="-120"/>
              </a:rPr>
              <a:t>Zero errors under sustained load</a:t>
            </a:r>
            <a:endParaRPr lang="en-US" sz="550" dirty="0"/>
          </a:p>
        </p:txBody>
      </p:sp>
      <p:sp>
        <p:nvSpPr>
          <p:cNvPr id="22" name="Text 16"/>
          <p:cNvSpPr/>
          <p:nvPr/>
        </p:nvSpPr>
        <p:spPr>
          <a:xfrm>
            <a:off x="7541825" y="2944217"/>
            <a:ext cx="888382" cy="180578"/>
          </a:xfrm>
          <a:prstGeom prst="rect">
            <a:avLst/>
          </a:prstGeom>
          <a:noFill/>
          <a:ln/>
        </p:spPr>
        <p:txBody>
          <a:bodyPr wrap="none" lIns="0" tIns="0" rIns="0" bIns="0" rtlCol="0" anchor="t"/>
          <a:lstStyle/>
          <a:p>
            <a:pPr marL="0" indent="0" algn="ctr">
              <a:lnSpc>
                <a:spcPct val="83000"/>
              </a:lnSpc>
              <a:buNone/>
            </a:pPr>
            <a:r>
              <a:rPr lang="en-US" sz="1400" dirty="0">
                <a:solidFill>
                  <a:srgbClr val="E5E0DF"/>
                </a:solidFill>
                <a:latin typeface="Saira Medium" pitchFamily="34" charset="0"/>
                <a:ea typeface="Saira Medium" pitchFamily="34" charset="-122"/>
                <a:cs typeface="Saira Medium" pitchFamily="34" charset="-120"/>
              </a:rPr>
              <a:t>&lt;2%</a:t>
            </a:r>
            <a:endParaRPr lang="en-US" sz="1400" dirty="0"/>
          </a:p>
        </p:txBody>
      </p:sp>
      <p:pic>
        <p:nvPicPr>
          <p:cNvPr id="23" name="Image 4" descr="preencoded.png"/>
          <p:cNvPicPr>
            <a:picLocks noChangeAspect="1"/>
          </p:cNvPicPr>
          <p:nvPr/>
        </p:nvPicPr>
        <p:blipFill>
          <a:blip r:embed="rId6"/>
          <a:stretch>
            <a:fillRect/>
          </a:stretch>
        </p:blipFill>
        <p:spPr>
          <a:xfrm>
            <a:off x="7444395" y="2492772"/>
            <a:ext cx="1083442" cy="1083469"/>
          </a:xfrm>
          <a:prstGeom prst="rect">
            <a:avLst/>
          </a:prstGeom>
        </p:spPr>
      </p:pic>
      <p:sp>
        <p:nvSpPr>
          <p:cNvPr id="24" name="Text 17"/>
          <p:cNvSpPr/>
          <p:nvPr/>
        </p:nvSpPr>
        <p:spPr>
          <a:xfrm>
            <a:off x="7534682" y="3625751"/>
            <a:ext cx="902868" cy="112812"/>
          </a:xfrm>
          <a:prstGeom prst="rect">
            <a:avLst/>
          </a:prstGeom>
          <a:noFill/>
          <a:ln/>
        </p:spPr>
        <p:txBody>
          <a:bodyPr wrap="none" lIns="0" tIns="0" rIns="0" bIns="0" rtlCol="0" anchor="t"/>
          <a:lstStyle/>
          <a:p>
            <a:pPr marL="0" indent="0" algn="ctr">
              <a:lnSpc>
                <a:spcPct val="104000"/>
              </a:lnSpc>
              <a:buNone/>
            </a:pPr>
            <a:r>
              <a:rPr lang="en-US" sz="700" dirty="0">
                <a:solidFill>
                  <a:srgbClr val="E5E0DF"/>
                </a:solidFill>
                <a:latin typeface="Saira Medium" pitchFamily="34" charset="0"/>
                <a:ea typeface="Saira Medium" pitchFamily="34" charset="-122"/>
                <a:cs typeface="Saira Medium" pitchFamily="34" charset="-120"/>
              </a:rPr>
              <a:t>Failover Time</a:t>
            </a:r>
            <a:endParaRPr lang="en-US" sz="700" dirty="0"/>
          </a:p>
        </p:txBody>
      </p:sp>
      <p:sp>
        <p:nvSpPr>
          <p:cNvPr id="25" name="Text 18"/>
          <p:cNvSpPr/>
          <p:nvPr/>
        </p:nvSpPr>
        <p:spPr>
          <a:xfrm>
            <a:off x="6115492" y="3757414"/>
            <a:ext cx="3741346" cy="82947"/>
          </a:xfrm>
          <a:prstGeom prst="rect">
            <a:avLst/>
          </a:prstGeom>
          <a:noFill/>
          <a:ln/>
        </p:spPr>
        <p:txBody>
          <a:bodyPr wrap="none" lIns="0" tIns="0" rIns="0" bIns="0" rtlCol="0" anchor="t"/>
          <a:lstStyle/>
          <a:p>
            <a:pPr marL="0" indent="0" algn="ctr">
              <a:lnSpc>
                <a:spcPct val="96000"/>
              </a:lnSpc>
              <a:buNone/>
            </a:pPr>
            <a:r>
              <a:rPr lang="en-US" sz="550" dirty="0">
                <a:solidFill>
                  <a:srgbClr val="E5E0DF"/>
                </a:solidFill>
                <a:latin typeface="Roboto" pitchFamily="34" charset="0"/>
                <a:ea typeface="Roboto" pitchFamily="34" charset="-122"/>
                <a:cs typeface="Roboto" pitchFamily="34" charset="-120"/>
              </a:rPr>
              <a:t>Multi-region failover validated</a:t>
            </a:r>
            <a:endParaRPr lang="en-US" sz="550" dirty="0"/>
          </a:p>
        </p:txBody>
      </p:sp>
      <p:sp>
        <p:nvSpPr>
          <p:cNvPr id="26" name="Text 19"/>
          <p:cNvSpPr/>
          <p:nvPr/>
        </p:nvSpPr>
        <p:spPr>
          <a:xfrm>
            <a:off x="444489" y="3887589"/>
            <a:ext cx="1815658" cy="112812"/>
          </a:xfrm>
          <a:prstGeom prst="rect">
            <a:avLst/>
          </a:prstGeom>
          <a:noFill/>
          <a:ln/>
        </p:spPr>
        <p:txBody>
          <a:bodyPr wrap="none" lIns="0" tIns="0" rIns="0" bIns="0" rtlCol="0" anchor="t"/>
          <a:lstStyle/>
          <a:p>
            <a:pPr marL="0" indent="0" algn="l">
              <a:lnSpc>
                <a:spcPct val="104000"/>
              </a:lnSpc>
              <a:buNone/>
            </a:pPr>
            <a:r>
              <a:rPr lang="en-US" sz="700" dirty="0">
                <a:solidFill>
                  <a:srgbClr val="FFFFFF"/>
                </a:solidFill>
                <a:latin typeface="Saira Medium" pitchFamily="34" charset="0"/>
                <a:ea typeface="Saira Medium" pitchFamily="34" charset="-122"/>
                <a:cs typeface="Saira Medium" pitchFamily="34" charset="-120"/>
              </a:rPr>
              <a:t>AWS CloudWatch Monitoring</a:t>
            </a:r>
            <a:endParaRPr lang="en-US" sz="700" dirty="0"/>
          </a:p>
        </p:txBody>
      </p:sp>
      <p:sp>
        <p:nvSpPr>
          <p:cNvPr id="27" name="Text 20"/>
          <p:cNvSpPr/>
          <p:nvPr/>
        </p:nvSpPr>
        <p:spPr>
          <a:xfrm>
            <a:off x="444489" y="4047629"/>
            <a:ext cx="11747206" cy="82947"/>
          </a:xfrm>
          <a:prstGeom prst="rect">
            <a:avLst/>
          </a:prstGeom>
          <a:noFill/>
          <a:ln/>
        </p:spPr>
        <p:txBody>
          <a:bodyPr wrap="none" lIns="0" tIns="0" rIns="0" bIns="0" rtlCol="0" anchor="t"/>
          <a:lstStyle/>
          <a:p>
            <a:pPr marL="0" indent="0" algn="l">
              <a:lnSpc>
                <a:spcPct val="96000"/>
              </a:lnSpc>
              <a:buNone/>
            </a:pPr>
            <a:r>
              <a:rPr lang="en-US" sz="550" dirty="0">
                <a:solidFill>
                  <a:srgbClr val="E5E0DF"/>
                </a:solidFill>
                <a:latin typeface="Roboto" pitchFamily="34" charset="0"/>
                <a:ea typeface="Roboto" pitchFamily="34" charset="-122"/>
                <a:cs typeface="Roboto" pitchFamily="34" charset="-120"/>
              </a:rPr>
              <a:t>Real-time dashboards track critical metrics across all layers:</a:t>
            </a:r>
            <a:endParaRPr lang="en-US" sz="550" dirty="0"/>
          </a:p>
        </p:txBody>
      </p:sp>
      <p:pic>
        <p:nvPicPr>
          <p:cNvPr id="28"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38139" y="4165997"/>
            <a:ext cx="3752955" cy="559693"/>
          </a:xfrm>
          <a:prstGeom prst="rect">
            <a:avLst/>
          </a:prstGeom>
        </p:spPr>
      </p:pic>
      <p:sp>
        <p:nvSpPr>
          <p:cNvPr id="29" name="Text 21"/>
          <p:cNvSpPr/>
          <p:nvPr/>
        </p:nvSpPr>
        <p:spPr>
          <a:xfrm>
            <a:off x="542118" y="4244578"/>
            <a:ext cx="924696" cy="112812"/>
          </a:xfrm>
          <a:prstGeom prst="rect">
            <a:avLst/>
          </a:prstGeom>
          <a:noFill/>
          <a:ln/>
        </p:spPr>
        <p:txBody>
          <a:bodyPr wrap="none" lIns="0" tIns="0" rIns="0" bIns="0" rtlCol="0" anchor="t"/>
          <a:lstStyle/>
          <a:p>
            <a:pPr marL="0" indent="0" algn="l">
              <a:lnSpc>
                <a:spcPct val="104000"/>
              </a:lnSpc>
              <a:buNone/>
            </a:pPr>
            <a:r>
              <a:rPr lang="en-US" sz="700" dirty="0">
                <a:solidFill>
                  <a:srgbClr val="E5E0DF"/>
                </a:solidFill>
                <a:latin typeface="Saira Medium" pitchFamily="34" charset="0"/>
                <a:ea typeface="Saira Medium" pitchFamily="34" charset="-122"/>
                <a:cs typeface="Saira Medium" pitchFamily="34" charset="-120"/>
              </a:rPr>
              <a:t>Microservices Metrics:</a:t>
            </a:r>
            <a:endParaRPr lang="en-US" sz="700" dirty="0"/>
          </a:p>
        </p:txBody>
      </p:sp>
      <p:sp>
        <p:nvSpPr>
          <p:cNvPr id="30" name="Text 22"/>
          <p:cNvSpPr/>
          <p:nvPr/>
        </p:nvSpPr>
        <p:spPr>
          <a:xfrm>
            <a:off x="542118" y="4376241"/>
            <a:ext cx="3570397" cy="270867"/>
          </a:xfrm>
          <a:prstGeom prst="rect">
            <a:avLst/>
          </a:prstGeom>
          <a:noFill/>
          <a:ln/>
        </p:spPr>
        <p:txBody>
          <a:bodyPr wrap="square" lIns="0" tIns="0" rIns="0" bIns="0" rtlCol="0" anchor="t">
            <a:normAutofit/>
          </a:bodyPr>
          <a:lstStyle/>
          <a:p>
            <a:pPr marL="342900" indent="-342900" algn="l">
              <a:lnSpc>
                <a:spcPct val="96000"/>
              </a:lnSpc>
              <a:buSzPct val="100000"/>
              <a:buChar char="•"/>
            </a:pPr>
            <a:r>
              <a:rPr lang="en-US" sz="550" dirty="0">
                <a:solidFill>
                  <a:srgbClr val="E5E0DF"/>
                </a:solidFill>
                <a:latin typeface="Roboto" pitchFamily="34" charset="0"/>
                <a:ea typeface="Roboto" pitchFamily="34" charset="-122"/>
                <a:cs typeface="Roboto" pitchFamily="34" charset="-120"/>
              </a:rPr>
              <a:t>Request latency per service (Auth, Flight, Booking, Baggage, WebSocket)</a:t>
            </a:r>
            <a:endParaRPr lang="en-US" sz="550" dirty="0"/>
          </a:p>
          <a:p>
            <a:pPr marL="342900" indent="-342900" algn="l">
              <a:lnSpc>
                <a:spcPct val="96000"/>
              </a:lnSpc>
              <a:buSzPct val="100000"/>
              <a:buChar char="•"/>
            </a:pPr>
            <a:r>
              <a:rPr lang="en-US" sz="550" dirty="0">
                <a:solidFill>
                  <a:srgbClr val="E5E0DF"/>
                </a:solidFill>
                <a:latin typeface="Roboto" pitchFamily="34" charset="0"/>
                <a:ea typeface="Roboto" pitchFamily="34" charset="-122"/>
                <a:cs typeface="Roboto" pitchFamily="34" charset="-120"/>
              </a:rPr>
              <a:t>Error rates and HTTP status code distribution</a:t>
            </a:r>
            <a:endParaRPr lang="en-US" sz="550" dirty="0"/>
          </a:p>
          <a:p>
            <a:pPr marL="342900" indent="-342900" algn="l">
              <a:lnSpc>
                <a:spcPct val="96000"/>
              </a:lnSpc>
              <a:buSzPct val="100000"/>
              <a:buChar char="•"/>
            </a:pPr>
            <a:r>
              <a:rPr lang="en-US" sz="550" dirty="0">
                <a:solidFill>
                  <a:srgbClr val="E5E0DF"/>
                </a:solidFill>
                <a:latin typeface="Roboto" pitchFamily="34" charset="0"/>
                <a:ea typeface="Roboto" pitchFamily="34" charset="-122"/>
                <a:cs typeface="Roboto" pitchFamily="34" charset="-120"/>
              </a:rPr>
              <a:t>Container CPU and memory utilization in EKS</a:t>
            </a:r>
            <a:endParaRPr lang="en-US" sz="550" dirty="0"/>
          </a:p>
        </p:txBody>
      </p:sp>
      <p:pic>
        <p:nvPicPr>
          <p:cNvPr id="31" name="Image 6"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216195" y="4165997"/>
            <a:ext cx="3752955" cy="559693"/>
          </a:xfrm>
          <a:prstGeom prst="rect">
            <a:avLst/>
          </a:prstGeom>
        </p:spPr>
      </p:pic>
      <p:sp>
        <p:nvSpPr>
          <p:cNvPr id="32" name="Text 23"/>
          <p:cNvSpPr/>
          <p:nvPr/>
        </p:nvSpPr>
        <p:spPr>
          <a:xfrm>
            <a:off x="4320174" y="4244578"/>
            <a:ext cx="902868" cy="112812"/>
          </a:xfrm>
          <a:prstGeom prst="rect">
            <a:avLst/>
          </a:prstGeom>
          <a:noFill/>
          <a:ln/>
        </p:spPr>
        <p:txBody>
          <a:bodyPr wrap="none" lIns="0" tIns="0" rIns="0" bIns="0" rtlCol="0" anchor="t"/>
          <a:lstStyle/>
          <a:p>
            <a:pPr marL="0" indent="0" algn="l">
              <a:lnSpc>
                <a:spcPct val="104000"/>
              </a:lnSpc>
              <a:buNone/>
            </a:pPr>
            <a:r>
              <a:rPr lang="en-US" sz="700" dirty="0">
                <a:solidFill>
                  <a:srgbClr val="E5E0DF"/>
                </a:solidFill>
                <a:latin typeface="Saira Medium" pitchFamily="34" charset="0"/>
                <a:ea typeface="Saira Medium" pitchFamily="34" charset="-122"/>
                <a:cs typeface="Saira Medium" pitchFamily="34" charset="-120"/>
              </a:rPr>
              <a:t>Database Metrics:</a:t>
            </a:r>
            <a:endParaRPr lang="en-US" sz="700" dirty="0"/>
          </a:p>
        </p:txBody>
      </p:sp>
      <p:sp>
        <p:nvSpPr>
          <p:cNvPr id="33" name="Text 24"/>
          <p:cNvSpPr/>
          <p:nvPr/>
        </p:nvSpPr>
        <p:spPr>
          <a:xfrm>
            <a:off x="4320174" y="4376241"/>
            <a:ext cx="3570397" cy="270867"/>
          </a:xfrm>
          <a:prstGeom prst="rect">
            <a:avLst/>
          </a:prstGeom>
          <a:noFill/>
          <a:ln/>
        </p:spPr>
        <p:txBody>
          <a:bodyPr wrap="square" lIns="0" tIns="0" rIns="0" bIns="0" rtlCol="0" anchor="t">
            <a:normAutofit/>
          </a:bodyPr>
          <a:lstStyle/>
          <a:p>
            <a:pPr marL="342900" indent="-342900" algn="l">
              <a:lnSpc>
                <a:spcPct val="96000"/>
              </a:lnSpc>
              <a:buSzPct val="100000"/>
              <a:buChar char="•"/>
            </a:pPr>
            <a:r>
              <a:rPr lang="en-US" sz="550" dirty="0">
                <a:solidFill>
                  <a:srgbClr val="E5E0DF"/>
                </a:solidFill>
                <a:latin typeface="Roboto" pitchFamily="34" charset="0"/>
                <a:ea typeface="Roboto" pitchFamily="34" charset="-122"/>
                <a:cs typeface="Roboto" pitchFamily="34" charset="-120"/>
              </a:rPr>
              <a:t>DynamoDB read/write capacity consumed</a:t>
            </a:r>
            <a:endParaRPr lang="en-US" sz="550" dirty="0"/>
          </a:p>
          <a:p>
            <a:pPr marL="342900" indent="-342900" algn="l">
              <a:lnSpc>
                <a:spcPct val="96000"/>
              </a:lnSpc>
              <a:buSzPct val="100000"/>
              <a:buChar char="•"/>
            </a:pPr>
            <a:r>
              <a:rPr lang="en-US" sz="550" dirty="0">
                <a:solidFill>
                  <a:srgbClr val="E5E0DF"/>
                </a:solidFill>
                <a:latin typeface="Roboto" pitchFamily="34" charset="0"/>
                <a:ea typeface="Roboto" pitchFamily="34" charset="-122"/>
                <a:cs typeface="Roboto" pitchFamily="34" charset="-120"/>
              </a:rPr>
              <a:t>Global Tables replication lag (&lt;100ms)</a:t>
            </a:r>
            <a:endParaRPr lang="en-US" sz="550" dirty="0"/>
          </a:p>
          <a:p>
            <a:pPr marL="342900" indent="-342900" algn="l">
              <a:lnSpc>
                <a:spcPct val="96000"/>
              </a:lnSpc>
              <a:buSzPct val="100000"/>
              <a:buChar char="•"/>
            </a:pPr>
            <a:r>
              <a:rPr lang="en-US" sz="550" dirty="0">
                <a:solidFill>
                  <a:srgbClr val="E5E0DF"/>
                </a:solidFill>
                <a:latin typeface="Roboto" pitchFamily="34" charset="0"/>
                <a:ea typeface="Roboto" pitchFamily="34" charset="-122"/>
                <a:cs typeface="Roboto" pitchFamily="34" charset="-120"/>
              </a:rPr>
              <a:t>Query latency percentiles</a:t>
            </a:r>
            <a:endParaRPr lang="en-US" sz="550" dirty="0"/>
          </a:p>
        </p:txBody>
      </p:sp>
      <p:pic>
        <p:nvPicPr>
          <p:cNvPr id="34" name="Image 7"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94252" y="4165997"/>
            <a:ext cx="3752955" cy="559693"/>
          </a:xfrm>
          <a:prstGeom prst="rect">
            <a:avLst/>
          </a:prstGeom>
        </p:spPr>
      </p:pic>
      <p:sp>
        <p:nvSpPr>
          <p:cNvPr id="35" name="Text 25"/>
          <p:cNvSpPr/>
          <p:nvPr/>
        </p:nvSpPr>
        <p:spPr>
          <a:xfrm>
            <a:off x="8098230" y="4244578"/>
            <a:ext cx="933327" cy="112812"/>
          </a:xfrm>
          <a:prstGeom prst="rect">
            <a:avLst/>
          </a:prstGeom>
          <a:noFill/>
          <a:ln/>
        </p:spPr>
        <p:txBody>
          <a:bodyPr wrap="none" lIns="0" tIns="0" rIns="0" bIns="0" rtlCol="0" anchor="t"/>
          <a:lstStyle/>
          <a:p>
            <a:pPr marL="0" indent="0" algn="l">
              <a:lnSpc>
                <a:spcPct val="104000"/>
              </a:lnSpc>
              <a:buNone/>
            </a:pPr>
            <a:r>
              <a:rPr lang="en-US" sz="700" dirty="0">
                <a:solidFill>
                  <a:srgbClr val="E5E0DF"/>
                </a:solidFill>
                <a:latin typeface="Saira Medium" pitchFamily="34" charset="0"/>
                <a:ea typeface="Saira Medium" pitchFamily="34" charset="-122"/>
                <a:cs typeface="Saira Medium" pitchFamily="34" charset="-120"/>
              </a:rPr>
              <a:t>Infrastructure Metrics:</a:t>
            </a:r>
            <a:endParaRPr lang="en-US" sz="700" dirty="0"/>
          </a:p>
        </p:txBody>
      </p:sp>
      <p:sp>
        <p:nvSpPr>
          <p:cNvPr id="36" name="Text 26"/>
          <p:cNvSpPr/>
          <p:nvPr/>
        </p:nvSpPr>
        <p:spPr>
          <a:xfrm>
            <a:off x="8098230" y="4376241"/>
            <a:ext cx="3570397" cy="270867"/>
          </a:xfrm>
          <a:prstGeom prst="rect">
            <a:avLst/>
          </a:prstGeom>
          <a:noFill/>
          <a:ln/>
        </p:spPr>
        <p:txBody>
          <a:bodyPr wrap="square" lIns="0" tIns="0" rIns="0" bIns="0" rtlCol="0" anchor="t">
            <a:normAutofit/>
          </a:bodyPr>
          <a:lstStyle/>
          <a:p>
            <a:pPr marL="342900" indent="-342900" algn="l">
              <a:lnSpc>
                <a:spcPct val="96000"/>
              </a:lnSpc>
              <a:buSzPct val="100000"/>
              <a:buChar char="•"/>
            </a:pPr>
            <a:r>
              <a:rPr lang="en-US" sz="550" dirty="0">
                <a:solidFill>
                  <a:srgbClr val="E5E0DF"/>
                </a:solidFill>
                <a:latin typeface="Roboto" pitchFamily="34" charset="0"/>
                <a:ea typeface="Roboto" pitchFamily="34" charset="-122"/>
                <a:cs typeface="Roboto" pitchFamily="34" charset="-120"/>
              </a:rPr>
              <a:t>EKS node health and pod status</a:t>
            </a:r>
            <a:endParaRPr lang="en-US" sz="550" dirty="0"/>
          </a:p>
          <a:p>
            <a:pPr marL="342900" indent="-342900" algn="l">
              <a:lnSpc>
                <a:spcPct val="96000"/>
              </a:lnSpc>
              <a:buSzPct val="100000"/>
              <a:buChar char="•"/>
            </a:pPr>
            <a:r>
              <a:rPr lang="en-US" sz="550" dirty="0">
                <a:solidFill>
                  <a:srgbClr val="E5E0DF"/>
                </a:solidFill>
                <a:latin typeface="Roboto" pitchFamily="34" charset="0"/>
                <a:ea typeface="Roboto" pitchFamily="34" charset="-122"/>
                <a:cs typeface="Roboto" pitchFamily="34" charset="-120"/>
              </a:rPr>
              <a:t>EventBridge event throughput and dead-letter queue depth</a:t>
            </a:r>
            <a:endParaRPr lang="en-US" sz="550" dirty="0"/>
          </a:p>
          <a:p>
            <a:pPr marL="342900" indent="-342900" algn="l">
              <a:lnSpc>
                <a:spcPct val="96000"/>
              </a:lnSpc>
              <a:buSzPct val="100000"/>
              <a:buChar char="•"/>
            </a:pPr>
            <a:r>
              <a:rPr lang="en-US" sz="550" dirty="0">
                <a:solidFill>
                  <a:srgbClr val="E5E0DF"/>
                </a:solidFill>
                <a:latin typeface="Roboto" pitchFamily="34" charset="0"/>
                <a:ea typeface="Roboto" pitchFamily="34" charset="-122"/>
                <a:cs typeface="Roboto" pitchFamily="34" charset="-120"/>
              </a:rPr>
              <a:t>Lambda invocation count and duration</a:t>
            </a:r>
            <a:endParaRPr lang="en-US" sz="550" dirty="0"/>
          </a:p>
        </p:txBody>
      </p:sp>
      <p:sp>
        <p:nvSpPr>
          <p:cNvPr id="37" name="Text 27"/>
          <p:cNvSpPr/>
          <p:nvPr/>
        </p:nvSpPr>
        <p:spPr>
          <a:xfrm>
            <a:off x="444489" y="4772918"/>
            <a:ext cx="2071338" cy="112812"/>
          </a:xfrm>
          <a:prstGeom prst="rect">
            <a:avLst/>
          </a:prstGeom>
          <a:noFill/>
          <a:ln/>
        </p:spPr>
        <p:txBody>
          <a:bodyPr wrap="none" lIns="0" tIns="0" rIns="0" bIns="0" rtlCol="0" anchor="t"/>
          <a:lstStyle/>
          <a:p>
            <a:pPr marL="0" indent="0" algn="l">
              <a:lnSpc>
                <a:spcPct val="104000"/>
              </a:lnSpc>
              <a:buNone/>
            </a:pPr>
            <a:r>
              <a:rPr lang="en-US" sz="700" dirty="0">
                <a:solidFill>
                  <a:srgbClr val="FFFFFF"/>
                </a:solidFill>
                <a:latin typeface="Saira Medium" pitchFamily="34" charset="0"/>
                <a:ea typeface="Saira Medium" pitchFamily="34" charset="-122"/>
                <a:cs typeface="Saira Medium" pitchFamily="34" charset="-120"/>
              </a:rPr>
              <a:t>CloudWatch Alarms &amp; Auto-Scaling</a:t>
            </a:r>
            <a:endParaRPr lang="en-US" sz="700" dirty="0"/>
          </a:p>
        </p:txBody>
      </p:sp>
      <p:sp>
        <p:nvSpPr>
          <p:cNvPr id="38" name="Text 28"/>
          <p:cNvSpPr/>
          <p:nvPr/>
        </p:nvSpPr>
        <p:spPr>
          <a:xfrm>
            <a:off x="444489" y="4932958"/>
            <a:ext cx="11747206" cy="82947"/>
          </a:xfrm>
          <a:prstGeom prst="rect">
            <a:avLst/>
          </a:prstGeom>
          <a:noFill/>
          <a:ln/>
        </p:spPr>
        <p:txBody>
          <a:bodyPr wrap="none" lIns="0" tIns="0" rIns="0" bIns="0" rtlCol="0" anchor="t"/>
          <a:lstStyle/>
          <a:p>
            <a:pPr marL="0" indent="0" algn="l">
              <a:lnSpc>
                <a:spcPct val="96000"/>
              </a:lnSpc>
              <a:buNone/>
            </a:pPr>
            <a:r>
              <a:rPr lang="en-US" sz="550" dirty="0">
                <a:solidFill>
                  <a:srgbClr val="E5E0DF"/>
                </a:solidFill>
                <a:latin typeface="Roboto" pitchFamily="34" charset="0"/>
                <a:ea typeface="Roboto" pitchFamily="34" charset="-122"/>
                <a:cs typeface="Roboto" pitchFamily="34" charset="-120"/>
              </a:rPr>
              <a:t>Automated alerts trigger when thresholds are breached:</a:t>
            </a:r>
            <a:endParaRPr lang="en-US" sz="550" dirty="0"/>
          </a:p>
        </p:txBody>
      </p:sp>
      <p:pic>
        <p:nvPicPr>
          <p:cNvPr id="39" name="Image 8"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1575" y="5054798"/>
            <a:ext cx="108344" cy="108347"/>
          </a:xfrm>
          <a:prstGeom prst="rect">
            <a:avLst/>
          </a:prstGeom>
        </p:spPr>
      </p:pic>
      <p:sp>
        <p:nvSpPr>
          <p:cNvPr id="40" name="Text 29"/>
          <p:cNvSpPr/>
          <p:nvPr/>
        </p:nvSpPr>
        <p:spPr>
          <a:xfrm>
            <a:off x="679235" y="5051326"/>
            <a:ext cx="5396869" cy="82947"/>
          </a:xfrm>
          <a:prstGeom prst="rect">
            <a:avLst/>
          </a:prstGeom>
          <a:noFill/>
          <a:ln/>
        </p:spPr>
        <p:txBody>
          <a:bodyPr wrap="none" lIns="0" tIns="0" rIns="0" bIns="0" rtlCol="0" anchor="t"/>
          <a:lstStyle/>
          <a:p>
            <a:pPr marL="0" indent="0" algn="l">
              <a:lnSpc>
                <a:spcPct val="96000"/>
              </a:lnSpc>
              <a:buNone/>
            </a:pPr>
            <a:r>
              <a:rPr lang="en-US" sz="550" dirty="0">
                <a:solidFill>
                  <a:srgbClr val="E5E0DF"/>
                </a:solidFill>
                <a:latin typeface="Roboto" pitchFamily="34" charset="0"/>
                <a:ea typeface="Roboto" pitchFamily="34" charset="-122"/>
                <a:cs typeface="Roboto" pitchFamily="34" charset="-120"/>
              </a:rPr>
              <a:t>Latency exceeds 500ms → SNS notification to on-call team</a:t>
            </a:r>
            <a:endParaRPr lang="en-US" sz="550" dirty="0"/>
          </a:p>
        </p:txBody>
      </p:sp>
      <p:pic>
        <p:nvPicPr>
          <p:cNvPr id="41" name="Image 9"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42578" y="5054798"/>
            <a:ext cx="108344" cy="108347"/>
          </a:xfrm>
          <a:prstGeom prst="rect">
            <a:avLst/>
          </a:prstGeom>
        </p:spPr>
      </p:pic>
      <p:sp>
        <p:nvSpPr>
          <p:cNvPr id="42" name="Text 30"/>
          <p:cNvSpPr/>
          <p:nvPr/>
        </p:nvSpPr>
        <p:spPr>
          <a:xfrm>
            <a:off x="6350238" y="5051326"/>
            <a:ext cx="5396968" cy="82947"/>
          </a:xfrm>
          <a:prstGeom prst="rect">
            <a:avLst/>
          </a:prstGeom>
          <a:noFill/>
          <a:ln/>
        </p:spPr>
        <p:txBody>
          <a:bodyPr wrap="none" lIns="0" tIns="0" rIns="0" bIns="0" rtlCol="0" anchor="t"/>
          <a:lstStyle/>
          <a:p>
            <a:pPr marL="0" indent="0" algn="l">
              <a:lnSpc>
                <a:spcPct val="96000"/>
              </a:lnSpc>
              <a:buNone/>
            </a:pPr>
            <a:r>
              <a:rPr lang="en-US" sz="550" dirty="0">
                <a:solidFill>
                  <a:srgbClr val="E5E0DF"/>
                </a:solidFill>
                <a:latin typeface="Roboto" pitchFamily="34" charset="0"/>
                <a:ea typeface="Roboto" pitchFamily="34" charset="-122"/>
                <a:cs typeface="Roboto" pitchFamily="34" charset="-120"/>
              </a:rPr>
              <a:t>Error rate &gt;1% → Auto-scale EKS pods horizontally</a:t>
            </a:r>
            <a:endParaRPr lang="en-US" sz="550" dirty="0"/>
          </a:p>
        </p:txBody>
      </p:sp>
      <p:pic>
        <p:nvPicPr>
          <p:cNvPr id="43" name="Image 10"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1575" y="5338068"/>
            <a:ext cx="108344" cy="108347"/>
          </a:xfrm>
          <a:prstGeom prst="rect">
            <a:avLst/>
          </a:prstGeom>
        </p:spPr>
      </p:pic>
      <p:sp>
        <p:nvSpPr>
          <p:cNvPr id="44" name="Text 31"/>
          <p:cNvSpPr/>
          <p:nvPr/>
        </p:nvSpPr>
        <p:spPr>
          <a:xfrm>
            <a:off x="679235" y="5334595"/>
            <a:ext cx="5396869" cy="82947"/>
          </a:xfrm>
          <a:prstGeom prst="rect">
            <a:avLst/>
          </a:prstGeom>
          <a:noFill/>
          <a:ln/>
        </p:spPr>
        <p:txBody>
          <a:bodyPr wrap="none" lIns="0" tIns="0" rIns="0" bIns="0" rtlCol="0" anchor="t"/>
          <a:lstStyle/>
          <a:p>
            <a:pPr marL="0" indent="0" algn="l">
              <a:lnSpc>
                <a:spcPct val="96000"/>
              </a:lnSpc>
              <a:buNone/>
            </a:pPr>
            <a:r>
              <a:rPr lang="en-US" sz="550" dirty="0">
                <a:solidFill>
                  <a:srgbClr val="E5E0DF"/>
                </a:solidFill>
                <a:latin typeface="Roboto" pitchFamily="34" charset="0"/>
                <a:ea typeface="Roboto" pitchFamily="34" charset="-122"/>
                <a:cs typeface="Roboto" pitchFamily="34" charset="-120"/>
              </a:rPr>
              <a:t>DynamoDB throttling detected → Increase provisioned capacity</a:t>
            </a:r>
            <a:endParaRPr lang="en-US" sz="550" dirty="0"/>
          </a:p>
        </p:txBody>
      </p:sp>
      <p:pic>
        <p:nvPicPr>
          <p:cNvPr id="45" name="Image 11"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42578" y="5338068"/>
            <a:ext cx="108344" cy="108347"/>
          </a:xfrm>
          <a:prstGeom prst="rect">
            <a:avLst/>
          </a:prstGeom>
        </p:spPr>
      </p:pic>
      <p:sp>
        <p:nvSpPr>
          <p:cNvPr id="46" name="Text 32"/>
          <p:cNvSpPr/>
          <p:nvPr/>
        </p:nvSpPr>
        <p:spPr>
          <a:xfrm>
            <a:off x="6350238" y="5334595"/>
            <a:ext cx="5396968" cy="82947"/>
          </a:xfrm>
          <a:prstGeom prst="rect">
            <a:avLst/>
          </a:prstGeom>
          <a:noFill/>
          <a:ln/>
        </p:spPr>
        <p:txBody>
          <a:bodyPr wrap="none" lIns="0" tIns="0" rIns="0" bIns="0" rtlCol="0" anchor="t"/>
          <a:lstStyle/>
          <a:p>
            <a:pPr marL="0" indent="0" algn="l">
              <a:lnSpc>
                <a:spcPct val="96000"/>
              </a:lnSpc>
              <a:buNone/>
            </a:pPr>
            <a:r>
              <a:rPr lang="en-US" sz="550" dirty="0">
                <a:solidFill>
                  <a:srgbClr val="E5E0DF"/>
                </a:solidFill>
                <a:latin typeface="Roboto" pitchFamily="34" charset="0"/>
                <a:ea typeface="Roboto" pitchFamily="34" charset="-122"/>
                <a:cs typeface="Roboto" pitchFamily="34" charset="-120"/>
              </a:rPr>
              <a:t>Lambda cold starts &gt;5s → Provision reserved concurrency</a:t>
            </a:r>
            <a:endParaRPr lang="en-US" sz="550" dirty="0"/>
          </a:p>
        </p:txBody>
      </p:sp>
      <p:sp>
        <p:nvSpPr>
          <p:cNvPr id="47" name="Text 33"/>
          <p:cNvSpPr/>
          <p:nvPr/>
        </p:nvSpPr>
        <p:spPr>
          <a:xfrm>
            <a:off x="444489" y="5602089"/>
            <a:ext cx="1760097" cy="112812"/>
          </a:xfrm>
          <a:prstGeom prst="rect">
            <a:avLst/>
          </a:prstGeom>
          <a:noFill/>
          <a:ln/>
        </p:spPr>
        <p:txBody>
          <a:bodyPr wrap="none" lIns="0" tIns="0" rIns="0" bIns="0" rtlCol="0" anchor="t"/>
          <a:lstStyle/>
          <a:p>
            <a:pPr marL="0" indent="0" algn="l">
              <a:lnSpc>
                <a:spcPct val="104000"/>
              </a:lnSpc>
              <a:buNone/>
            </a:pPr>
            <a:r>
              <a:rPr lang="en-US" sz="700" dirty="0">
                <a:solidFill>
                  <a:srgbClr val="FFFFFF"/>
                </a:solidFill>
                <a:latin typeface="Saira Medium" pitchFamily="34" charset="0"/>
                <a:ea typeface="Saira Medium" pitchFamily="34" charset="-122"/>
                <a:cs typeface="Saira Medium" pitchFamily="34" charset="-120"/>
              </a:rPr>
              <a:t>99.999% SLA Maintenance</a:t>
            </a:r>
            <a:endParaRPr lang="en-US" sz="700" dirty="0"/>
          </a:p>
        </p:txBody>
      </p:sp>
      <p:sp>
        <p:nvSpPr>
          <p:cNvPr id="48" name="Shape 34"/>
          <p:cNvSpPr/>
          <p:nvPr/>
        </p:nvSpPr>
        <p:spPr>
          <a:xfrm>
            <a:off x="444489" y="5762129"/>
            <a:ext cx="11302717" cy="191294"/>
          </a:xfrm>
          <a:prstGeom prst="roundRect">
            <a:avLst>
              <a:gd name="adj" fmla="val 33983"/>
            </a:avLst>
          </a:prstGeom>
          <a:solidFill>
            <a:srgbClr val="183A13"/>
          </a:solidFill>
          <a:ln/>
        </p:spPr>
        <p:txBody>
          <a:bodyPr/>
          <a:lstStyle/>
          <a:p>
            <a:endParaRPr lang="en-US"/>
          </a:p>
        </p:txBody>
      </p:sp>
      <p:pic>
        <p:nvPicPr>
          <p:cNvPr id="49" name="Image 12" descr="preencoded.png"/>
          <p:cNvPicPr>
            <a:picLocks noChangeAspect="1"/>
          </p:cNvPicPr>
          <p:nvPr/>
        </p:nvPicPr>
        <p:blipFill>
          <a:blip r:embed="rId9"/>
          <a:stretch>
            <a:fillRect/>
          </a:stretch>
        </p:blipFill>
        <p:spPr>
          <a:xfrm>
            <a:off x="516718" y="5852716"/>
            <a:ext cx="90287" cy="72231"/>
          </a:xfrm>
          <a:prstGeom prst="rect">
            <a:avLst/>
          </a:prstGeom>
        </p:spPr>
      </p:pic>
      <p:sp>
        <p:nvSpPr>
          <p:cNvPr id="50" name="Text 35"/>
          <p:cNvSpPr/>
          <p:nvPr/>
        </p:nvSpPr>
        <p:spPr>
          <a:xfrm>
            <a:off x="679235" y="5808563"/>
            <a:ext cx="11512460" cy="82947"/>
          </a:xfrm>
          <a:prstGeom prst="rect">
            <a:avLst/>
          </a:prstGeom>
          <a:noFill/>
          <a:ln/>
        </p:spPr>
        <p:txBody>
          <a:bodyPr wrap="none" lIns="0" tIns="0" rIns="0" bIns="0" rtlCol="0" anchor="t"/>
          <a:lstStyle/>
          <a:p>
            <a:pPr marL="0" indent="0" algn="l">
              <a:lnSpc>
                <a:spcPct val="96000"/>
              </a:lnSpc>
              <a:buNone/>
            </a:pPr>
            <a:r>
              <a:rPr lang="en-US" sz="550" dirty="0">
                <a:solidFill>
                  <a:srgbClr val="FFFFFF"/>
                </a:solidFill>
                <a:latin typeface="Roboto" pitchFamily="34" charset="0"/>
                <a:ea typeface="Roboto" pitchFamily="34" charset="-122"/>
                <a:cs typeface="Roboto" pitchFamily="34" charset="-120"/>
              </a:rPr>
              <a:t>With 5 nines availability (52.6 seconds downtime per year), AeroLink relies on:</a:t>
            </a:r>
            <a:endParaRPr lang="en-US" sz="550" dirty="0"/>
          </a:p>
        </p:txBody>
      </p:sp>
      <p:sp>
        <p:nvSpPr>
          <p:cNvPr id="51" name="Shape 36"/>
          <p:cNvSpPr/>
          <p:nvPr/>
        </p:nvSpPr>
        <p:spPr>
          <a:xfrm>
            <a:off x="444489" y="5988844"/>
            <a:ext cx="3746605" cy="240109"/>
          </a:xfrm>
          <a:prstGeom prst="roundRect">
            <a:avLst>
              <a:gd name="adj" fmla="val 27074"/>
            </a:avLst>
          </a:prstGeom>
          <a:solidFill>
            <a:srgbClr val="030303"/>
          </a:solidFill>
          <a:ln w="6350">
            <a:solidFill>
              <a:srgbClr val="FC8337"/>
            </a:solidFill>
            <a:prstDash val="solid"/>
          </a:ln>
        </p:spPr>
        <p:txBody>
          <a:bodyPr/>
          <a:lstStyle/>
          <a:p>
            <a:endParaRPr lang="en-US"/>
          </a:p>
        </p:txBody>
      </p:sp>
      <p:sp>
        <p:nvSpPr>
          <p:cNvPr id="52" name="Text 37"/>
          <p:cNvSpPr/>
          <p:nvPr/>
        </p:nvSpPr>
        <p:spPr>
          <a:xfrm>
            <a:off x="523068" y="6067425"/>
            <a:ext cx="3589446" cy="82947"/>
          </a:xfrm>
          <a:prstGeom prst="rect">
            <a:avLst/>
          </a:prstGeom>
          <a:noFill/>
          <a:ln/>
        </p:spPr>
        <p:txBody>
          <a:bodyPr wrap="none" lIns="0" tIns="0" rIns="0" bIns="0" rtlCol="0" anchor="t"/>
          <a:lstStyle/>
          <a:p>
            <a:pPr marL="0" indent="0" algn="l">
              <a:lnSpc>
                <a:spcPct val="96000"/>
              </a:lnSpc>
              <a:buNone/>
            </a:pPr>
            <a:r>
              <a:rPr lang="en-US" sz="550" dirty="0">
                <a:solidFill>
                  <a:srgbClr val="E5E0DF"/>
                </a:solidFill>
                <a:latin typeface="Roboto" pitchFamily="34" charset="0"/>
                <a:ea typeface="Roboto" pitchFamily="34" charset="-122"/>
                <a:cs typeface="Roboto" pitchFamily="34" charset="-120"/>
              </a:rPr>
              <a:t>Continuous monitoring to detect issues before they impact users</a:t>
            </a:r>
            <a:endParaRPr lang="en-US" sz="550" dirty="0"/>
          </a:p>
        </p:txBody>
      </p:sp>
      <p:sp>
        <p:nvSpPr>
          <p:cNvPr id="53" name="Shape 38"/>
          <p:cNvSpPr/>
          <p:nvPr/>
        </p:nvSpPr>
        <p:spPr>
          <a:xfrm>
            <a:off x="4222545" y="5988844"/>
            <a:ext cx="3746605" cy="240109"/>
          </a:xfrm>
          <a:prstGeom prst="roundRect">
            <a:avLst>
              <a:gd name="adj" fmla="val 27074"/>
            </a:avLst>
          </a:prstGeom>
          <a:solidFill>
            <a:srgbClr val="030303"/>
          </a:solidFill>
          <a:ln w="6350">
            <a:solidFill>
              <a:srgbClr val="FC8337"/>
            </a:solidFill>
            <a:prstDash val="solid"/>
          </a:ln>
        </p:spPr>
        <p:txBody>
          <a:bodyPr/>
          <a:lstStyle/>
          <a:p>
            <a:endParaRPr lang="en-US"/>
          </a:p>
        </p:txBody>
      </p:sp>
      <p:sp>
        <p:nvSpPr>
          <p:cNvPr id="54" name="Text 39"/>
          <p:cNvSpPr/>
          <p:nvPr/>
        </p:nvSpPr>
        <p:spPr>
          <a:xfrm>
            <a:off x="4301124" y="6067425"/>
            <a:ext cx="3589446" cy="82947"/>
          </a:xfrm>
          <a:prstGeom prst="rect">
            <a:avLst/>
          </a:prstGeom>
          <a:noFill/>
          <a:ln/>
        </p:spPr>
        <p:txBody>
          <a:bodyPr wrap="none" lIns="0" tIns="0" rIns="0" bIns="0" rtlCol="0" anchor="t"/>
          <a:lstStyle/>
          <a:p>
            <a:pPr marL="0" indent="0" algn="l">
              <a:lnSpc>
                <a:spcPct val="96000"/>
              </a:lnSpc>
              <a:buNone/>
            </a:pPr>
            <a:r>
              <a:rPr lang="en-US" sz="550" dirty="0">
                <a:solidFill>
                  <a:srgbClr val="E5E0DF"/>
                </a:solidFill>
                <a:latin typeface="Roboto" pitchFamily="34" charset="0"/>
                <a:ea typeface="Roboto" pitchFamily="34" charset="-122"/>
                <a:cs typeface="Roboto" pitchFamily="34" charset="-120"/>
              </a:rPr>
              <a:t>Multi-region active-active deployment with automatic failover</a:t>
            </a:r>
            <a:endParaRPr lang="en-US" sz="550" dirty="0"/>
          </a:p>
        </p:txBody>
      </p:sp>
      <p:sp>
        <p:nvSpPr>
          <p:cNvPr id="55" name="Shape 40"/>
          <p:cNvSpPr/>
          <p:nvPr/>
        </p:nvSpPr>
        <p:spPr>
          <a:xfrm>
            <a:off x="8000601" y="5988844"/>
            <a:ext cx="3746605" cy="240109"/>
          </a:xfrm>
          <a:prstGeom prst="roundRect">
            <a:avLst>
              <a:gd name="adj" fmla="val 27074"/>
            </a:avLst>
          </a:prstGeom>
          <a:solidFill>
            <a:srgbClr val="030303"/>
          </a:solidFill>
          <a:ln w="6350">
            <a:solidFill>
              <a:srgbClr val="FC8337"/>
            </a:solidFill>
            <a:prstDash val="solid"/>
          </a:ln>
        </p:spPr>
        <p:txBody>
          <a:bodyPr/>
          <a:lstStyle/>
          <a:p>
            <a:endParaRPr lang="en-US"/>
          </a:p>
        </p:txBody>
      </p:sp>
      <p:sp>
        <p:nvSpPr>
          <p:cNvPr id="56" name="Text 41"/>
          <p:cNvSpPr/>
          <p:nvPr/>
        </p:nvSpPr>
        <p:spPr>
          <a:xfrm>
            <a:off x="8079181" y="6067425"/>
            <a:ext cx="3589446" cy="82947"/>
          </a:xfrm>
          <a:prstGeom prst="rect">
            <a:avLst/>
          </a:prstGeom>
          <a:noFill/>
          <a:ln/>
        </p:spPr>
        <p:txBody>
          <a:bodyPr wrap="none" lIns="0" tIns="0" rIns="0" bIns="0" rtlCol="0" anchor="t"/>
          <a:lstStyle/>
          <a:p>
            <a:pPr marL="0" indent="0" algn="l">
              <a:lnSpc>
                <a:spcPct val="96000"/>
              </a:lnSpc>
              <a:buNone/>
            </a:pPr>
            <a:r>
              <a:rPr lang="en-US" sz="550" dirty="0">
                <a:solidFill>
                  <a:srgbClr val="E5E0DF"/>
                </a:solidFill>
                <a:latin typeface="Roboto" pitchFamily="34" charset="0"/>
                <a:ea typeface="Roboto" pitchFamily="34" charset="-122"/>
                <a:cs typeface="Roboto" pitchFamily="34" charset="-120"/>
              </a:rPr>
              <a:t>Circuit breakers and graceful degradation to isolate failures</a:t>
            </a:r>
            <a:endParaRPr lang="en-US" sz="550" dirty="0"/>
          </a:p>
        </p:txBody>
      </p:sp>
      <p:sp>
        <p:nvSpPr>
          <p:cNvPr id="57" name="Shape 42"/>
          <p:cNvSpPr/>
          <p:nvPr/>
        </p:nvSpPr>
        <p:spPr>
          <a:xfrm>
            <a:off x="444489" y="6260405"/>
            <a:ext cx="5635583" cy="240109"/>
          </a:xfrm>
          <a:prstGeom prst="roundRect">
            <a:avLst>
              <a:gd name="adj" fmla="val 27074"/>
            </a:avLst>
          </a:prstGeom>
          <a:solidFill>
            <a:srgbClr val="030303"/>
          </a:solidFill>
          <a:ln w="6350">
            <a:solidFill>
              <a:srgbClr val="FC8337"/>
            </a:solidFill>
            <a:prstDash val="solid"/>
          </a:ln>
        </p:spPr>
        <p:txBody>
          <a:bodyPr/>
          <a:lstStyle/>
          <a:p>
            <a:endParaRPr lang="en-US"/>
          </a:p>
        </p:txBody>
      </p:sp>
      <p:sp>
        <p:nvSpPr>
          <p:cNvPr id="58" name="Text 43"/>
          <p:cNvSpPr/>
          <p:nvPr/>
        </p:nvSpPr>
        <p:spPr>
          <a:xfrm>
            <a:off x="523068" y="6338987"/>
            <a:ext cx="5478425" cy="82947"/>
          </a:xfrm>
          <a:prstGeom prst="rect">
            <a:avLst/>
          </a:prstGeom>
          <a:noFill/>
          <a:ln/>
        </p:spPr>
        <p:txBody>
          <a:bodyPr wrap="none" lIns="0" tIns="0" rIns="0" bIns="0" rtlCol="0" anchor="t"/>
          <a:lstStyle/>
          <a:p>
            <a:pPr marL="0" indent="0" algn="l">
              <a:lnSpc>
                <a:spcPct val="96000"/>
              </a:lnSpc>
              <a:buNone/>
            </a:pPr>
            <a:r>
              <a:rPr lang="en-US" sz="550" dirty="0">
                <a:solidFill>
                  <a:srgbClr val="E5E0DF"/>
                </a:solidFill>
                <a:latin typeface="Roboto" pitchFamily="34" charset="0"/>
                <a:ea typeface="Roboto" pitchFamily="34" charset="-122"/>
                <a:cs typeface="Roboto" pitchFamily="34" charset="-120"/>
              </a:rPr>
              <a:t>Regular chaos engineering tests to validate resilience</a:t>
            </a:r>
            <a:endParaRPr lang="en-US" sz="550" dirty="0"/>
          </a:p>
        </p:txBody>
      </p:sp>
      <p:sp>
        <p:nvSpPr>
          <p:cNvPr id="59" name="Shape 44"/>
          <p:cNvSpPr/>
          <p:nvPr/>
        </p:nvSpPr>
        <p:spPr>
          <a:xfrm>
            <a:off x="6111524" y="6260405"/>
            <a:ext cx="5635682" cy="240109"/>
          </a:xfrm>
          <a:prstGeom prst="roundRect">
            <a:avLst>
              <a:gd name="adj" fmla="val 27074"/>
            </a:avLst>
          </a:prstGeom>
          <a:solidFill>
            <a:srgbClr val="030303"/>
          </a:solidFill>
          <a:ln w="6350">
            <a:solidFill>
              <a:srgbClr val="FC8337"/>
            </a:solidFill>
            <a:prstDash val="solid"/>
          </a:ln>
        </p:spPr>
        <p:txBody>
          <a:bodyPr/>
          <a:lstStyle/>
          <a:p>
            <a:endParaRPr lang="en-US"/>
          </a:p>
        </p:txBody>
      </p:sp>
      <p:sp>
        <p:nvSpPr>
          <p:cNvPr id="60" name="Text 45"/>
          <p:cNvSpPr/>
          <p:nvPr/>
        </p:nvSpPr>
        <p:spPr>
          <a:xfrm>
            <a:off x="6190103" y="6338987"/>
            <a:ext cx="5478524" cy="82947"/>
          </a:xfrm>
          <a:prstGeom prst="rect">
            <a:avLst/>
          </a:prstGeom>
          <a:noFill/>
          <a:ln/>
        </p:spPr>
        <p:txBody>
          <a:bodyPr wrap="none" lIns="0" tIns="0" rIns="0" bIns="0" rtlCol="0" anchor="t"/>
          <a:lstStyle/>
          <a:p>
            <a:pPr marL="0" indent="0" algn="l">
              <a:lnSpc>
                <a:spcPct val="96000"/>
              </a:lnSpc>
              <a:buNone/>
            </a:pPr>
            <a:r>
              <a:rPr lang="en-US" sz="550" dirty="0">
                <a:solidFill>
                  <a:srgbClr val="E5E0DF"/>
                </a:solidFill>
                <a:latin typeface="Roboto" pitchFamily="34" charset="0"/>
                <a:ea typeface="Roboto" pitchFamily="34" charset="-122"/>
                <a:cs typeface="Roboto" pitchFamily="34" charset="-120"/>
              </a:rPr>
              <a:t>Post-incident reviews to improve observability and response times</a:t>
            </a:r>
            <a:endParaRPr lang="en-US" sz="550" dirty="0"/>
          </a:p>
        </p:txBody>
      </p:sp>
      <p:sp>
        <p:nvSpPr>
          <p:cNvPr id="61" name="Rectangle 60">
            <a:extLst>
              <a:ext uri="{FF2B5EF4-FFF2-40B4-BE49-F238E27FC236}">
                <a16:creationId xmlns:a16="http://schemas.microsoft.com/office/drawing/2014/main" id="{7F9E50D8-A88E-9136-BE7C-D2EEE26683FA}"/>
              </a:ext>
            </a:extLst>
          </p:cNvPr>
          <p:cNvSpPr/>
          <p:nvPr/>
        </p:nvSpPr>
        <p:spPr>
          <a:xfrm>
            <a:off x="11087100" y="6579096"/>
            <a:ext cx="1047750" cy="244475"/>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1479</Words>
  <Application>Microsoft Office PowerPoint</Application>
  <PresentationFormat>Widescreen</PresentationFormat>
  <Paragraphs>161</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Roboto</vt:lpstr>
      <vt:lpstr>Arial</vt:lpstr>
      <vt:lpstr>Consolas</vt:lpstr>
      <vt:lpstr>Saira Medium</vt:lpstr>
      <vt:lpstr>Saira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Eshan Ekanayake</dc:creator>
  <cp:lastModifiedBy>DANKANDAGE ESHAN DINETH EKANAYAKE</cp:lastModifiedBy>
  <cp:revision>2</cp:revision>
  <dcterms:created xsi:type="dcterms:W3CDTF">2026-06-04T22:21:29Z</dcterms:created>
  <dcterms:modified xsi:type="dcterms:W3CDTF">2026-06-04T22:43:50Z</dcterms:modified>
</cp:coreProperties>
</file>